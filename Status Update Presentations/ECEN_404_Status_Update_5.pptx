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DD8F0A-EBEE-412A-ACB2-961B3D4505EB}">
  <a:tblStyle styleId="{0FDD8F0A-EBEE-412A-ACB2-961B3D4505E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36E1A79-5A93-4317-BC80-A5E40AAC120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8a7d11e69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f8a7d11e69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673dcdc87ef0a4d2_2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h673dcdc87ef0a4d2_2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409e9cd8662_9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409e9cd8662_9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7535d4c6bf02c82f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h7535d4c6bf02c82f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7535d4c6bf02c82f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h7535d4c6bf02c82f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7535d4c6bf02c82f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h7535d4c6bf02c82f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409ef1cdf4f_14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409ef1cdf4f_14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b52ff79a8_1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b52ff79a8_1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7535d4c6bf02c82f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h7535d4c6bf02c82f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673dcdc87ef0a4d2_2_1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h673dcdc87ef0a4d2_2_1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409ee505ee2_1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409ee505ee2_1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7abab0771367816d_2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h7abab0771367816d_2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h7abab0771367816d_2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41a96028bf3fa0c6_11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h41a96028bf3fa0c6_11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h41a96028bf3fa0c6_11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h31e1302c568d55e9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h31e1302c568d55e9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h31e1302c568d55e9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h41a96028bf3fa0c6_1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h41a96028bf3fa0c6_1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h41a96028bf3fa0c6_1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h7abab0771367816d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h7abab0771367816d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h7abab0771367816d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41a96028bf3fa0c6_11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h41a96028bf3fa0c6_11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h41a96028bf3fa0c6_11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41a96028bf3fa0c6_1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h41a96028bf3fa0c6_1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h41a96028bf3fa0c6_1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h41a96028bf3fa0c6_1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h41a96028bf3fa0c6_1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h41a96028bf3fa0c6_1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h41a96028bf3fa0c6_1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h41a96028bf3fa0c6_1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h41a96028bf3fa0c6_1_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h41a96028bf3fa0c6_1_1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h41a96028bf3fa0c6_1_1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h41a96028bf3fa0c6_1_1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h41a96028bf3fa0c6_1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h41a96028bf3fa0c6_1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h41a96028bf3fa0c6_1_1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h41a96028bf3fa0c6_1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h41a96028bf3fa0c6_1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h41a96028bf3fa0c6_1_1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h41a96028bf3fa0c6_1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h41a96028bf3fa0c6_1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h41a96028bf3fa0c6_1_1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292777" y="2130426"/>
            <a:ext cx="5984823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4165601" y="3886200"/>
            <a:ext cx="7111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4706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4706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4579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843637"/>
            <a:ext cx="1098126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758037"/>
            <a:ext cx="10972800" cy="471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46906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1368" y="6469064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2" y="646906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135" y="152401"/>
            <a:ext cx="3258487" cy="494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09600" y="1647394"/>
            <a:ext cx="5384800" cy="48105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4"/>
          <p:cNvSpPr txBox="1"/>
          <p:nvPr>
            <p:ph idx="2" type="body"/>
          </p:nvPr>
        </p:nvSpPr>
        <p:spPr>
          <a:xfrm>
            <a:off x="6197600" y="1647394"/>
            <a:ext cx="5384800" cy="48105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609600" y="64706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165600" y="64706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737600" y="64579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4"/>
          <p:cNvSpPr txBox="1"/>
          <p:nvPr>
            <p:ph type="title"/>
          </p:nvPr>
        </p:nvSpPr>
        <p:spPr>
          <a:xfrm>
            <a:off x="609600" y="843637"/>
            <a:ext cx="10981267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609600" y="290064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4706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4706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4579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1" y="1066969"/>
            <a:ext cx="4011084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766733" y="1073721"/>
            <a:ext cx="6815667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1" y="1803850"/>
            <a:ext cx="4011084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609600" y="64706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4165600" y="64706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737600" y="64579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609600" y="1196430"/>
            <a:ext cx="3431563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/>
          <p:nvPr>
            <p:ph idx="2" type="pic"/>
          </p:nvPr>
        </p:nvSpPr>
        <p:spPr>
          <a:xfrm>
            <a:off x="4267200" y="1196431"/>
            <a:ext cx="73152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609600" y="1768044"/>
            <a:ext cx="3431563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4706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4706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4579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600201"/>
            <a:ext cx="10972800" cy="4857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4706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4706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4579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rive.google.com/file/d/1PvSH5y-ydp_fP_5qrzS2x2b4SwFbCaMw/view" TargetMode="External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type="ctrTitle"/>
          </p:nvPr>
        </p:nvSpPr>
        <p:spPr>
          <a:xfrm>
            <a:off x="4700349" y="3428999"/>
            <a:ext cx="7302600" cy="2678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TMEIC DI-Water Cooling Skid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3"/>
              <a:buFont typeface="Arial"/>
              <a:buNone/>
            </a:pPr>
            <a:r>
              <a:rPr lang="en-US"/>
              <a:t>Bi-Weekly Update 5</a:t>
            </a:r>
            <a:br>
              <a:rPr lang="en-US"/>
            </a:br>
            <a:r>
              <a:rPr lang="en-US" sz="2455"/>
              <a:t>Ethan Henderson</a:t>
            </a:r>
            <a:endParaRPr sz="2455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3"/>
              <a:buFont typeface="Arial"/>
              <a:buNone/>
            </a:pPr>
            <a:r>
              <a:rPr lang="en-US" sz="2455"/>
              <a:t>Robert Parker</a:t>
            </a:r>
            <a:endParaRPr sz="2455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3"/>
              <a:buFont typeface="Arial"/>
              <a:buNone/>
            </a:pPr>
            <a:r>
              <a:rPr lang="en-US" sz="2455"/>
              <a:t>Noah Ovikian</a:t>
            </a:r>
            <a:br>
              <a:rPr lang="en-US" sz="2455"/>
            </a:br>
            <a:r>
              <a:rPr lang="en-US" sz="2455"/>
              <a:t>Sponsor: TMEIC</a:t>
            </a:r>
            <a:br>
              <a:rPr lang="en-US" sz="2455"/>
            </a:br>
            <a:r>
              <a:rPr lang="en-US" sz="2455"/>
              <a:t>TA: Jerry Xu</a:t>
            </a:r>
            <a:br>
              <a:rPr lang="en-US" sz="2455"/>
            </a:br>
            <a:endParaRPr sz="2455"/>
          </a:p>
        </p:txBody>
      </p:sp>
      <p:sp>
        <p:nvSpPr>
          <p:cNvPr id="59" name="Google Shape;59;p8"/>
          <p:cNvSpPr/>
          <p:nvPr/>
        </p:nvSpPr>
        <p:spPr>
          <a:xfrm>
            <a:off x="1447" y="1"/>
            <a:ext cx="6111300" cy="6111300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8875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 rot="-2700000">
            <a:off x="-2668861" y="334923"/>
            <a:ext cx="9470423" cy="3068702"/>
          </a:xfrm>
          <a:prstGeom prst="trapezoid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Project Summary</a:t>
            </a:r>
            <a:endParaRPr/>
          </a:p>
        </p:txBody>
      </p:sp>
      <p:sp>
        <p:nvSpPr>
          <p:cNvPr id="67" name="Google Shape;67;p9"/>
          <p:cNvSpPr txBox="1"/>
          <p:nvPr>
            <p:ph idx="1" type="body"/>
          </p:nvPr>
        </p:nvSpPr>
        <p:spPr>
          <a:xfrm>
            <a:off x="362550" y="1241450"/>
            <a:ext cx="11466900" cy="47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Problem Statement</a:t>
            </a:r>
            <a:endParaRPr b="1"/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/>
              <a:t>TMEIC’s high-power VFDs rely on deionized-water cooling to protect inverter IGBTs from damaging heat. Using a full-scale cooling system for customer training is costly, cumbersome, and impractical, yet trainees still need realistic operating and troubleshooting scenarios.</a:t>
            </a:r>
            <a:endParaRPr sz="2400"/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Our Solution</a:t>
            </a:r>
            <a:endParaRPr b="1"/>
          </a:p>
          <a:p>
            <a:pPr indent="0" lvl="0" marL="3429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/>
              <a:t>We are designing and building a compact, temperature-controlled DI water cooling skid for TMEIC’s training facility. It will reproduce the behavior of the full-scale system, enabling accurate hands-on testing, diagnostics, and troubleshooting at a fraction of the scale, cost, and complexity.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Project Summary</a:t>
            </a:r>
            <a:endParaRPr/>
          </a:p>
        </p:txBody>
      </p:sp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463" y="1035375"/>
            <a:ext cx="9027073" cy="56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6654875" y="0"/>
            <a:ext cx="4502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System Overview </a:t>
            </a:r>
            <a:endParaRPr/>
          </a:p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400" y="1065650"/>
            <a:ext cx="10163199" cy="47267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80" name="Google Shape;80;p11"/>
          <p:cNvSpPr txBox="1"/>
          <p:nvPr/>
        </p:nvSpPr>
        <p:spPr>
          <a:xfrm>
            <a:off x="1258100" y="1250775"/>
            <a:ext cx="3910500" cy="15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9BBB59"/>
                </a:solidFill>
              </a:rPr>
              <a:t>Ethan Henderson</a:t>
            </a:r>
            <a:endParaRPr sz="3200">
              <a:solidFill>
                <a:srgbClr val="9BBB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BACC6"/>
                </a:solidFill>
              </a:rPr>
              <a:t>Robert Parker</a:t>
            </a:r>
            <a:endParaRPr sz="3200">
              <a:solidFill>
                <a:srgbClr val="4BACC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504D"/>
                </a:solidFill>
              </a:rPr>
              <a:t>Noah Ovikian</a:t>
            </a:r>
            <a:endParaRPr sz="3200">
              <a:solidFill>
                <a:srgbClr val="C0504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>
            <a:off x="6517400" y="0"/>
            <a:ext cx="494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Phase IV Timeline </a:t>
            </a:r>
            <a:endParaRPr/>
          </a:p>
        </p:txBody>
      </p:sp>
      <p:cxnSp>
        <p:nvCxnSpPr>
          <p:cNvPr id="86" name="Google Shape;86;p12"/>
          <p:cNvCxnSpPr/>
          <p:nvPr/>
        </p:nvCxnSpPr>
        <p:spPr>
          <a:xfrm>
            <a:off x="549450" y="3413775"/>
            <a:ext cx="11010000" cy="0"/>
          </a:xfrm>
          <a:prstGeom prst="straightConnector1">
            <a:avLst/>
          </a:prstGeom>
          <a:noFill/>
          <a:ln cap="flat" cmpd="sng" w="7620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2"/>
          <p:cNvCxnSpPr/>
          <p:nvPr/>
        </p:nvCxnSpPr>
        <p:spPr>
          <a:xfrm>
            <a:off x="549450" y="3274275"/>
            <a:ext cx="0" cy="2790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2"/>
          <p:cNvCxnSpPr/>
          <p:nvPr/>
        </p:nvCxnSpPr>
        <p:spPr>
          <a:xfrm>
            <a:off x="2695225" y="3274275"/>
            <a:ext cx="0" cy="2790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2"/>
          <p:cNvCxnSpPr/>
          <p:nvPr/>
        </p:nvCxnSpPr>
        <p:spPr>
          <a:xfrm>
            <a:off x="6901625" y="3274275"/>
            <a:ext cx="0" cy="2790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12"/>
          <p:cNvCxnSpPr/>
          <p:nvPr/>
        </p:nvCxnSpPr>
        <p:spPr>
          <a:xfrm>
            <a:off x="11249600" y="3274275"/>
            <a:ext cx="0" cy="2790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" name="Google Shape;91;p12"/>
          <p:cNvSpPr/>
          <p:nvPr/>
        </p:nvSpPr>
        <p:spPr>
          <a:xfrm>
            <a:off x="66775" y="1704375"/>
            <a:ext cx="2121900" cy="1569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 txBox="1"/>
          <p:nvPr/>
        </p:nvSpPr>
        <p:spPr>
          <a:xfrm>
            <a:off x="187975" y="1704375"/>
            <a:ext cx="1859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AA84F"/>
                </a:solidFill>
              </a:rPr>
              <a:t>OCT 5</a:t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Phase I Complete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93" name="Google Shape;93;p12"/>
          <p:cNvSpPr/>
          <p:nvPr/>
        </p:nvSpPr>
        <p:spPr>
          <a:xfrm>
            <a:off x="3736088" y="1739475"/>
            <a:ext cx="2121900" cy="1534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2"/>
          <p:cNvSpPr txBox="1"/>
          <p:nvPr/>
        </p:nvSpPr>
        <p:spPr>
          <a:xfrm>
            <a:off x="3785300" y="1739475"/>
            <a:ext cx="2045100" cy="15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AA84F"/>
                </a:solidFill>
              </a:rPr>
              <a:t>OCT 18</a:t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Phase III Complete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95" name="Google Shape;95;p12"/>
          <p:cNvSpPr txBox="1"/>
          <p:nvPr/>
        </p:nvSpPr>
        <p:spPr>
          <a:xfrm>
            <a:off x="210300" y="3553275"/>
            <a:ext cx="6783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34343"/>
                </a:solidFill>
              </a:rPr>
              <a:t>OCT 5</a:t>
            </a:r>
            <a:endParaRPr b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2356075" y="2995275"/>
            <a:ext cx="6783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34343"/>
                </a:solidFill>
              </a:rPr>
              <a:t>OCT 15</a:t>
            </a:r>
            <a:endParaRPr b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6555675" y="2995272"/>
            <a:ext cx="6783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34343"/>
                </a:solidFill>
              </a:rPr>
              <a:t>OCT 19</a:t>
            </a:r>
            <a:endParaRPr b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98" name="Google Shape;98;p12"/>
          <p:cNvSpPr/>
          <p:nvPr/>
        </p:nvSpPr>
        <p:spPr>
          <a:xfrm>
            <a:off x="1634275" y="3553275"/>
            <a:ext cx="2121900" cy="1615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2"/>
          <p:cNvSpPr txBox="1"/>
          <p:nvPr/>
        </p:nvSpPr>
        <p:spPr>
          <a:xfrm>
            <a:off x="1755475" y="3553275"/>
            <a:ext cx="1859100" cy="16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AA84F"/>
                </a:solidFill>
              </a:rPr>
              <a:t>OCT 15</a:t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Phase II Complete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100" name="Google Shape;100;p12"/>
          <p:cNvSpPr/>
          <p:nvPr/>
        </p:nvSpPr>
        <p:spPr>
          <a:xfrm>
            <a:off x="5840675" y="3553275"/>
            <a:ext cx="2121900" cy="1415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2"/>
          <p:cNvSpPr txBox="1"/>
          <p:nvPr/>
        </p:nvSpPr>
        <p:spPr>
          <a:xfrm>
            <a:off x="5961875" y="3553275"/>
            <a:ext cx="1859100" cy="14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1C232"/>
                </a:solidFill>
              </a:rPr>
              <a:t>OCT 19 - NOV 5</a:t>
            </a:r>
            <a:endParaRPr b="1" sz="1000">
              <a:solidFill>
                <a:srgbClr val="F1C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Full Skid Assembly + PLC </a:t>
            </a:r>
            <a:r>
              <a:rPr b="1" lang="en-US" sz="1500">
                <a:solidFill>
                  <a:schemeClr val="dk1"/>
                </a:solidFill>
              </a:rPr>
              <a:t>Mounting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8888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888888"/>
              </a:solidFill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10188650" y="1739475"/>
            <a:ext cx="1859100" cy="153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2"/>
          <p:cNvSpPr txBox="1"/>
          <p:nvPr/>
        </p:nvSpPr>
        <p:spPr>
          <a:xfrm>
            <a:off x="10244700" y="1739475"/>
            <a:ext cx="1803000" cy="15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NOV 5 - NOV 26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Full Skid Test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10910450" y="3553275"/>
            <a:ext cx="6783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34343"/>
                </a:solidFill>
              </a:rPr>
              <a:t>NOV 5</a:t>
            </a:r>
            <a:endParaRPr sz="1000">
              <a:solidFill>
                <a:srgbClr val="888888"/>
              </a:solidFill>
            </a:endParaRPr>
          </a:p>
        </p:txBody>
      </p:sp>
      <p:sp>
        <p:nvSpPr>
          <p:cNvPr id="105" name="Google Shape;105;p12"/>
          <p:cNvSpPr/>
          <p:nvPr/>
        </p:nvSpPr>
        <p:spPr>
          <a:xfrm>
            <a:off x="2822938" y="6239000"/>
            <a:ext cx="211800" cy="2118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2"/>
          <p:cNvSpPr txBox="1"/>
          <p:nvPr/>
        </p:nvSpPr>
        <p:spPr>
          <a:xfrm>
            <a:off x="3034738" y="6152900"/>
            <a:ext cx="112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Complete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7" name="Google Shape;107;p12"/>
          <p:cNvSpPr/>
          <p:nvPr/>
        </p:nvSpPr>
        <p:spPr>
          <a:xfrm>
            <a:off x="4306013" y="6239000"/>
            <a:ext cx="211800" cy="21180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2"/>
          <p:cNvSpPr txBox="1"/>
          <p:nvPr/>
        </p:nvSpPr>
        <p:spPr>
          <a:xfrm>
            <a:off x="4517813" y="6152900"/>
            <a:ext cx="1312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In Progress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9" name="Google Shape;109;p12"/>
          <p:cNvSpPr/>
          <p:nvPr/>
        </p:nvSpPr>
        <p:spPr>
          <a:xfrm>
            <a:off x="5893850" y="6239000"/>
            <a:ext cx="211800" cy="2118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2"/>
          <p:cNvSpPr txBox="1"/>
          <p:nvPr/>
        </p:nvSpPr>
        <p:spPr>
          <a:xfrm>
            <a:off x="6105663" y="6152900"/>
            <a:ext cx="1803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Behind Schedule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1" name="Google Shape;111;p12"/>
          <p:cNvSpPr/>
          <p:nvPr/>
        </p:nvSpPr>
        <p:spPr>
          <a:xfrm>
            <a:off x="7908650" y="6239000"/>
            <a:ext cx="211800" cy="211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2"/>
          <p:cNvSpPr txBox="1"/>
          <p:nvPr/>
        </p:nvSpPr>
        <p:spPr>
          <a:xfrm>
            <a:off x="8120464" y="6152900"/>
            <a:ext cx="1248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Not Started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3" name="Google Shape;113;p12"/>
          <p:cNvSpPr txBox="1"/>
          <p:nvPr/>
        </p:nvSpPr>
        <p:spPr>
          <a:xfrm>
            <a:off x="10146900" y="6465600"/>
            <a:ext cx="2045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*Contains AI generated content*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114" name="Google Shape;114;p12"/>
          <p:cNvCxnSpPr/>
          <p:nvPr/>
        </p:nvCxnSpPr>
        <p:spPr>
          <a:xfrm>
            <a:off x="4798825" y="3274275"/>
            <a:ext cx="0" cy="279000"/>
          </a:xfrm>
          <a:prstGeom prst="straightConnector1">
            <a:avLst/>
          </a:prstGeom>
          <a:noFill/>
          <a:ln cap="flat" cmpd="sng" w="3810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12"/>
          <p:cNvSpPr txBox="1"/>
          <p:nvPr/>
        </p:nvSpPr>
        <p:spPr>
          <a:xfrm>
            <a:off x="4459275" y="3553272"/>
            <a:ext cx="6783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34343"/>
                </a:solidFill>
              </a:rPr>
              <a:t>OCT 18</a:t>
            </a:r>
            <a:endParaRPr b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type="title"/>
          </p:nvPr>
        </p:nvSpPr>
        <p:spPr>
          <a:xfrm>
            <a:off x="7133625" y="0"/>
            <a:ext cx="3712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Execution Plan</a:t>
            </a:r>
            <a:endParaRPr/>
          </a:p>
        </p:txBody>
      </p:sp>
      <p:pic>
        <p:nvPicPr>
          <p:cNvPr id="121" name="Google Shape;12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72213"/>
            <a:ext cx="11887197" cy="2113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Full Skid Assembly</a:t>
            </a:r>
            <a:endParaRPr/>
          </a:p>
        </p:txBody>
      </p:sp>
      <p:pic>
        <p:nvPicPr>
          <p:cNvPr id="127" name="Google Shape;12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463" y="1035375"/>
            <a:ext cx="9027073" cy="56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/>
          <p:nvPr/>
        </p:nvSpPr>
        <p:spPr>
          <a:xfrm>
            <a:off x="3887525" y="2262750"/>
            <a:ext cx="209400" cy="209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4605225" y="3628350"/>
            <a:ext cx="209400" cy="209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4535450" y="5273075"/>
            <a:ext cx="209400" cy="209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4196525" y="6319700"/>
            <a:ext cx="209400" cy="209400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2083300" y="5741550"/>
            <a:ext cx="209400" cy="2094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7775025" y="6439325"/>
            <a:ext cx="209400" cy="2094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7505875" y="2711275"/>
            <a:ext cx="209400" cy="2094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6838025" y="1714450"/>
            <a:ext cx="209400" cy="2094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5246050" y="5864050"/>
            <a:ext cx="209400" cy="209400"/>
          </a:xfrm>
          <a:prstGeom prst="ellipse">
            <a:avLst/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9711725" y="5532150"/>
            <a:ext cx="209400" cy="20940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8350" y="1135200"/>
            <a:ext cx="5355300" cy="5567700"/>
          </a:xfrm>
          <a:prstGeom prst="roundRect">
            <a:avLst>
              <a:gd fmla="val 8945" name="adj"/>
            </a:avLst>
          </a:prstGeom>
          <a:noFill/>
          <a:ln cap="flat" cmpd="sng" w="9525">
            <a:solidFill>
              <a:srgbClr val="50030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3" name="Google Shape;143;p15"/>
          <p:cNvSpPr/>
          <p:nvPr/>
        </p:nvSpPr>
        <p:spPr>
          <a:xfrm>
            <a:off x="5053775" y="1744400"/>
            <a:ext cx="209400" cy="209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5322925" y="2990400"/>
            <a:ext cx="209400" cy="209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4894300" y="3159850"/>
            <a:ext cx="209400" cy="209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4256325" y="2721250"/>
            <a:ext cx="209400" cy="2094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4176600" y="3080100"/>
            <a:ext cx="209400" cy="209400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6618750" y="3159850"/>
            <a:ext cx="209400" cy="2094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7047350" y="3080100"/>
            <a:ext cx="209400" cy="2094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5"/>
          <p:cNvSpPr/>
          <p:nvPr/>
        </p:nvSpPr>
        <p:spPr>
          <a:xfrm>
            <a:off x="5651850" y="3698125"/>
            <a:ext cx="209400" cy="2094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Full Skid Assembly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4465675" y="3159850"/>
            <a:ext cx="209400" cy="209400"/>
          </a:xfrm>
          <a:prstGeom prst="ellipse">
            <a:avLst/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8206550" y="3429000"/>
            <a:ext cx="209400" cy="20940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Full Skid Assembly</a:t>
            </a:r>
            <a:endParaRPr/>
          </a:p>
        </p:txBody>
      </p:sp>
      <p:pic>
        <p:nvPicPr>
          <p:cNvPr id="159" name="Google Shape;159;p16"/>
          <p:cNvPicPr preferRelativeResize="0"/>
          <p:nvPr/>
        </p:nvPicPr>
        <p:blipFill rotWithShape="1">
          <a:blip r:embed="rId3">
            <a:alphaModFix/>
          </a:blip>
          <a:srcRect b="0" l="0" r="0" t="17471"/>
          <a:stretch/>
        </p:blipFill>
        <p:spPr>
          <a:xfrm>
            <a:off x="323275" y="1102236"/>
            <a:ext cx="7518406" cy="465352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/>
          <p:nvPr/>
        </p:nvSpPr>
        <p:spPr>
          <a:xfrm>
            <a:off x="1794250" y="1301500"/>
            <a:ext cx="209400" cy="209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737625" y="3139975"/>
            <a:ext cx="209400" cy="2094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1734450" y="3139975"/>
            <a:ext cx="209400" cy="209400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2890750" y="2721175"/>
            <a:ext cx="209400" cy="209400"/>
          </a:xfrm>
          <a:prstGeom prst="ellipse">
            <a:avLst/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3698150" y="2721175"/>
            <a:ext cx="209400" cy="209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3698150" y="3010250"/>
            <a:ext cx="209400" cy="209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"/>
          <p:cNvSpPr/>
          <p:nvPr/>
        </p:nvSpPr>
        <p:spPr>
          <a:xfrm>
            <a:off x="5063750" y="3429000"/>
            <a:ext cx="209400" cy="2094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5402675" y="3429000"/>
            <a:ext cx="209400" cy="2094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5741600" y="3429000"/>
            <a:ext cx="209400" cy="2094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1036650" y="2930575"/>
            <a:ext cx="209400" cy="2094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5063750" y="1854050"/>
            <a:ext cx="209400" cy="2094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5951000" y="2282675"/>
            <a:ext cx="209400" cy="2094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8283425" y="2138275"/>
            <a:ext cx="3179700" cy="2212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   Water Reservoir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   Heaters (x2)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   Flow Transmitter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   Pressure Switch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   Pump (x2)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   RTD (x3)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   Conductivity Probe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   Three-Way Valve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   PLC Box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7059975" y="2492075"/>
            <a:ext cx="209400" cy="20940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6"/>
          <p:cNvSpPr/>
          <p:nvPr/>
        </p:nvSpPr>
        <p:spPr>
          <a:xfrm>
            <a:off x="8330775" y="2260675"/>
            <a:ext cx="165900" cy="1659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8330775" y="2492075"/>
            <a:ext cx="165900" cy="1659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8330775" y="2723475"/>
            <a:ext cx="165900" cy="165900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8330775" y="2954875"/>
            <a:ext cx="165900" cy="165900"/>
          </a:xfrm>
          <a:prstGeom prst="ellipse">
            <a:avLst/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6"/>
          <p:cNvSpPr/>
          <p:nvPr/>
        </p:nvSpPr>
        <p:spPr>
          <a:xfrm>
            <a:off x="8330775" y="3161725"/>
            <a:ext cx="165900" cy="165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8330775" y="3417675"/>
            <a:ext cx="165900" cy="1659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8330775" y="3649075"/>
            <a:ext cx="165900" cy="1659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8330775" y="3858550"/>
            <a:ext cx="165900" cy="1659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8330775" y="4089700"/>
            <a:ext cx="165900" cy="16590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" name="Google Shape;187;p17"/>
          <p:cNvGraphicFramePr/>
          <p:nvPr/>
        </p:nvGraphicFramePr>
        <p:xfrm>
          <a:off x="609600" y="16008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{0FDD8F0A-EBEE-412A-ACB2-961B3D4505EB}</a:tableStyleId>
              </a:tblPr>
              <a:tblGrid>
                <a:gridCol w="5494025"/>
                <a:gridCol w="5478775"/>
              </a:tblGrid>
              <a:tr h="91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Accomplishments (10/14 - 10/28) </a:t>
                      </a:r>
                      <a:r>
                        <a:rPr lang="en-US" sz="1800" u="none" cap="none" strike="noStrike"/>
                        <a:t>                        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In Progress (10/28 - 11/11)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50" marB="457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415460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accent3"/>
                          </a:solidFill>
                        </a:rPr>
                        <a:t>Ordered mounting and organizational components - received half</a:t>
                      </a:r>
                      <a:endParaRPr>
                        <a:solidFill>
                          <a:schemeClr val="accent3"/>
                        </a:solidFill>
                      </a:endParaRPr>
                    </a:p>
                    <a:p>
                      <a:pPr indent="-3175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Char char="○"/>
                      </a:pPr>
                      <a:r>
                        <a:rPr lang="en-US">
                          <a:solidFill>
                            <a:schemeClr val="accent3"/>
                          </a:solidFill>
                        </a:rPr>
                        <a:t>second half was turned away by TAMU - reason unknown at this time</a:t>
                      </a:r>
                      <a:endParaRPr>
                        <a:solidFill>
                          <a:schemeClr val="accent3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accent3"/>
                          </a:solidFill>
                        </a:rPr>
                        <a:t>V1 of CAD model finished</a:t>
                      </a:r>
                      <a:endParaRPr>
                        <a:solidFill>
                          <a:schemeClr val="accent3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accent3"/>
                          </a:solidFill>
                        </a:rPr>
                        <a:t>Developing footprint plan for wire and conduit sizing</a:t>
                      </a:r>
                      <a:endParaRPr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2"/>
                          </a:solidFill>
                        </a:rPr>
                        <a:t>Coordinated w/ MEEN TL to establish delivery date and TMEIC site visit - Dec 1, 11:00 a.m.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Finalized protection scheme for skid - oneline pending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○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Added 2A Type C breaker for three-way valve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○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Added 600mA fuse for HMI controls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○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Added 4A Type C breaker for additional 20A supply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Finalized wire gauge sizing for skid and PLC box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○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Power (120VAC/24VDC 1-6ADC) - 14 AWG Al or Cu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○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Control (24VDC 0-1ADC) - 16 AWG Cu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Finalized grounding plan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1714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2"/>
                          </a:solidFill>
                        </a:rPr>
                        <a:t>Continue working to provide clarity on project-class requirements and expectations - video &amp; report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accent3"/>
                          </a:solidFill>
                        </a:rPr>
                        <a:t>Mount current layout to Al backplate using M4-7 cap screw + nut</a:t>
                      </a:r>
                      <a:endParaRPr>
                        <a:solidFill>
                          <a:schemeClr val="accent3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accent3"/>
                          </a:solidFill>
                        </a:rPr>
                        <a:t>Update CAD amidst lessons learned from first mounts</a:t>
                      </a:r>
                      <a:endParaRPr>
                        <a:solidFill>
                          <a:schemeClr val="accent3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accent3"/>
                          </a:solidFill>
                        </a:rPr>
                        <a:t>Establish exact lengths of conduit, PVC casing, and wires and order the items - PVC and conduit already en route</a:t>
                      </a:r>
                      <a:endParaRPr>
                        <a:solidFill>
                          <a:schemeClr val="accent3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accent3"/>
                          </a:solidFill>
                        </a:rPr>
                        <a:t>Size an install circulating fans for cooling</a:t>
                      </a:r>
                      <a:endParaRPr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Run full-load test - the goal is to stress the protection devices to watch for nuisance trips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○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Cap in-rush for power supplies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○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LRA for pump and three-way valve motor start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○"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Total draw from heating elements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8" name="Google Shape;188;p17"/>
          <p:cNvSpPr txBox="1"/>
          <p:nvPr/>
        </p:nvSpPr>
        <p:spPr>
          <a:xfrm>
            <a:off x="5693600" y="0"/>
            <a:ext cx="6498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/>
              <a:t>Power | </a:t>
            </a:r>
            <a:r>
              <a:rPr b="1" lang="en-US" sz="2500">
                <a:solidFill>
                  <a:schemeClr val="dk2"/>
                </a:solidFill>
              </a:rPr>
              <a:t>ECEN Team Lead </a:t>
            </a:r>
            <a:r>
              <a:rPr b="1" lang="en-US" sz="2500">
                <a:solidFill>
                  <a:schemeClr val="dk1"/>
                </a:solidFill>
              </a:rPr>
              <a:t>|</a:t>
            </a:r>
            <a:r>
              <a:rPr b="1" lang="en-US" sz="2500">
                <a:solidFill>
                  <a:schemeClr val="dk2"/>
                </a:solidFill>
              </a:rPr>
              <a:t> </a:t>
            </a:r>
            <a:r>
              <a:rPr b="1" lang="en-US" sz="2500">
                <a:solidFill>
                  <a:schemeClr val="accent3"/>
                </a:solidFill>
              </a:rPr>
              <a:t>PLC Mounting</a:t>
            </a:r>
            <a:endParaRPr b="1" sz="2500">
              <a:solidFill>
                <a:schemeClr val="accent3"/>
              </a:solidFill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6936600" y="643925"/>
            <a:ext cx="4734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Ethan Henderson</a:t>
            </a:r>
            <a:endParaRPr i="1"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100">
                <a:solidFill>
                  <a:schemeClr val="dk1"/>
                </a:solidFill>
              </a:rPr>
              <a:t>Time Spent: ~20 Hrs</a:t>
            </a:r>
            <a:endParaRPr i="1" sz="2700">
              <a:solidFill>
                <a:schemeClr val="dk1"/>
              </a:solidFill>
            </a:endParaRPr>
          </a:p>
        </p:txBody>
      </p:sp>
      <p:cxnSp>
        <p:nvCxnSpPr>
          <p:cNvPr id="190" name="Google Shape;190;p17"/>
          <p:cNvCxnSpPr/>
          <p:nvPr/>
        </p:nvCxnSpPr>
        <p:spPr>
          <a:xfrm>
            <a:off x="836300" y="3980933"/>
            <a:ext cx="5141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17"/>
          <p:cNvCxnSpPr/>
          <p:nvPr/>
        </p:nvCxnSpPr>
        <p:spPr>
          <a:xfrm>
            <a:off x="6236198" y="3081919"/>
            <a:ext cx="5141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17"/>
          <p:cNvCxnSpPr/>
          <p:nvPr/>
        </p:nvCxnSpPr>
        <p:spPr>
          <a:xfrm>
            <a:off x="772100" y="4601658"/>
            <a:ext cx="5141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17"/>
          <p:cNvCxnSpPr/>
          <p:nvPr/>
        </p:nvCxnSpPr>
        <p:spPr>
          <a:xfrm>
            <a:off x="6236198" y="4601644"/>
            <a:ext cx="5141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Power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1178400" y="914400"/>
            <a:ext cx="98352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Expected outcome for pump power (left) is stable and constant operation irrespective of  loading condition.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Expected outcome for 3-way valve (right) is no nuisance trips during quick actuation.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00" name="Google Shape;2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00" y="1970827"/>
            <a:ext cx="5758649" cy="346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8649" y="1970825"/>
            <a:ext cx="5758651" cy="3461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>
                <a:solidFill>
                  <a:schemeClr val="accent3"/>
                </a:solidFill>
              </a:rPr>
              <a:t>PLC Mounting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1145175" y="914400"/>
            <a:ext cx="98352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</a:rPr>
              <a:t>The strategy is to take rectangular measurements of every component and use the CAD to put the pieces together to determine best orientation/configuration of components, conduit termination, and wiring.</a:t>
            </a:r>
            <a:endParaRPr sz="1600">
              <a:solidFill>
                <a:srgbClr val="000000"/>
              </a:solidFill>
            </a:endParaRPr>
          </a:p>
        </p:txBody>
      </p:sp>
      <p:pic>
        <p:nvPicPr>
          <p:cNvPr id="208" name="Google Shape;2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8663" y="1553350"/>
            <a:ext cx="6468226" cy="523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 txBox="1"/>
          <p:nvPr>
            <p:ph type="title"/>
          </p:nvPr>
        </p:nvSpPr>
        <p:spPr>
          <a:xfrm>
            <a:off x="6521275" y="0"/>
            <a:ext cx="464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>
                <a:solidFill>
                  <a:schemeClr val="accent3"/>
                </a:solidFill>
              </a:rPr>
              <a:t>PLC Mounting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1145175" y="914400"/>
            <a:ext cx="98352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(Right) - We want to segment different “categories” of the overall electrical system (i.e. </a:t>
            </a:r>
            <a:r>
              <a:rPr lang="en-US" sz="1600">
                <a:solidFill>
                  <a:srgbClr val="0000FF"/>
                </a:solidFill>
              </a:rPr>
              <a:t>AC input</a:t>
            </a:r>
            <a:r>
              <a:rPr lang="en-US" sz="1600">
                <a:solidFill>
                  <a:schemeClr val="dk1"/>
                </a:solidFill>
              </a:rPr>
              <a:t>, </a:t>
            </a:r>
            <a:r>
              <a:rPr lang="en-US" sz="1600">
                <a:solidFill>
                  <a:srgbClr val="FF0000"/>
                </a:solidFill>
              </a:rPr>
              <a:t>DC power + protection</a:t>
            </a:r>
            <a:r>
              <a:rPr lang="en-US" sz="1600">
                <a:solidFill>
                  <a:schemeClr val="dk1"/>
                </a:solidFill>
              </a:rPr>
              <a:t>, and </a:t>
            </a:r>
            <a:r>
              <a:rPr lang="en-US" sz="1600">
                <a:solidFill>
                  <a:srgbClr val="F1C232"/>
                </a:solidFill>
              </a:rPr>
              <a:t>instrumentation and controls</a:t>
            </a:r>
            <a:r>
              <a:rPr lang="en-US" sz="1600">
                <a:solidFill>
                  <a:schemeClr val="dk1"/>
                </a:solidFill>
              </a:rPr>
              <a:t>) using the wire ducts (part of the turned away package)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(Left) - HMI will be in most convenient location for operation along with Main Power Switch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15" name="Google Shape;2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1894" y="2053789"/>
            <a:ext cx="3374550" cy="44994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6" name="Google Shape;2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5829" y="2053810"/>
            <a:ext cx="3374550" cy="44994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7" name="Google Shape;217;p20"/>
          <p:cNvSpPr txBox="1"/>
          <p:nvPr/>
        </p:nvSpPr>
        <p:spPr>
          <a:xfrm>
            <a:off x="4783900" y="2947950"/>
            <a:ext cx="6957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FF"/>
                </a:solidFill>
              </a:rPr>
              <a:t>HMI</a:t>
            </a:r>
            <a:endParaRPr sz="2000">
              <a:solidFill>
                <a:srgbClr val="FF00FF"/>
              </a:solidFill>
            </a:endParaRPr>
          </a:p>
        </p:txBody>
      </p:sp>
      <p:cxnSp>
        <p:nvCxnSpPr>
          <p:cNvPr id="218" name="Google Shape;218;p20"/>
          <p:cNvCxnSpPr>
            <a:stCxn id="217" idx="1"/>
          </p:cNvCxnSpPr>
          <p:nvPr/>
        </p:nvCxnSpPr>
        <p:spPr>
          <a:xfrm rot="10800000">
            <a:off x="3488800" y="3178050"/>
            <a:ext cx="1295100" cy="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" name="Google Shape;219;p20"/>
          <p:cNvSpPr txBox="1"/>
          <p:nvPr/>
        </p:nvSpPr>
        <p:spPr>
          <a:xfrm>
            <a:off x="4676875" y="4302300"/>
            <a:ext cx="1584000" cy="7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FF"/>
                </a:solidFill>
              </a:rPr>
              <a:t>Conductivity</a:t>
            </a:r>
            <a:endParaRPr sz="2000">
              <a:solidFill>
                <a:srgbClr val="FF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FF"/>
                </a:solidFill>
              </a:rPr>
              <a:t>HMI</a:t>
            </a:r>
            <a:endParaRPr sz="2000">
              <a:solidFill>
                <a:srgbClr val="FF00FF"/>
              </a:solidFill>
            </a:endParaRPr>
          </a:p>
        </p:txBody>
      </p:sp>
      <p:cxnSp>
        <p:nvCxnSpPr>
          <p:cNvPr id="220" name="Google Shape;220;p20"/>
          <p:cNvCxnSpPr>
            <a:stCxn id="219" idx="1"/>
          </p:cNvCxnSpPr>
          <p:nvPr/>
        </p:nvCxnSpPr>
        <p:spPr>
          <a:xfrm rot="10800000">
            <a:off x="3413875" y="4682250"/>
            <a:ext cx="1263000" cy="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" name="Google Shape;221;p20"/>
          <p:cNvSpPr txBox="1"/>
          <p:nvPr/>
        </p:nvSpPr>
        <p:spPr>
          <a:xfrm>
            <a:off x="4730375" y="2053800"/>
            <a:ext cx="15306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FF"/>
                </a:solidFill>
              </a:rPr>
              <a:t>Main Power Switch</a:t>
            </a:r>
            <a:endParaRPr sz="2000">
              <a:solidFill>
                <a:srgbClr val="FF00FF"/>
              </a:solidFill>
            </a:endParaRPr>
          </a:p>
        </p:txBody>
      </p:sp>
      <p:cxnSp>
        <p:nvCxnSpPr>
          <p:cNvPr id="222" name="Google Shape;222;p20"/>
          <p:cNvCxnSpPr>
            <a:stCxn id="221" idx="1"/>
          </p:cNvCxnSpPr>
          <p:nvPr/>
        </p:nvCxnSpPr>
        <p:spPr>
          <a:xfrm flipH="1">
            <a:off x="3805475" y="2283900"/>
            <a:ext cx="924900" cy="53400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20"/>
          <p:cNvSpPr/>
          <p:nvPr/>
        </p:nvSpPr>
        <p:spPr>
          <a:xfrm>
            <a:off x="7834050" y="2589950"/>
            <a:ext cx="2782500" cy="1252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8176525" y="4591275"/>
            <a:ext cx="492300" cy="9144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 rot="10800000">
            <a:off x="7866100" y="3885000"/>
            <a:ext cx="2632800" cy="1830000"/>
          </a:xfrm>
          <a:prstGeom prst="corner">
            <a:avLst>
              <a:gd fmla="val 37574" name="adj1"/>
              <a:gd fmla="val 95643" name="adj2"/>
            </a:avLst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 txBox="1"/>
          <p:nvPr/>
        </p:nvSpPr>
        <p:spPr>
          <a:xfrm>
            <a:off x="5903975" y="0"/>
            <a:ext cx="6288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Instrumentation &amp; Control</a:t>
            </a:r>
            <a:endParaRPr b="1" sz="3600">
              <a:solidFill>
                <a:srgbClr val="000000"/>
              </a:solidFill>
            </a:endParaRPr>
          </a:p>
        </p:txBody>
      </p:sp>
      <p:graphicFrame>
        <p:nvGraphicFramePr>
          <p:cNvPr id="231" name="Google Shape;231;p21"/>
          <p:cNvGraphicFramePr/>
          <p:nvPr/>
        </p:nvGraphicFramePr>
        <p:xfrm>
          <a:off x="609599" y="20056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{0FDD8F0A-EBEE-412A-ACB2-961B3D4505EB}</a:tableStyleId>
              </a:tblPr>
              <a:tblGrid>
                <a:gridCol w="5486400"/>
                <a:gridCol w="5486400"/>
              </a:tblGrid>
              <a:tr h="927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</a:t>
                      </a:r>
                      <a:r>
                        <a:rPr lang="en-US" sz="1800"/>
                        <a:t>(10/14 - 10/28)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In Progress (10/28 - 11/11)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96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Flow Transmitter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indent="-3365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Char char="-"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Installed, Tested, Collected Data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indent="-3365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Char char="-"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Designed 1st Order Digital Low Pass Filter 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Conductivity Transmitter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indent="-3365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Char char="-"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Tested w/ Resin Bed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indent="-3365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Char char="-"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Collected Data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indent="-3365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Char char="-"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Designed </a:t>
                      </a: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1st Order Digital Low Pass FIlter 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chemeClr val="dk1"/>
                          </a:solidFill>
                        </a:rPr>
                        <a:t>Wiring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indent="-3365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Char char="-"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Determined Wiring Color Scheme 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1143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</a:rPr>
                        <a:t>Temperature Regulation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365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Char char="-"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Implement &amp; Tune PI Controller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indent="-3365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Char char="-"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Execute Temperature Regulation Validation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</a:rPr>
                        <a:t>General System Validation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-3365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Char char="-"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Execute Pump Turnover Validation 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indent="-3365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Char char="-"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Finalize Manual Control Validation 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indent="-3365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Char char="-"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Finalize Startup/Shutdown Validation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indent="-3365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Char char="-"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Finalize Measurement Accuracy Validation  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indent="-3365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Char char="-"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Initiate Sensor Failure &amp; Fault Validation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indent="-3365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Char char="-"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Collect Validation Data 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2" name="Google Shape;232;p21"/>
          <p:cNvSpPr txBox="1"/>
          <p:nvPr/>
        </p:nvSpPr>
        <p:spPr>
          <a:xfrm>
            <a:off x="6353425" y="643925"/>
            <a:ext cx="531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Robert Parker &amp; Noah Ovikian</a:t>
            </a:r>
            <a:endParaRPr i="1"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</a:rPr>
              <a:t>Combined Time Spent: ~40 Hrs</a:t>
            </a:r>
            <a:endParaRPr i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8" name="Google Shape;238;p22"/>
          <p:cNvGraphicFramePr/>
          <p:nvPr/>
        </p:nvGraphicFramePr>
        <p:xfrm>
          <a:off x="994850" y="148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{136E1A79-5A93-4317-BC80-A5E40AAC120A}</a:tableStyleId>
              </a:tblPr>
              <a:tblGrid>
                <a:gridCol w="5143500"/>
                <a:gridCol w="514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DC Supply 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DC Supply 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Digital 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Digital Out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Analog 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4A86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Analog Out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RTD +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RTD -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AC Line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AC </a:t>
                      </a:r>
                      <a:r>
                        <a:rPr lang="en-US"/>
                        <a:t>Neutral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AC Ground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6AA84F"/>
                    </a:solidFill>
                  </a:tcPr>
                </a:tc>
              </a:tr>
            </a:tbl>
          </a:graphicData>
        </a:graphic>
      </p:graphicFrame>
      <p:sp>
        <p:nvSpPr>
          <p:cNvPr id="239" name="Google Shape;239;p22"/>
          <p:cNvSpPr/>
          <p:nvPr/>
        </p:nvSpPr>
        <p:spPr>
          <a:xfrm>
            <a:off x="6138350" y="3073375"/>
            <a:ext cx="5143500" cy="396300"/>
          </a:xfrm>
          <a:prstGeom prst="rtTriangl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6138350" y="3865775"/>
            <a:ext cx="5143500" cy="396300"/>
          </a:xfrm>
          <a:prstGeom prst="rtTriangl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6138350" y="5054375"/>
            <a:ext cx="5143500" cy="396300"/>
          </a:xfrm>
          <a:prstGeom prst="rtTriangl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056375" y="152400"/>
            <a:ext cx="6288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Instrumentation &amp; Control</a:t>
            </a:r>
            <a:endParaRPr b="1" sz="3600">
              <a:solidFill>
                <a:srgbClr val="000000"/>
              </a:solidFill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6505825" y="796325"/>
            <a:ext cx="531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Wire Color Standard</a:t>
            </a:r>
            <a:endParaRPr i="1"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solidFill>
                <a:schemeClr val="dk1"/>
              </a:solidFill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994850" y="5846775"/>
            <a:ext cx="7144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Table </a:t>
            </a:r>
            <a:r>
              <a:rPr b="1" lang="en-US" sz="1700">
                <a:solidFill>
                  <a:schemeClr val="dk1"/>
                </a:solidFill>
              </a:rPr>
              <a:t>I&amp;C.1: </a:t>
            </a:r>
            <a:r>
              <a:rPr lang="en-US" sz="1700">
                <a:solidFill>
                  <a:schemeClr val="dk1"/>
                </a:solidFill>
              </a:rPr>
              <a:t>Table of Wire Colors (White Triangles represent striped)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6138350" y="2280975"/>
            <a:ext cx="5143500" cy="396300"/>
          </a:xfrm>
          <a:prstGeom prst="rtTriangl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 txBox="1"/>
          <p:nvPr/>
        </p:nvSpPr>
        <p:spPr>
          <a:xfrm>
            <a:off x="5903975" y="0"/>
            <a:ext cx="6288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Instrumentation &amp; Control</a:t>
            </a:r>
            <a:endParaRPr b="1" sz="3600">
              <a:solidFill>
                <a:srgbClr val="000000"/>
              </a:solidFill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353425" y="643925"/>
            <a:ext cx="531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Flow Transmitter Test</a:t>
            </a:r>
            <a:endParaRPr i="1"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solidFill>
                <a:schemeClr val="dk1"/>
              </a:solidFill>
            </a:endParaRPr>
          </a:p>
        </p:txBody>
      </p:sp>
      <p:pic>
        <p:nvPicPr>
          <p:cNvPr id="253" name="Google Shape;253;p23" title="ugh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3700" y="1235425"/>
            <a:ext cx="7853926" cy="438715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236200" y="5846775"/>
            <a:ext cx="7144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Figure I&amp;C.1: </a:t>
            </a:r>
            <a:r>
              <a:rPr lang="en-US" sz="1700">
                <a:solidFill>
                  <a:schemeClr val="dk1"/>
                </a:solidFill>
              </a:rPr>
              <a:t>Plot of Valve Position and Flow rate Test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/>
          <p:nvPr/>
        </p:nvSpPr>
        <p:spPr>
          <a:xfrm>
            <a:off x="5903975" y="0"/>
            <a:ext cx="6288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Instrumentation &amp; Control</a:t>
            </a:r>
            <a:endParaRPr b="1" sz="3600">
              <a:solidFill>
                <a:srgbClr val="000000"/>
              </a:solidFill>
            </a:endParaRPr>
          </a:p>
        </p:txBody>
      </p:sp>
      <p:sp>
        <p:nvSpPr>
          <p:cNvPr id="261" name="Google Shape;261;p24"/>
          <p:cNvSpPr txBox="1"/>
          <p:nvPr/>
        </p:nvSpPr>
        <p:spPr>
          <a:xfrm>
            <a:off x="6353425" y="643925"/>
            <a:ext cx="5317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Flow and Valve Position Relationship</a:t>
            </a:r>
            <a:endParaRPr i="1"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solidFill>
                <a:schemeClr val="dk1"/>
              </a:solidFill>
            </a:endParaRPr>
          </a:p>
        </p:txBody>
      </p:sp>
      <p:sp>
        <p:nvSpPr>
          <p:cNvPr id="262" name="Google Shape;262;p24"/>
          <p:cNvSpPr txBox="1"/>
          <p:nvPr/>
        </p:nvSpPr>
        <p:spPr>
          <a:xfrm>
            <a:off x="2183225" y="5697275"/>
            <a:ext cx="71448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Figure I&amp;C.2: </a:t>
            </a:r>
            <a:r>
              <a:rPr lang="en-US" sz="1700">
                <a:solidFill>
                  <a:schemeClr val="dk1"/>
                </a:solidFill>
              </a:rPr>
              <a:t>Plot Showing the relationship between Valve Position and Flow Rate</a:t>
            </a:r>
            <a:endParaRPr/>
          </a:p>
        </p:txBody>
      </p:sp>
      <p:pic>
        <p:nvPicPr>
          <p:cNvPr id="263" name="Google Shape;26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3600" y="1625757"/>
            <a:ext cx="7144799" cy="3962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/>
          <p:nvPr/>
        </p:nvSpPr>
        <p:spPr>
          <a:xfrm>
            <a:off x="5903975" y="0"/>
            <a:ext cx="6288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Instrumentation &amp; Control</a:t>
            </a:r>
            <a:endParaRPr b="1" sz="3600">
              <a:solidFill>
                <a:srgbClr val="000000"/>
              </a:solidFill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6353425" y="643925"/>
            <a:ext cx="5317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Conductivity And Flow Test Results</a:t>
            </a:r>
            <a:endParaRPr i="1"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solidFill>
                <a:schemeClr val="dk1"/>
              </a:solidFill>
            </a:endParaRPr>
          </a:p>
        </p:txBody>
      </p:sp>
      <p:pic>
        <p:nvPicPr>
          <p:cNvPr id="271" name="Google Shape;271;p25" title="ugh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9902" y="1963150"/>
            <a:ext cx="6132198" cy="3901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3029900" y="5932500"/>
            <a:ext cx="7144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Figure I&amp;C.3: </a:t>
            </a:r>
            <a:r>
              <a:rPr lang="en-US" sz="1700">
                <a:solidFill>
                  <a:schemeClr val="dk1"/>
                </a:solidFill>
              </a:rPr>
              <a:t>Results of Conductivity and Flow rate test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6" title="audio_removed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8925" y="1589600"/>
            <a:ext cx="5414125" cy="406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6"/>
          <p:cNvSpPr txBox="1"/>
          <p:nvPr/>
        </p:nvSpPr>
        <p:spPr>
          <a:xfrm>
            <a:off x="5903975" y="0"/>
            <a:ext cx="6288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Instrumentation &amp; Control</a:t>
            </a:r>
            <a:endParaRPr b="1" sz="3600">
              <a:solidFill>
                <a:srgbClr val="000000"/>
              </a:solidFill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6353425" y="643925"/>
            <a:ext cx="5317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Conductivity And Flow Test Results</a:t>
            </a:r>
            <a:endParaRPr i="1"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solidFill>
                <a:schemeClr val="dk1"/>
              </a:solidFill>
            </a:endParaRPr>
          </a:p>
        </p:txBody>
      </p:sp>
      <p:sp>
        <p:nvSpPr>
          <p:cNvPr id="281" name="Google Shape;281;p26"/>
          <p:cNvSpPr txBox="1"/>
          <p:nvPr/>
        </p:nvSpPr>
        <p:spPr>
          <a:xfrm>
            <a:off x="2837700" y="5738925"/>
            <a:ext cx="65166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Figure I&amp;C.4: </a:t>
            </a:r>
            <a:r>
              <a:rPr lang="en-US" sz="1700">
                <a:solidFill>
                  <a:schemeClr val="dk1"/>
                </a:solidFill>
              </a:rPr>
              <a:t>Conductivity Transmitter HMI Showing Conductivity Dropping as Water is Run Through the Resin Filter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"/>
          <p:cNvSpPr txBox="1"/>
          <p:nvPr/>
        </p:nvSpPr>
        <p:spPr>
          <a:xfrm>
            <a:off x="6936601" y="643925"/>
            <a:ext cx="4734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HMI Screen Update</a:t>
            </a:r>
            <a:endParaRPr i="1"/>
          </a:p>
        </p:txBody>
      </p:sp>
      <p:sp>
        <p:nvSpPr>
          <p:cNvPr id="288" name="Google Shape;288;p27"/>
          <p:cNvSpPr txBox="1"/>
          <p:nvPr/>
        </p:nvSpPr>
        <p:spPr>
          <a:xfrm>
            <a:off x="2618675" y="5514525"/>
            <a:ext cx="65166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Figure I&amp;C.5: </a:t>
            </a:r>
            <a:r>
              <a:rPr lang="en-US" sz="1700">
                <a:solidFill>
                  <a:schemeClr val="dk1"/>
                </a:solidFill>
              </a:rPr>
              <a:t>HMI Alarms Screen Showing System alarms(Orange) and System Faults (Red)</a:t>
            </a:r>
            <a:endParaRPr/>
          </a:p>
        </p:txBody>
      </p:sp>
      <p:pic>
        <p:nvPicPr>
          <p:cNvPr id="289" name="Google Shape;289;p27" title="100000557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4165514" y="1"/>
            <a:ext cx="386097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7"/>
          <p:cNvSpPr txBox="1"/>
          <p:nvPr/>
        </p:nvSpPr>
        <p:spPr>
          <a:xfrm>
            <a:off x="5903975" y="0"/>
            <a:ext cx="6288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Instrumentation &amp; Control</a:t>
            </a:r>
            <a:endParaRPr b="1" sz="3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8"/>
          <p:cNvSpPr txBox="1"/>
          <p:nvPr/>
        </p:nvSpPr>
        <p:spPr>
          <a:xfrm>
            <a:off x="5903975" y="0"/>
            <a:ext cx="6288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Instrumentation &amp; Control</a:t>
            </a:r>
            <a:endParaRPr b="1" sz="3600">
              <a:solidFill>
                <a:srgbClr val="000000"/>
              </a:solidFill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6353425" y="643925"/>
            <a:ext cx="531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1st Order Low Pass Filter</a:t>
            </a:r>
            <a:endParaRPr i="1"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solidFill>
                <a:schemeClr val="dk1"/>
              </a:solidFill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236200" y="5846775"/>
            <a:ext cx="71448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Figure I&amp;C.6: </a:t>
            </a:r>
            <a:r>
              <a:rPr lang="en-US" sz="1700">
                <a:solidFill>
                  <a:schemeClr val="dk1"/>
                </a:solidFill>
              </a:rPr>
              <a:t>Side by side of raw (left) and filtered (right) data, from conductivity (top) and flow (bottom) sensors</a:t>
            </a:r>
            <a:endParaRPr/>
          </a:p>
        </p:txBody>
      </p:sp>
      <p:pic>
        <p:nvPicPr>
          <p:cNvPr id="299" name="Google Shape;2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975" y="1261425"/>
            <a:ext cx="3660824" cy="227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7800" y="1261425"/>
            <a:ext cx="3660824" cy="227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8"/>
          <p:cNvSpPr txBox="1"/>
          <p:nvPr/>
        </p:nvSpPr>
        <p:spPr>
          <a:xfrm>
            <a:off x="7521824" y="1342145"/>
            <a:ext cx="5588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Improving Instrument Precision</a:t>
            </a:r>
            <a:endParaRPr b="1" sz="1900">
              <a:solidFill>
                <a:srgbClr val="000000"/>
              </a:solidFill>
            </a:endParaRPr>
          </a:p>
        </p:txBody>
      </p:sp>
      <p:sp>
        <p:nvSpPr>
          <p:cNvPr id="302" name="Google Shape;302;p28"/>
          <p:cNvSpPr txBox="1"/>
          <p:nvPr/>
        </p:nvSpPr>
        <p:spPr>
          <a:xfrm>
            <a:off x="7619150" y="1819150"/>
            <a:ext cx="4187100" cy="37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Noisy Raw Data = Unreliable Readings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/>
              <a:t>1st LP Filter Designed Post Mortem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/>
              <a:t>Discrete Equation: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-US" sz="1600"/>
              <a:t>y[n] = α*y[n-1] + (1-</a:t>
            </a:r>
            <a:r>
              <a:rPr lang="en-US" sz="1600">
                <a:solidFill>
                  <a:schemeClr val="dk1"/>
                </a:solidFill>
              </a:rPr>
              <a:t>α)*x[n]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Where parameter α ∈ (0,1)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Flow α ← 0.98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Conductivity </a:t>
            </a:r>
            <a:r>
              <a:rPr lang="en-US" sz="1600">
                <a:solidFill>
                  <a:schemeClr val="dk1"/>
                </a:solidFill>
              </a:rPr>
              <a:t>α ←  0.995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</p:txBody>
      </p:sp>
      <p:pic>
        <p:nvPicPr>
          <p:cNvPr id="303" name="Google Shape;30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975" y="3532075"/>
            <a:ext cx="3660825" cy="22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77800" y="3532075"/>
            <a:ext cx="3660824" cy="225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9"/>
          <p:cNvSpPr txBox="1"/>
          <p:nvPr/>
        </p:nvSpPr>
        <p:spPr>
          <a:xfrm>
            <a:off x="5903975" y="0"/>
            <a:ext cx="6288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Instrumentation &amp; Control</a:t>
            </a:r>
            <a:endParaRPr b="1" sz="3600">
              <a:solidFill>
                <a:srgbClr val="000000"/>
              </a:solidFill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6353425" y="643925"/>
            <a:ext cx="531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1st Order Low Pass Filter</a:t>
            </a:r>
            <a:endParaRPr i="1"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solidFill>
                <a:schemeClr val="dk1"/>
              </a:solidFill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236200" y="5846775"/>
            <a:ext cx="71448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Figure I&amp;C.7: </a:t>
            </a:r>
            <a:r>
              <a:rPr lang="en-US" sz="1700">
                <a:solidFill>
                  <a:schemeClr val="dk1"/>
                </a:solidFill>
              </a:rPr>
              <a:t>(Top)</a:t>
            </a:r>
            <a:r>
              <a:rPr b="1" lang="en-US" sz="1700">
                <a:solidFill>
                  <a:schemeClr val="dk1"/>
                </a:solidFill>
              </a:rPr>
              <a:t> </a:t>
            </a:r>
            <a:r>
              <a:rPr lang="en-US" sz="1700">
                <a:solidFill>
                  <a:schemeClr val="dk1"/>
                </a:solidFill>
              </a:rPr>
              <a:t>Moving Average Implementation  Requires Greater Computation, and Memory when compared to </a:t>
            </a:r>
            <a:r>
              <a:rPr lang="en-US" sz="1700">
                <a:solidFill>
                  <a:schemeClr val="dk1"/>
                </a:solidFill>
              </a:rPr>
              <a:t>low pass</a:t>
            </a:r>
            <a:r>
              <a:rPr lang="en-US" sz="1700">
                <a:solidFill>
                  <a:schemeClr val="dk1"/>
                </a:solidFill>
              </a:rPr>
              <a:t> digital filter. (Bottom), increase alpha smoothes data at the cost of integrity</a:t>
            </a:r>
            <a:endParaRPr/>
          </a:p>
        </p:txBody>
      </p:sp>
      <p:sp>
        <p:nvSpPr>
          <p:cNvPr id="313" name="Google Shape;313;p29"/>
          <p:cNvSpPr txBox="1"/>
          <p:nvPr/>
        </p:nvSpPr>
        <p:spPr>
          <a:xfrm>
            <a:off x="7521824" y="1342145"/>
            <a:ext cx="5588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Design Considerations</a:t>
            </a:r>
            <a:endParaRPr b="1" sz="1900">
              <a:solidFill>
                <a:srgbClr val="000000"/>
              </a:solidFill>
            </a:endParaRPr>
          </a:p>
        </p:txBody>
      </p:sp>
      <p:sp>
        <p:nvSpPr>
          <p:cNvPr id="314" name="Google Shape;314;p29"/>
          <p:cNvSpPr txBox="1"/>
          <p:nvPr/>
        </p:nvSpPr>
        <p:spPr>
          <a:xfrm>
            <a:off x="7619150" y="1819150"/>
            <a:ext cx="4187100" cy="3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Why Not Moving Average?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-US" sz="1600"/>
              <a:t>Complex Implementation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Greater Memory Consumed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/>
              <a:t>Choosing an </a:t>
            </a:r>
            <a:r>
              <a:rPr lang="en-US" sz="1600">
                <a:solidFill>
                  <a:schemeClr val="dk1"/>
                </a:solidFill>
              </a:rPr>
              <a:t>α</a:t>
            </a:r>
            <a:r>
              <a:rPr lang="en-US" sz="1600"/>
              <a:t> </a:t>
            </a:r>
            <a:r>
              <a:rPr lang="en-US" sz="1600"/>
              <a:t>: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/>
              <a:t>Too high </a:t>
            </a:r>
            <a:r>
              <a:rPr lang="en-US" sz="1600">
                <a:solidFill>
                  <a:schemeClr val="dk1"/>
                </a:solidFill>
              </a:rPr>
              <a:t>α destroys data (over-smoothing)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Too low α retains too much noise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Balancing Simplicity, Noise </a:t>
            </a:r>
            <a:r>
              <a:rPr lang="en-US" sz="1600">
                <a:solidFill>
                  <a:schemeClr val="dk1"/>
                </a:solidFill>
              </a:rPr>
              <a:t>Reduction</a:t>
            </a:r>
            <a:r>
              <a:rPr lang="en-US" sz="1600">
                <a:solidFill>
                  <a:schemeClr val="dk1"/>
                </a:solidFill>
              </a:rPr>
              <a:t> &amp; Data Integrity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85962"/>
          <a:stretch/>
        </p:blipFill>
        <p:spPr>
          <a:xfrm>
            <a:off x="4526113" y="1709275"/>
            <a:ext cx="2379325" cy="31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0500" y="928738"/>
            <a:ext cx="1523525" cy="209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200" y="3116725"/>
            <a:ext cx="3431551" cy="263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20150" y="3095450"/>
            <a:ext cx="3646600" cy="263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9"/>
          <p:cNvSpPr txBox="1"/>
          <p:nvPr/>
        </p:nvSpPr>
        <p:spPr>
          <a:xfrm>
            <a:off x="2992550" y="1511950"/>
            <a:ext cx="10836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vs</a:t>
            </a:r>
            <a:endParaRPr sz="3200">
              <a:solidFill>
                <a:schemeClr val="dk1"/>
              </a:solidFill>
            </a:endParaRPr>
          </a:p>
        </p:txBody>
      </p:sp>
      <p:cxnSp>
        <p:nvCxnSpPr>
          <p:cNvPr id="320" name="Google Shape;320;p29"/>
          <p:cNvCxnSpPr/>
          <p:nvPr/>
        </p:nvCxnSpPr>
        <p:spPr>
          <a:xfrm flipH="1">
            <a:off x="2516325" y="1481725"/>
            <a:ext cx="444600" cy="54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1" name="Google Shape;321;p29"/>
          <p:cNvSpPr txBox="1"/>
          <p:nvPr/>
        </p:nvSpPr>
        <p:spPr>
          <a:xfrm>
            <a:off x="2777200" y="1172050"/>
            <a:ext cx="11361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Moving Average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322" name="Google Shape;322;p29"/>
          <p:cNvCxnSpPr/>
          <p:nvPr/>
        </p:nvCxnSpPr>
        <p:spPr>
          <a:xfrm>
            <a:off x="4185550" y="1295400"/>
            <a:ext cx="245100" cy="37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3" name="Google Shape;323;p29"/>
          <p:cNvSpPr txBox="1"/>
          <p:nvPr/>
        </p:nvSpPr>
        <p:spPr>
          <a:xfrm>
            <a:off x="3800675" y="970650"/>
            <a:ext cx="14667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1st Order Low Pass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0"/>
          <p:cNvSpPr txBox="1"/>
          <p:nvPr/>
        </p:nvSpPr>
        <p:spPr>
          <a:xfrm>
            <a:off x="5903975" y="0"/>
            <a:ext cx="6288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Instrumentation &amp; Control</a:t>
            </a:r>
            <a:endParaRPr b="1" sz="3600">
              <a:solidFill>
                <a:srgbClr val="000000"/>
              </a:solidFill>
            </a:endParaRPr>
          </a:p>
        </p:txBody>
      </p:sp>
      <p:sp>
        <p:nvSpPr>
          <p:cNvPr id="330" name="Google Shape;330;p30"/>
          <p:cNvSpPr txBox="1"/>
          <p:nvPr/>
        </p:nvSpPr>
        <p:spPr>
          <a:xfrm>
            <a:off x="6353425" y="643925"/>
            <a:ext cx="531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Validation Plan</a:t>
            </a:r>
            <a:endParaRPr i="1"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solidFill>
                <a:schemeClr val="dk1"/>
              </a:solidFill>
            </a:endParaRPr>
          </a:p>
        </p:txBody>
      </p:sp>
      <p:sp>
        <p:nvSpPr>
          <p:cNvPr id="331" name="Google Shape;331;p30"/>
          <p:cNvSpPr txBox="1"/>
          <p:nvPr/>
        </p:nvSpPr>
        <p:spPr>
          <a:xfrm>
            <a:off x="2481725" y="5588475"/>
            <a:ext cx="71448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Figure I&amp;C.8: </a:t>
            </a:r>
            <a:r>
              <a:rPr lang="en-US" sz="1700">
                <a:solidFill>
                  <a:schemeClr val="dk1"/>
                </a:solidFill>
              </a:rPr>
              <a:t>Validation Plan </a:t>
            </a:r>
            <a:r>
              <a:rPr lang="en-US" sz="1700">
                <a:solidFill>
                  <a:schemeClr val="dk1"/>
                </a:solidFill>
              </a:rPr>
              <a:t>Snippet</a:t>
            </a:r>
            <a:r>
              <a:rPr lang="en-US" sz="1700">
                <a:solidFill>
                  <a:schemeClr val="dk1"/>
                </a:solidFill>
              </a:rPr>
              <a:t>: Validate total system response with respect to Measurement Accuracy, System Startup/Shutdown, and Sensor Failures</a:t>
            </a:r>
            <a:endParaRPr/>
          </a:p>
        </p:txBody>
      </p:sp>
      <p:pic>
        <p:nvPicPr>
          <p:cNvPr id="332" name="Google Shape;33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9300" y="1570825"/>
            <a:ext cx="6713406" cy="371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1"/>
          <p:cNvSpPr txBox="1"/>
          <p:nvPr/>
        </p:nvSpPr>
        <p:spPr>
          <a:xfrm>
            <a:off x="5903975" y="0"/>
            <a:ext cx="6288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Instrumentation &amp; Control</a:t>
            </a:r>
            <a:endParaRPr b="1" sz="3600">
              <a:solidFill>
                <a:srgbClr val="000000"/>
              </a:solidFill>
            </a:endParaRPr>
          </a:p>
        </p:txBody>
      </p:sp>
      <p:sp>
        <p:nvSpPr>
          <p:cNvPr id="339" name="Google Shape;339;p31"/>
          <p:cNvSpPr txBox="1"/>
          <p:nvPr/>
        </p:nvSpPr>
        <p:spPr>
          <a:xfrm>
            <a:off x="6353425" y="643925"/>
            <a:ext cx="531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Validation Plan</a:t>
            </a:r>
            <a:endParaRPr i="1"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solidFill>
                <a:schemeClr val="dk1"/>
              </a:solidFill>
            </a:endParaRPr>
          </a:p>
        </p:txBody>
      </p:sp>
      <p:sp>
        <p:nvSpPr>
          <p:cNvPr id="340" name="Google Shape;340;p31"/>
          <p:cNvSpPr txBox="1"/>
          <p:nvPr/>
        </p:nvSpPr>
        <p:spPr>
          <a:xfrm>
            <a:off x="1238250" y="5104175"/>
            <a:ext cx="97155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Figure I&amp;C.9: </a:t>
            </a:r>
            <a:r>
              <a:rPr lang="en-US" sz="1700">
                <a:solidFill>
                  <a:schemeClr val="dk1"/>
                </a:solidFill>
              </a:rPr>
              <a:t>Validation Plan Snippet: Verify total system response with respect to manual control and data collection</a:t>
            </a:r>
            <a:endParaRPr/>
          </a:p>
        </p:txBody>
      </p:sp>
      <p:pic>
        <p:nvPicPr>
          <p:cNvPr id="341" name="Google Shape;34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913" y="2000250"/>
            <a:ext cx="9782175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2"/>
          <p:cNvSpPr txBox="1"/>
          <p:nvPr/>
        </p:nvSpPr>
        <p:spPr>
          <a:xfrm>
            <a:off x="5903975" y="0"/>
            <a:ext cx="6288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Instrumentation &amp; Control</a:t>
            </a:r>
            <a:endParaRPr b="1" sz="3600">
              <a:solidFill>
                <a:srgbClr val="000000"/>
              </a:solidFill>
            </a:endParaRPr>
          </a:p>
        </p:txBody>
      </p:sp>
      <p:sp>
        <p:nvSpPr>
          <p:cNvPr id="348" name="Google Shape;348;p32"/>
          <p:cNvSpPr txBox="1"/>
          <p:nvPr/>
        </p:nvSpPr>
        <p:spPr>
          <a:xfrm>
            <a:off x="6353425" y="643925"/>
            <a:ext cx="531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Validation Plan</a:t>
            </a:r>
            <a:endParaRPr i="1"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solidFill>
                <a:schemeClr val="dk1"/>
              </a:solidFill>
            </a:endParaRPr>
          </a:p>
        </p:txBody>
      </p:sp>
      <p:sp>
        <p:nvSpPr>
          <p:cNvPr id="349" name="Google Shape;349;p32"/>
          <p:cNvSpPr txBox="1"/>
          <p:nvPr/>
        </p:nvSpPr>
        <p:spPr>
          <a:xfrm>
            <a:off x="1422350" y="5588475"/>
            <a:ext cx="93474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Figure I&amp;C.10: </a:t>
            </a:r>
            <a:r>
              <a:rPr lang="en-US" sz="1700">
                <a:solidFill>
                  <a:schemeClr val="dk1"/>
                </a:solidFill>
              </a:rPr>
              <a:t>Validation Plan </a:t>
            </a:r>
            <a:r>
              <a:rPr lang="en-US" sz="1700">
                <a:solidFill>
                  <a:schemeClr val="dk1"/>
                </a:solidFill>
              </a:rPr>
              <a:t>Snippet</a:t>
            </a:r>
            <a:r>
              <a:rPr lang="en-US" sz="1700">
                <a:solidFill>
                  <a:schemeClr val="dk1"/>
                </a:solidFill>
              </a:rPr>
              <a:t>: Validate total system response with respect to temperature regulation</a:t>
            </a:r>
            <a:endParaRPr/>
          </a:p>
        </p:txBody>
      </p:sp>
      <p:pic>
        <p:nvPicPr>
          <p:cNvPr id="350" name="Google Shape;35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5938" y="1570825"/>
            <a:ext cx="8560131" cy="371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3"/>
          <p:cNvSpPr txBox="1"/>
          <p:nvPr/>
        </p:nvSpPr>
        <p:spPr>
          <a:xfrm>
            <a:off x="5903975" y="0"/>
            <a:ext cx="6288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Instrumentation &amp; Control</a:t>
            </a:r>
            <a:endParaRPr b="1" sz="3600">
              <a:solidFill>
                <a:srgbClr val="000000"/>
              </a:solidFill>
            </a:endParaRPr>
          </a:p>
        </p:txBody>
      </p:sp>
      <p:sp>
        <p:nvSpPr>
          <p:cNvPr id="357" name="Google Shape;357;p33"/>
          <p:cNvSpPr txBox="1"/>
          <p:nvPr/>
        </p:nvSpPr>
        <p:spPr>
          <a:xfrm>
            <a:off x="6353425" y="643925"/>
            <a:ext cx="531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Validation Plan</a:t>
            </a:r>
            <a:endParaRPr i="1"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solidFill>
                <a:schemeClr val="dk1"/>
              </a:solidFill>
            </a:endParaRPr>
          </a:p>
        </p:txBody>
      </p:sp>
      <p:pic>
        <p:nvPicPr>
          <p:cNvPr id="358" name="Google Shape;35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3975" y="1441675"/>
            <a:ext cx="8184055" cy="3974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 txBox="1"/>
          <p:nvPr/>
        </p:nvSpPr>
        <p:spPr>
          <a:xfrm>
            <a:off x="2003975" y="5588475"/>
            <a:ext cx="81840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Figure I&amp;C.11: </a:t>
            </a:r>
            <a:r>
              <a:rPr lang="en-US" sz="1700">
                <a:solidFill>
                  <a:schemeClr val="dk1"/>
                </a:solidFill>
              </a:rPr>
              <a:t>Validation Plan </a:t>
            </a:r>
            <a:r>
              <a:rPr lang="en-US" sz="1700">
                <a:solidFill>
                  <a:schemeClr val="dk1"/>
                </a:solidFill>
              </a:rPr>
              <a:t>Snippet</a:t>
            </a:r>
            <a:r>
              <a:rPr lang="en-US" sz="1700">
                <a:solidFill>
                  <a:schemeClr val="dk1"/>
                </a:solidFill>
              </a:rPr>
              <a:t>: Validate total  system response with respect to pump turnovers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/>
        </p:nvSpPr>
        <p:spPr>
          <a:xfrm>
            <a:off x="5903975" y="0"/>
            <a:ext cx="6288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Instrumentation &amp; Control</a:t>
            </a:r>
            <a:endParaRPr b="1" sz="3600">
              <a:solidFill>
                <a:srgbClr val="000000"/>
              </a:solidFill>
            </a:endParaRPr>
          </a:p>
        </p:txBody>
      </p:sp>
      <p:sp>
        <p:nvSpPr>
          <p:cNvPr id="366" name="Google Shape;366;p34"/>
          <p:cNvSpPr txBox="1"/>
          <p:nvPr/>
        </p:nvSpPr>
        <p:spPr>
          <a:xfrm>
            <a:off x="6353425" y="643925"/>
            <a:ext cx="531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solidFill>
                  <a:schemeClr val="dk1"/>
                </a:solidFill>
              </a:rPr>
              <a:t>Validation Plan</a:t>
            </a:r>
            <a:endParaRPr i="1"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solidFill>
                <a:schemeClr val="dk1"/>
              </a:solidFill>
            </a:endParaRPr>
          </a:p>
        </p:txBody>
      </p:sp>
      <p:sp>
        <p:nvSpPr>
          <p:cNvPr id="367" name="Google Shape;367;p34"/>
          <p:cNvSpPr txBox="1"/>
          <p:nvPr/>
        </p:nvSpPr>
        <p:spPr>
          <a:xfrm>
            <a:off x="1708400" y="5588475"/>
            <a:ext cx="90615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Figure I&amp;C.12: </a:t>
            </a:r>
            <a:r>
              <a:rPr lang="en-US" sz="1700">
                <a:solidFill>
                  <a:schemeClr val="dk1"/>
                </a:solidFill>
              </a:rPr>
              <a:t>Validation Plan Snippet: Verify total</a:t>
            </a:r>
            <a:r>
              <a:rPr lang="en-US" sz="1700">
                <a:solidFill>
                  <a:schemeClr val="dk1"/>
                </a:solidFill>
              </a:rPr>
              <a:t> </a:t>
            </a:r>
            <a:r>
              <a:rPr lang="en-US" sz="1700">
                <a:solidFill>
                  <a:schemeClr val="dk1"/>
                </a:solidFill>
              </a:rPr>
              <a:t> system response with respect to temperature regulation</a:t>
            </a:r>
            <a:endParaRPr/>
          </a:p>
        </p:txBody>
      </p:sp>
      <p:pic>
        <p:nvPicPr>
          <p:cNvPr id="368" name="Google Shape;36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8263" y="1570825"/>
            <a:ext cx="7695472" cy="371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5"/>
          <p:cNvSpPr txBox="1"/>
          <p:nvPr>
            <p:ph type="title"/>
          </p:nvPr>
        </p:nvSpPr>
        <p:spPr>
          <a:xfrm>
            <a:off x="609600" y="2971812"/>
            <a:ext cx="1098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