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30BAC2-E9F3-4A2B-A599-B295203249EC}">
  <a:tblStyle styleId="{A630BAC2-E9F3-4A2B-A599-B295203249E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lang="en-US"/>
              <a:t>Michelle</a:t>
            </a:r>
            <a:endParaRPr/>
          </a:p>
        </p:txBody>
      </p:sp>
      <p:sp>
        <p:nvSpPr>
          <p:cNvPr id="56" name="Google Shape;5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8a7d11e69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g3f8a7d11e69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8a7d11e69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g3f8a7d11e69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409e9cd8662_9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g409e9cd8662_9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409e9cd8662_9_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409e9cd8662_9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409ef1cdf4f_14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409ef1cdf4f_14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fb52ff79a8_1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g3fb52ff79a8_1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h638ece43b7654ea9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h638ece43b7654ea9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8a7d11e69_0_1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g3f8a7d11e69_0_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h638ece43b7654ea9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h638ece43b7654ea9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409ef1cdf4f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409ef1cdf4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h638ece43b7654ea9_29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3" name="Google Shape;193;h638ece43b7654ea9_29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h638ece43b7654ea9_29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h223ddc9ba5024987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5" name="Google Shape;205;h223ddc9ba5024987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h223ddc9ba5024987_1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409ee505ee2_1_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g409ee505ee2_1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h1f9fadeecb5a92ed_1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2" name="Google Shape;222;h1f9fadeecb5a92ed_1_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h1f9fadeecb5a92ed_1_8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409ee505ee2_1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409ee505ee2_1_10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g409ee505ee2_1_10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f8a7d11e69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f8a7d11e69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g3f8a7d11e69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h1f9fadeecb5a92ed_1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3" name="Google Shape;253;h1f9fadeecb5a92ed_1_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h1f9fadeecb5a92ed_1_6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fb52ff79a8_1_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g3fb52ff79a8_1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h638ece43b7654ea9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h638ece43b7654ea9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2"/>
          <p:cNvSpPr txBox="1"/>
          <p:nvPr>
            <p:ph type="ctrTitle"/>
          </p:nvPr>
        </p:nvSpPr>
        <p:spPr>
          <a:xfrm>
            <a:off x="5292777" y="2130426"/>
            <a:ext cx="5984823" cy="14700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3600"/>
              <a:buFont typeface="Arial"/>
              <a:buNone/>
              <a:defRPr b="1" sz="36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4165601" y="3886200"/>
            <a:ext cx="7111999" cy="1752600"/>
          </a:xfrm>
          <a:prstGeom prst="rect">
            <a:avLst/>
          </a:prstGeom>
          <a:noFill/>
          <a:ln>
            <a:noFill/>
          </a:ln>
        </p:spPr>
        <p:txBody>
          <a:bodyPr anchorCtr="0" anchor="t" bIns="45700" lIns="91425" spcFirstLastPara="1" rIns="91425" wrap="square" tIns="45700">
            <a:normAutofit/>
          </a:bodyPr>
          <a:lstStyle>
            <a:lvl1pPr lvl="0" algn="r">
              <a:spcBef>
                <a:spcPts val="560"/>
              </a:spcBef>
              <a:spcAft>
                <a:spcPts val="0"/>
              </a:spcAft>
              <a:buClr>
                <a:srgbClr val="FFFFFF"/>
              </a:buClr>
              <a:buSzPts val="2800"/>
              <a:buNone/>
              <a:defRPr sz="2800">
                <a:solidFill>
                  <a:srgbClr val="FFFFFF"/>
                </a:solidFill>
                <a:latin typeface="Arial"/>
                <a:ea typeface="Arial"/>
                <a:cs typeface="Arial"/>
                <a:sym typeface="Aria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
          <p:cNvSpPr txBox="1"/>
          <p:nvPr>
            <p:ph idx="10" type="dt"/>
          </p:nvPr>
        </p:nvSpPr>
        <p:spPr>
          <a:xfrm>
            <a:off x="609600" y="64706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165600" y="64706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737600" y="645795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888888"/>
                </a:solidFill>
                <a:latin typeface="Arial"/>
                <a:ea typeface="Arial"/>
                <a:cs typeface="Arial"/>
                <a:sym typeface="Arial"/>
              </a:defRPr>
            </a:lvl1pPr>
            <a:lvl2pPr indent="0" lvl="1" marL="0" algn="r">
              <a:spcBef>
                <a:spcPts val="0"/>
              </a:spcBef>
              <a:buNone/>
              <a:defRPr b="0" i="0" sz="1200" u="none" cap="none" strike="noStrike">
                <a:solidFill>
                  <a:srgbClr val="888888"/>
                </a:solidFill>
                <a:latin typeface="Arial"/>
                <a:ea typeface="Arial"/>
                <a:cs typeface="Arial"/>
                <a:sym typeface="Arial"/>
              </a:defRPr>
            </a:lvl2pPr>
            <a:lvl3pPr indent="0" lvl="2" marL="0" algn="r">
              <a:spcBef>
                <a:spcPts val="0"/>
              </a:spcBef>
              <a:buNone/>
              <a:defRPr b="0" i="0" sz="1200" u="none" cap="none" strike="noStrike">
                <a:solidFill>
                  <a:srgbClr val="888888"/>
                </a:solidFill>
                <a:latin typeface="Arial"/>
                <a:ea typeface="Arial"/>
                <a:cs typeface="Arial"/>
                <a:sym typeface="Arial"/>
              </a:defRPr>
            </a:lvl3pPr>
            <a:lvl4pPr indent="0" lvl="3" marL="0" algn="r">
              <a:spcBef>
                <a:spcPts val="0"/>
              </a:spcBef>
              <a:buNone/>
              <a:defRPr b="0" i="0" sz="1200" u="none" cap="none" strike="noStrike">
                <a:solidFill>
                  <a:srgbClr val="888888"/>
                </a:solidFill>
                <a:latin typeface="Arial"/>
                <a:ea typeface="Arial"/>
                <a:cs typeface="Arial"/>
                <a:sym typeface="Arial"/>
              </a:defRPr>
            </a:lvl4pPr>
            <a:lvl5pPr indent="0" lvl="4" marL="0" algn="r">
              <a:spcBef>
                <a:spcPts val="0"/>
              </a:spcBef>
              <a:buNone/>
              <a:defRPr b="0" i="0" sz="1200" u="none" cap="none" strike="noStrike">
                <a:solidFill>
                  <a:srgbClr val="888888"/>
                </a:solidFill>
                <a:latin typeface="Arial"/>
                <a:ea typeface="Arial"/>
                <a:cs typeface="Arial"/>
                <a:sym typeface="Arial"/>
              </a:defRPr>
            </a:lvl5pPr>
            <a:lvl6pPr indent="0" lvl="5" marL="0" algn="r">
              <a:spcBef>
                <a:spcPts val="0"/>
              </a:spcBef>
              <a:buNone/>
              <a:defRPr b="0" i="0" sz="1200" u="none" cap="none" strike="noStrike">
                <a:solidFill>
                  <a:srgbClr val="888888"/>
                </a:solidFill>
                <a:latin typeface="Arial"/>
                <a:ea typeface="Arial"/>
                <a:cs typeface="Arial"/>
                <a:sym typeface="Arial"/>
              </a:defRPr>
            </a:lvl6pPr>
            <a:lvl7pPr indent="0" lvl="6" marL="0" algn="r">
              <a:spcBef>
                <a:spcPts val="0"/>
              </a:spcBef>
              <a:buNone/>
              <a:defRPr b="0" i="0" sz="1200" u="none" cap="none" strike="noStrike">
                <a:solidFill>
                  <a:srgbClr val="888888"/>
                </a:solidFill>
                <a:latin typeface="Arial"/>
                <a:ea typeface="Arial"/>
                <a:cs typeface="Arial"/>
                <a:sym typeface="Arial"/>
              </a:defRPr>
            </a:lvl7pPr>
            <a:lvl8pPr indent="0" lvl="7" marL="0" algn="r">
              <a:spcBef>
                <a:spcPts val="0"/>
              </a:spcBef>
              <a:buNone/>
              <a:defRPr b="0" i="0" sz="1200" u="none" cap="none" strike="noStrike">
                <a:solidFill>
                  <a:srgbClr val="888888"/>
                </a:solidFill>
                <a:latin typeface="Arial"/>
                <a:ea typeface="Arial"/>
                <a:cs typeface="Arial"/>
                <a:sym typeface="Arial"/>
              </a:defRPr>
            </a:lvl8pPr>
            <a:lvl9pPr indent="0" lvl="8" mar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3"/>
          <p:cNvSpPr txBox="1"/>
          <p:nvPr>
            <p:ph type="title"/>
          </p:nvPr>
        </p:nvSpPr>
        <p:spPr>
          <a:xfrm>
            <a:off x="609600" y="843637"/>
            <a:ext cx="10981267" cy="914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600"/>
              <a:buFont typeface="Arial"/>
              <a:buNone/>
              <a:defRPr b="1"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609600" y="1758037"/>
            <a:ext cx="10972800" cy="4711025"/>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609600" y="646906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161368" y="6469064"/>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737602" y="646906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7" name="Google Shape;27;p3"/>
          <p:cNvPicPr preferRelativeResize="0"/>
          <p:nvPr/>
        </p:nvPicPr>
        <p:blipFill rotWithShape="1">
          <a:blip r:embed="rId3">
            <a:alphaModFix/>
          </a:blip>
          <a:srcRect b="0" l="0" r="0" t="0"/>
          <a:stretch/>
        </p:blipFill>
        <p:spPr>
          <a:xfrm>
            <a:off x="601135" y="152401"/>
            <a:ext cx="3258487" cy="49434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8" name="Shape 28"/>
        <p:cNvGrpSpPr/>
        <p:nvPr/>
      </p:nvGrpSpPr>
      <p:grpSpPr>
        <a:xfrm>
          <a:off x="0" y="0"/>
          <a:ext cx="0" cy="0"/>
          <a:chOff x="0" y="0"/>
          <a:chExt cx="0" cy="0"/>
        </a:xfrm>
      </p:grpSpPr>
      <p:sp>
        <p:nvSpPr>
          <p:cNvPr id="29" name="Google Shape;29;p4"/>
          <p:cNvSpPr txBox="1"/>
          <p:nvPr>
            <p:ph idx="1" type="body"/>
          </p:nvPr>
        </p:nvSpPr>
        <p:spPr>
          <a:xfrm>
            <a:off x="609600" y="1647394"/>
            <a:ext cx="5384800" cy="481055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0" name="Google Shape;30;p4"/>
          <p:cNvSpPr txBox="1"/>
          <p:nvPr>
            <p:ph idx="2" type="body"/>
          </p:nvPr>
        </p:nvSpPr>
        <p:spPr>
          <a:xfrm>
            <a:off x="6197600" y="1647394"/>
            <a:ext cx="5384800" cy="481055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1" name="Google Shape;31;p4"/>
          <p:cNvSpPr txBox="1"/>
          <p:nvPr>
            <p:ph idx="10" type="dt"/>
          </p:nvPr>
        </p:nvSpPr>
        <p:spPr>
          <a:xfrm>
            <a:off x="609600" y="64706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4165600" y="64706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2" type="sldNum"/>
          </p:nvPr>
        </p:nvSpPr>
        <p:spPr>
          <a:xfrm>
            <a:off x="8737600" y="645795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4" name="Google Shape;34;p4"/>
          <p:cNvSpPr txBox="1"/>
          <p:nvPr>
            <p:ph type="title"/>
          </p:nvPr>
        </p:nvSpPr>
        <p:spPr>
          <a:xfrm>
            <a:off x="609600" y="843637"/>
            <a:ext cx="10981267" cy="803756"/>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600"/>
              <a:buFont typeface="Arial"/>
              <a:buNone/>
              <a:defRPr b="1"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5"/>
          <p:cNvSpPr txBox="1"/>
          <p:nvPr>
            <p:ph type="title"/>
          </p:nvPr>
        </p:nvSpPr>
        <p:spPr>
          <a:xfrm>
            <a:off x="609600" y="2900649"/>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Arial"/>
              <a:buNone/>
              <a:defRPr b="1"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5"/>
          <p:cNvSpPr txBox="1"/>
          <p:nvPr>
            <p:ph idx="10" type="dt"/>
          </p:nvPr>
        </p:nvSpPr>
        <p:spPr>
          <a:xfrm>
            <a:off x="609600" y="64706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165600" y="64706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737600" y="645795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0" name="Shape 40"/>
        <p:cNvGrpSpPr/>
        <p:nvPr/>
      </p:nvGrpSpPr>
      <p:grpSpPr>
        <a:xfrm>
          <a:off x="0" y="0"/>
          <a:ext cx="0" cy="0"/>
          <a:chOff x="0" y="0"/>
          <a:chExt cx="0" cy="0"/>
        </a:xfrm>
      </p:grpSpPr>
      <p:sp>
        <p:nvSpPr>
          <p:cNvPr id="41" name="Google Shape;41;p6"/>
          <p:cNvSpPr txBox="1"/>
          <p:nvPr>
            <p:ph type="title"/>
          </p:nvPr>
        </p:nvSpPr>
        <p:spPr>
          <a:xfrm>
            <a:off x="609601" y="1066969"/>
            <a:ext cx="4011084" cy="7368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4766733" y="1073721"/>
            <a:ext cx="6815667" cy="505244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b="1" sz="28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43" name="Google Shape;43;p6"/>
          <p:cNvSpPr txBox="1"/>
          <p:nvPr>
            <p:ph idx="2" type="body"/>
          </p:nvPr>
        </p:nvSpPr>
        <p:spPr>
          <a:xfrm>
            <a:off x="609601" y="1803850"/>
            <a:ext cx="4011084" cy="4322314"/>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4" name="Google Shape;44;p6"/>
          <p:cNvSpPr txBox="1"/>
          <p:nvPr>
            <p:ph idx="10" type="dt"/>
          </p:nvPr>
        </p:nvSpPr>
        <p:spPr>
          <a:xfrm>
            <a:off x="609600" y="64706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1" type="ftr"/>
          </p:nvPr>
        </p:nvSpPr>
        <p:spPr>
          <a:xfrm>
            <a:off x="4165600" y="64706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
          <p:cNvSpPr txBox="1"/>
          <p:nvPr>
            <p:ph idx="12" type="sldNum"/>
          </p:nvPr>
        </p:nvSpPr>
        <p:spPr>
          <a:xfrm>
            <a:off x="8737600" y="645795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7" name="Shape 47"/>
        <p:cNvGrpSpPr/>
        <p:nvPr/>
      </p:nvGrpSpPr>
      <p:grpSpPr>
        <a:xfrm>
          <a:off x="0" y="0"/>
          <a:ext cx="0" cy="0"/>
          <a:chOff x="0" y="0"/>
          <a:chExt cx="0" cy="0"/>
        </a:xfrm>
      </p:grpSpPr>
      <p:sp>
        <p:nvSpPr>
          <p:cNvPr id="48" name="Google Shape;48;p7"/>
          <p:cNvSpPr txBox="1"/>
          <p:nvPr>
            <p:ph type="title"/>
          </p:nvPr>
        </p:nvSpPr>
        <p:spPr>
          <a:xfrm>
            <a:off x="609600" y="1196430"/>
            <a:ext cx="3431563"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1"/>
              </a:buClr>
              <a:buSzPts val="1800"/>
              <a:buFont typeface="Arial"/>
              <a:buNone/>
              <a:defRPr b="1"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7"/>
          <p:cNvSpPr/>
          <p:nvPr>
            <p:ph idx="2" type="pic"/>
          </p:nvPr>
        </p:nvSpPr>
        <p:spPr>
          <a:xfrm>
            <a:off x="4267200" y="1196431"/>
            <a:ext cx="7315200" cy="4850287"/>
          </a:xfrm>
          <a:prstGeom prst="rect">
            <a:avLst/>
          </a:prstGeom>
          <a:noFill/>
          <a:ln>
            <a:noFill/>
          </a:ln>
        </p:spPr>
      </p:sp>
      <p:sp>
        <p:nvSpPr>
          <p:cNvPr id="50" name="Google Shape;50;p7"/>
          <p:cNvSpPr txBox="1"/>
          <p:nvPr>
            <p:ph idx="1" type="body"/>
          </p:nvPr>
        </p:nvSpPr>
        <p:spPr>
          <a:xfrm>
            <a:off x="609600" y="1768044"/>
            <a:ext cx="3431563" cy="427867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1" name="Google Shape;51;p7"/>
          <p:cNvSpPr txBox="1"/>
          <p:nvPr>
            <p:ph idx="10" type="dt"/>
          </p:nvPr>
        </p:nvSpPr>
        <p:spPr>
          <a:xfrm>
            <a:off x="609600" y="64706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165600" y="64706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737600" y="645795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609600" y="1600201"/>
            <a:ext cx="10972800" cy="4857751"/>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609600" y="6470651"/>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165600" y="6470651"/>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737600" y="6457952"/>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14.png"/><Relationship Id="rId7"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8"/>
          <p:cNvSpPr txBox="1"/>
          <p:nvPr>
            <p:ph type="ctrTitle"/>
          </p:nvPr>
        </p:nvSpPr>
        <p:spPr>
          <a:xfrm>
            <a:off x="4700349" y="3428999"/>
            <a:ext cx="7302600" cy="2678802"/>
          </a:xfrm>
          <a:prstGeom prst="rect">
            <a:avLst/>
          </a:prstGeom>
          <a:noFill/>
          <a:ln>
            <a:noFill/>
          </a:ln>
        </p:spPr>
        <p:txBody>
          <a:bodyPr anchorCtr="0" anchor="ctr" bIns="45700" lIns="91425" spcFirstLastPara="1" rIns="91425" wrap="square" tIns="45700">
            <a:normAutofit fontScale="90000"/>
          </a:bodyPr>
          <a:lstStyle/>
          <a:p>
            <a:pPr indent="0" lvl="0" marL="0" rtl="0" algn="r">
              <a:spcBef>
                <a:spcPts val="0"/>
              </a:spcBef>
              <a:spcAft>
                <a:spcPts val="0"/>
              </a:spcAft>
              <a:buClr>
                <a:schemeClr val="lt1"/>
              </a:buClr>
              <a:buSzPct val="111111"/>
              <a:buFont typeface="Arial"/>
              <a:buNone/>
            </a:pPr>
            <a:r>
              <a:rPr lang="en-US"/>
              <a:t>TMEIC DI-Water Cooling Skid</a:t>
            </a:r>
            <a:endParaRPr/>
          </a:p>
          <a:p>
            <a:pPr indent="0" lvl="0" marL="0" rtl="0" algn="r">
              <a:spcBef>
                <a:spcPts val="0"/>
              </a:spcBef>
              <a:spcAft>
                <a:spcPts val="0"/>
              </a:spcAft>
              <a:buClr>
                <a:schemeClr val="lt1"/>
              </a:buClr>
              <a:buSzPct val="162933"/>
              <a:buFont typeface="Arial"/>
              <a:buNone/>
            </a:pPr>
            <a:r>
              <a:rPr lang="en-US"/>
              <a:t>Bi-Weekly Update 3</a:t>
            </a:r>
            <a:br>
              <a:rPr lang="en-US"/>
            </a:br>
            <a:r>
              <a:rPr lang="en-US" sz="2455"/>
              <a:t>Ethan Henderson</a:t>
            </a:r>
            <a:endParaRPr sz="2455"/>
          </a:p>
          <a:p>
            <a:pPr indent="0" lvl="0" marL="0" rtl="0" algn="r">
              <a:spcBef>
                <a:spcPts val="0"/>
              </a:spcBef>
              <a:spcAft>
                <a:spcPts val="0"/>
              </a:spcAft>
              <a:buClr>
                <a:schemeClr val="lt1"/>
              </a:buClr>
              <a:buSzPct val="162933"/>
              <a:buFont typeface="Arial"/>
              <a:buNone/>
            </a:pPr>
            <a:r>
              <a:rPr lang="en-US" sz="2455"/>
              <a:t>Robert Parker</a:t>
            </a:r>
            <a:endParaRPr sz="2455"/>
          </a:p>
          <a:p>
            <a:pPr indent="0" lvl="0" marL="0" rtl="0" algn="r">
              <a:spcBef>
                <a:spcPts val="0"/>
              </a:spcBef>
              <a:spcAft>
                <a:spcPts val="0"/>
              </a:spcAft>
              <a:buClr>
                <a:schemeClr val="lt1"/>
              </a:buClr>
              <a:buSzPct val="162933"/>
              <a:buFont typeface="Arial"/>
              <a:buNone/>
            </a:pPr>
            <a:r>
              <a:rPr lang="en-US" sz="2455"/>
              <a:t>Noah Ovikian</a:t>
            </a:r>
            <a:br>
              <a:rPr lang="en-US" sz="2455"/>
            </a:br>
            <a:r>
              <a:rPr lang="en-US" sz="2455"/>
              <a:t>Sponsor: TMEIC</a:t>
            </a:r>
            <a:br>
              <a:rPr lang="en-US" sz="2455"/>
            </a:br>
            <a:r>
              <a:rPr lang="en-US" sz="2455"/>
              <a:t>TA: Jerry Xu</a:t>
            </a:r>
            <a:br>
              <a:rPr lang="en-US" sz="2455"/>
            </a:br>
            <a:endParaRPr sz="2455"/>
          </a:p>
        </p:txBody>
      </p:sp>
      <p:sp>
        <p:nvSpPr>
          <p:cNvPr id="59" name="Google Shape;59;p8"/>
          <p:cNvSpPr/>
          <p:nvPr/>
        </p:nvSpPr>
        <p:spPr>
          <a:xfrm>
            <a:off x="1447" y="1"/>
            <a:ext cx="6111300" cy="6111300"/>
          </a:xfrm>
          <a:prstGeom prst="diagStripe">
            <a:avLst>
              <a:gd fmla="val 28990" name="adj"/>
            </a:avLst>
          </a:prstGeom>
          <a:blipFill rotWithShape="1">
            <a:blip r:embed="rId3">
              <a:alphaModFix/>
            </a:blip>
            <a:stretch>
              <a:fillRect b="0" l="0" r="0" t="0"/>
            </a:stretch>
          </a:blipFill>
          <a:ln>
            <a:noFill/>
          </a:ln>
          <a:effectLst>
            <a:outerShdw blurRad="193675" rotWithShape="0" dir="5400000" dist="23000">
              <a:srgbClr val="000000">
                <a:alpha val="6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id="60" name="Google Shape;60;p8"/>
          <p:cNvPicPr preferRelativeResize="0"/>
          <p:nvPr/>
        </p:nvPicPr>
        <p:blipFill rotWithShape="1">
          <a:blip r:embed="rId4">
            <a:alphaModFix/>
          </a:blip>
          <a:srcRect b="0" l="0" r="0" t="0"/>
          <a:stretch/>
        </p:blipFill>
        <p:spPr>
          <a:xfrm>
            <a:off x="8888750" y="1105318"/>
            <a:ext cx="3114199" cy="525774"/>
          </a:xfrm>
          <a:prstGeom prst="rect">
            <a:avLst/>
          </a:prstGeom>
          <a:noFill/>
          <a:ln>
            <a:noFill/>
          </a:ln>
        </p:spPr>
      </p:pic>
      <p:sp>
        <p:nvSpPr>
          <p:cNvPr id="61" name="Google Shape;61;p8"/>
          <p:cNvSpPr/>
          <p:nvPr/>
        </p:nvSpPr>
        <p:spPr>
          <a:xfrm rot="-2700000">
            <a:off x="-2668861" y="334923"/>
            <a:ext cx="9470423" cy="3068702"/>
          </a:xfrm>
          <a:prstGeom prst="trapezoid">
            <a:avLst>
              <a:gd fmla="val 25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9"/>
          <p:cNvSpPr txBox="1"/>
          <p:nvPr>
            <p:ph type="title"/>
          </p:nvPr>
        </p:nvSpPr>
        <p:spPr>
          <a:xfrm>
            <a:off x="6521275" y="0"/>
            <a:ext cx="46476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Project Summary</a:t>
            </a:r>
            <a:endParaRPr/>
          </a:p>
        </p:txBody>
      </p:sp>
      <p:sp>
        <p:nvSpPr>
          <p:cNvPr id="67" name="Google Shape;67;p9"/>
          <p:cNvSpPr txBox="1"/>
          <p:nvPr>
            <p:ph idx="1" type="body"/>
          </p:nvPr>
        </p:nvSpPr>
        <p:spPr>
          <a:xfrm>
            <a:off x="362550" y="1241450"/>
            <a:ext cx="11466900" cy="4768200"/>
          </a:xfrm>
          <a:prstGeom prst="rect">
            <a:avLst/>
          </a:prstGeom>
          <a:noFill/>
          <a:ln>
            <a:noFill/>
          </a:ln>
        </p:spPr>
        <p:txBody>
          <a:bodyPr anchorCtr="0" anchor="t" bIns="45700" lIns="91425" spcFirstLastPara="1" rIns="91425" wrap="square" tIns="45700">
            <a:noAutofit/>
          </a:bodyPr>
          <a:lstStyle/>
          <a:p>
            <a:pPr indent="0" lvl="0" marL="0" rtl="0" algn="ctr">
              <a:lnSpc>
                <a:spcPct val="110000"/>
              </a:lnSpc>
              <a:spcBef>
                <a:spcPts val="0"/>
              </a:spcBef>
              <a:spcAft>
                <a:spcPts val="0"/>
              </a:spcAft>
              <a:buClr>
                <a:schemeClr val="dk1"/>
              </a:buClr>
              <a:buSzPts val="2800"/>
              <a:buNone/>
            </a:pPr>
            <a:r>
              <a:rPr b="1" lang="en-US" sz="2800"/>
              <a:t>Problem Statement</a:t>
            </a:r>
            <a:endParaRPr b="1"/>
          </a:p>
          <a:p>
            <a:pPr indent="0" lvl="0" marL="342900" rtl="0" algn="l">
              <a:spcBef>
                <a:spcPts val="600"/>
              </a:spcBef>
              <a:spcAft>
                <a:spcPts val="0"/>
              </a:spcAft>
              <a:buNone/>
            </a:pPr>
            <a:r>
              <a:rPr lang="en-US" sz="2400"/>
              <a:t>TMEIC’s high-power VFDs rely on deionized-water cooling to protect inverter IGBTs from damaging heat. Using a full-scale cooling system for customer training is costly, cumbersome, and impractical, yet trainees still need realistic operating and troubleshooting scenarios.</a:t>
            </a:r>
            <a:endParaRPr sz="2400"/>
          </a:p>
          <a:p>
            <a:pPr indent="0" lvl="0" marL="342900" rtl="0" algn="l">
              <a:spcBef>
                <a:spcPts val="600"/>
              </a:spcBef>
              <a:spcAft>
                <a:spcPts val="0"/>
              </a:spcAft>
              <a:buNone/>
            </a:pPr>
            <a:r>
              <a:t/>
            </a:r>
            <a:endParaRPr sz="2400"/>
          </a:p>
          <a:p>
            <a:pPr indent="0" lvl="0" marL="0" rtl="0" algn="ctr">
              <a:lnSpc>
                <a:spcPct val="110000"/>
              </a:lnSpc>
              <a:spcBef>
                <a:spcPts val="600"/>
              </a:spcBef>
              <a:spcAft>
                <a:spcPts val="0"/>
              </a:spcAft>
              <a:buClr>
                <a:schemeClr val="dk1"/>
              </a:buClr>
              <a:buSzPts val="2800"/>
              <a:buNone/>
            </a:pPr>
            <a:r>
              <a:rPr b="1" lang="en-US" sz="2800"/>
              <a:t>Our Solution</a:t>
            </a:r>
            <a:endParaRPr b="1"/>
          </a:p>
          <a:p>
            <a:pPr indent="0" lvl="0" marL="342900" rtl="0" algn="l">
              <a:spcBef>
                <a:spcPts val="600"/>
              </a:spcBef>
              <a:spcAft>
                <a:spcPts val="0"/>
              </a:spcAft>
              <a:buNone/>
            </a:pPr>
            <a:r>
              <a:rPr lang="en-US" sz="2400"/>
              <a:t>We are designing and building a compact, temperature-controlled DI water cooling skid for TMEIC’s training facility. It will reproduce the behavior of the full-scale system, enabling accurate hands-on testing, diagnostics, and troubleshooting at a fraction of the scale, cost, and complexity.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0"/>
          <p:cNvSpPr txBox="1"/>
          <p:nvPr>
            <p:ph type="title"/>
          </p:nvPr>
        </p:nvSpPr>
        <p:spPr>
          <a:xfrm>
            <a:off x="6521275" y="0"/>
            <a:ext cx="46476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Project Summary</a:t>
            </a:r>
            <a:endParaRPr/>
          </a:p>
        </p:txBody>
      </p:sp>
      <p:pic>
        <p:nvPicPr>
          <p:cNvPr id="73" name="Google Shape;73;p10"/>
          <p:cNvPicPr preferRelativeResize="0"/>
          <p:nvPr/>
        </p:nvPicPr>
        <p:blipFill>
          <a:blip r:embed="rId3">
            <a:alphaModFix/>
          </a:blip>
          <a:stretch>
            <a:fillRect/>
          </a:stretch>
        </p:blipFill>
        <p:spPr>
          <a:xfrm>
            <a:off x="1582463" y="1035375"/>
            <a:ext cx="9027073" cy="5694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1"/>
          <p:cNvSpPr txBox="1"/>
          <p:nvPr>
            <p:ph type="title"/>
          </p:nvPr>
        </p:nvSpPr>
        <p:spPr>
          <a:xfrm>
            <a:off x="6654875" y="0"/>
            <a:ext cx="45027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System Overview </a:t>
            </a:r>
            <a:endParaRPr/>
          </a:p>
        </p:txBody>
      </p:sp>
      <p:pic>
        <p:nvPicPr>
          <p:cNvPr id="79" name="Google Shape;79;p11"/>
          <p:cNvPicPr preferRelativeResize="0"/>
          <p:nvPr/>
        </p:nvPicPr>
        <p:blipFill>
          <a:blip r:embed="rId3">
            <a:alphaModFix/>
          </a:blip>
          <a:stretch>
            <a:fillRect/>
          </a:stretch>
        </p:blipFill>
        <p:spPr>
          <a:xfrm>
            <a:off x="1014400" y="1065650"/>
            <a:ext cx="10163199" cy="4726700"/>
          </a:xfrm>
          <a:prstGeom prst="rect">
            <a:avLst/>
          </a:prstGeom>
          <a:noFill/>
          <a:ln cap="flat" cmpd="sng" w="12700">
            <a:solidFill>
              <a:schemeClr val="dk1"/>
            </a:solidFill>
            <a:prstDash val="solid"/>
            <a:miter lim="8000"/>
            <a:headEnd len="sm" w="sm" type="none"/>
            <a:tailEnd len="sm" w="sm" type="none"/>
          </a:ln>
        </p:spPr>
      </p:pic>
      <p:sp>
        <p:nvSpPr>
          <p:cNvPr id="80" name="Google Shape;80;p11"/>
          <p:cNvSpPr txBox="1"/>
          <p:nvPr/>
        </p:nvSpPr>
        <p:spPr>
          <a:xfrm>
            <a:off x="1258100" y="1250775"/>
            <a:ext cx="3910500" cy="15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9BBB59"/>
                </a:solidFill>
              </a:rPr>
              <a:t>Ethan Henderson</a:t>
            </a:r>
            <a:endParaRPr sz="3200">
              <a:solidFill>
                <a:srgbClr val="9BBB59"/>
              </a:solidFill>
            </a:endParaRPr>
          </a:p>
          <a:p>
            <a:pPr indent="0" lvl="0" marL="0" rtl="0" algn="l">
              <a:spcBef>
                <a:spcPts val="0"/>
              </a:spcBef>
              <a:spcAft>
                <a:spcPts val="0"/>
              </a:spcAft>
              <a:buNone/>
            </a:pPr>
            <a:r>
              <a:rPr lang="en-US" sz="3200">
                <a:solidFill>
                  <a:srgbClr val="4BACC6"/>
                </a:solidFill>
              </a:rPr>
              <a:t>Robert Parker</a:t>
            </a:r>
            <a:endParaRPr sz="3200">
              <a:solidFill>
                <a:srgbClr val="4BACC6"/>
              </a:solidFill>
            </a:endParaRPr>
          </a:p>
          <a:p>
            <a:pPr indent="0" lvl="0" marL="0" rtl="0" algn="l">
              <a:spcBef>
                <a:spcPts val="0"/>
              </a:spcBef>
              <a:spcAft>
                <a:spcPts val="0"/>
              </a:spcAft>
              <a:buNone/>
            </a:pPr>
            <a:r>
              <a:rPr lang="en-US" sz="3200">
                <a:solidFill>
                  <a:srgbClr val="C0504D"/>
                </a:solidFill>
              </a:rPr>
              <a:t>Noah Ovikian</a:t>
            </a:r>
            <a:endParaRPr sz="3200">
              <a:solidFill>
                <a:srgbClr val="C0504D"/>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2"/>
          <p:cNvSpPr txBox="1"/>
          <p:nvPr>
            <p:ph type="title"/>
          </p:nvPr>
        </p:nvSpPr>
        <p:spPr>
          <a:xfrm>
            <a:off x="6517400" y="0"/>
            <a:ext cx="47322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Phase II Timeline </a:t>
            </a:r>
            <a:endParaRPr/>
          </a:p>
        </p:txBody>
      </p:sp>
      <p:cxnSp>
        <p:nvCxnSpPr>
          <p:cNvPr id="86" name="Google Shape;86;p12"/>
          <p:cNvCxnSpPr/>
          <p:nvPr/>
        </p:nvCxnSpPr>
        <p:spPr>
          <a:xfrm>
            <a:off x="549450" y="3413775"/>
            <a:ext cx="11010000" cy="0"/>
          </a:xfrm>
          <a:prstGeom prst="straightConnector1">
            <a:avLst/>
          </a:prstGeom>
          <a:noFill/>
          <a:ln cap="flat" cmpd="sng" w="76200">
            <a:solidFill>
              <a:srgbClr val="D9D9D9"/>
            </a:solidFill>
            <a:prstDash val="solid"/>
            <a:round/>
            <a:headEnd len="med" w="med" type="none"/>
            <a:tailEnd len="med" w="med" type="none"/>
          </a:ln>
        </p:spPr>
      </p:cxnSp>
      <p:cxnSp>
        <p:nvCxnSpPr>
          <p:cNvPr id="87" name="Google Shape;87;p12"/>
          <p:cNvCxnSpPr/>
          <p:nvPr/>
        </p:nvCxnSpPr>
        <p:spPr>
          <a:xfrm>
            <a:off x="549450" y="3274275"/>
            <a:ext cx="0" cy="279000"/>
          </a:xfrm>
          <a:prstGeom prst="straightConnector1">
            <a:avLst/>
          </a:prstGeom>
          <a:noFill/>
          <a:ln cap="flat" cmpd="sng" w="38100">
            <a:solidFill>
              <a:srgbClr val="434343"/>
            </a:solidFill>
            <a:prstDash val="solid"/>
            <a:round/>
            <a:headEnd len="med" w="med" type="none"/>
            <a:tailEnd len="med" w="med" type="none"/>
          </a:ln>
        </p:spPr>
      </p:cxnSp>
      <p:cxnSp>
        <p:nvCxnSpPr>
          <p:cNvPr id="88" name="Google Shape;88;p12"/>
          <p:cNvCxnSpPr/>
          <p:nvPr/>
        </p:nvCxnSpPr>
        <p:spPr>
          <a:xfrm>
            <a:off x="2695225" y="3274275"/>
            <a:ext cx="0" cy="279000"/>
          </a:xfrm>
          <a:prstGeom prst="straightConnector1">
            <a:avLst/>
          </a:prstGeom>
          <a:noFill/>
          <a:ln cap="flat" cmpd="sng" w="38100">
            <a:solidFill>
              <a:srgbClr val="434343"/>
            </a:solidFill>
            <a:prstDash val="solid"/>
            <a:round/>
            <a:headEnd len="med" w="med" type="none"/>
            <a:tailEnd len="med" w="med" type="none"/>
          </a:ln>
        </p:spPr>
      </p:cxnSp>
      <p:cxnSp>
        <p:nvCxnSpPr>
          <p:cNvPr id="89" name="Google Shape;89;p12"/>
          <p:cNvCxnSpPr/>
          <p:nvPr/>
        </p:nvCxnSpPr>
        <p:spPr>
          <a:xfrm>
            <a:off x="6901625" y="3274275"/>
            <a:ext cx="0" cy="279000"/>
          </a:xfrm>
          <a:prstGeom prst="straightConnector1">
            <a:avLst/>
          </a:prstGeom>
          <a:noFill/>
          <a:ln cap="flat" cmpd="sng" w="38100">
            <a:solidFill>
              <a:srgbClr val="434343"/>
            </a:solidFill>
            <a:prstDash val="solid"/>
            <a:round/>
            <a:headEnd len="med" w="med" type="none"/>
            <a:tailEnd len="med" w="med" type="none"/>
          </a:ln>
        </p:spPr>
      </p:cxnSp>
      <p:cxnSp>
        <p:nvCxnSpPr>
          <p:cNvPr id="90" name="Google Shape;90;p12"/>
          <p:cNvCxnSpPr/>
          <p:nvPr/>
        </p:nvCxnSpPr>
        <p:spPr>
          <a:xfrm>
            <a:off x="11249600" y="3274275"/>
            <a:ext cx="0" cy="279000"/>
          </a:xfrm>
          <a:prstGeom prst="straightConnector1">
            <a:avLst/>
          </a:prstGeom>
          <a:noFill/>
          <a:ln cap="flat" cmpd="sng" w="38100">
            <a:solidFill>
              <a:srgbClr val="434343"/>
            </a:solidFill>
            <a:prstDash val="solid"/>
            <a:round/>
            <a:headEnd len="med" w="med" type="none"/>
            <a:tailEnd len="med" w="med" type="none"/>
          </a:ln>
        </p:spPr>
      </p:cxnSp>
      <p:sp>
        <p:nvSpPr>
          <p:cNvPr id="91" name="Google Shape;91;p12"/>
          <p:cNvSpPr/>
          <p:nvPr/>
        </p:nvSpPr>
        <p:spPr>
          <a:xfrm>
            <a:off x="66775" y="1704375"/>
            <a:ext cx="2121900" cy="15699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2"/>
          <p:cNvSpPr txBox="1"/>
          <p:nvPr/>
        </p:nvSpPr>
        <p:spPr>
          <a:xfrm>
            <a:off x="187975" y="1704375"/>
            <a:ext cx="1859100" cy="15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rgbClr val="6AA84F"/>
                </a:solidFill>
              </a:rPr>
              <a:t>SEP 17</a:t>
            </a:r>
            <a:endParaRPr b="1" sz="1000">
              <a:solidFill>
                <a:srgbClr val="6AA84F"/>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None/>
            </a:pPr>
            <a:r>
              <a:rPr b="1" lang="en-US" sz="1500">
                <a:solidFill>
                  <a:schemeClr val="dk1"/>
                </a:solidFill>
              </a:rPr>
              <a:t>ALL Electrical Equipment Received</a:t>
            </a:r>
            <a:endParaRPr b="1" sz="1500">
              <a:solidFill>
                <a:schemeClr val="dk1"/>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None/>
            </a:pPr>
            <a:r>
              <a:t/>
            </a:r>
            <a:endParaRPr sz="1000">
              <a:solidFill>
                <a:srgbClr val="888888"/>
              </a:solidFill>
            </a:endParaRPr>
          </a:p>
        </p:txBody>
      </p:sp>
      <p:sp>
        <p:nvSpPr>
          <p:cNvPr id="93" name="Google Shape;93;p12"/>
          <p:cNvSpPr/>
          <p:nvPr/>
        </p:nvSpPr>
        <p:spPr>
          <a:xfrm>
            <a:off x="3736088" y="1739475"/>
            <a:ext cx="2121900" cy="1534800"/>
          </a:xfrm>
          <a:prstGeom prst="roundRect">
            <a:avLst>
              <a:gd fmla="val 16667" name="adj"/>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2"/>
          <p:cNvSpPr txBox="1"/>
          <p:nvPr/>
        </p:nvSpPr>
        <p:spPr>
          <a:xfrm>
            <a:off x="3857300" y="1739475"/>
            <a:ext cx="1859100" cy="15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rgbClr val="F1C232"/>
                </a:solidFill>
              </a:rPr>
              <a:t>SEP 25</a:t>
            </a:r>
            <a:endParaRPr b="1" sz="1000">
              <a:solidFill>
                <a:srgbClr val="F1C232"/>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None/>
            </a:pPr>
            <a:r>
              <a:rPr b="1" lang="en-US" sz="1500">
                <a:solidFill>
                  <a:schemeClr val="dk1"/>
                </a:solidFill>
              </a:rPr>
              <a:t>Phase II Skid Construction</a:t>
            </a:r>
            <a:endParaRPr b="1" sz="1500">
              <a:solidFill>
                <a:schemeClr val="dk1"/>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Clr>
                <a:schemeClr val="dk1"/>
              </a:buClr>
              <a:buSzPts val="1100"/>
              <a:buFont typeface="Arial"/>
              <a:buNone/>
            </a:pPr>
            <a:r>
              <a:rPr lang="en-US" sz="1000">
                <a:solidFill>
                  <a:srgbClr val="888888"/>
                </a:solidFill>
              </a:rPr>
              <a:t>Resin </a:t>
            </a:r>
            <a:r>
              <a:rPr lang="en-US" sz="1000">
                <a:solidFill>
                  <a:srgbClr val="888888"/>
                </a:solidFill>
              </a:rPr>
              <a:t>filtration</a:t>
            </a:r>
            <a:r>
              <a:rPr lang="en-US" sz="1000">
                <a:solidFill>
                  <a:srgbClr val="888888"/>
                </a:solidFill>
              </a:rPr>
              <a:t> loop</a:t>
            </a:r>
            <a:endParaRPr sz="1000">
              <a:solidFill>
                <a:srgbClr val="888888"/>
              </a:solidFill>
            </a:endParaRPr>
          </a:p>
        </p:txBody>
      </p:sp>
      <p:sp>
        <p:nvSpPr>
          <p:cNvPr id="95" name="Google Shape;95;p12"/>
          <p:cNvSpPr txBox="1"/>
          <p:nvPr/>
        </p:nvSpPr>
        <p:spPr>
          <a:xfrm>
            <a:off x="210300" y="3553275"/>
            <a:ext cx="678300" cy="2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000">
                <a:solidFill>
                  <a:srgbClr val="434343"/>
                </a:solidFill>
              </a:rPr>
              <a:t>SEP</a:t>
            </a:r>
            <a:r>
              <a:rPr b="1" lang="en-US" sz="1000">
                <a:solidFill>
                  <a:srgbClr val="434343"/>
                </a:solidFill>
              </a:rPr>
              <a:t> 17</a:t>
            </a:r>
            <a:endParaRPr b="1" sz="1000">
              <a:solidFill>
                <a:srgbClr val="434343"/>
              </a:solidFill>
            </a:endParaRPr>
          </a:p>
          <a:p>
            <a:pPr indent="0" lvl="0" marL="0" rtl="0" algn="l">
              <a:spcBef>
                <a:spcPts val="0"/>
              </a:spcBef>
              <a:spcAft>
                <a:spcPts val="0"/>
              </a:spcAft>
              <a:buNone/>
            </a:pPr>
            <a:r>
              <a:t/>
            </a:r>
            <a:endParaRPr sz="1000">
              <a:solidFill>
                <a:srgbClr val="888888"/>
              </a:solidFill>
            </a:endParaRPr>
          </a:p>
        </p:txBody>
      </p:sp>
      <p:sp>
        <p:nvSpPr>
          <p:cNvPr id="96" name="Google Shape;96;p12"/>
          <p:cNvSpPr txBox="1"/>
          <p:nvPr/>
        </p:nvSpPr>
        <p:spPr>
          <a:xfrm>
            <a:off x="2356075" y="2995275"/>
            <a:ext cx="678300" cy="2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000">
                <a:solidFill>
                  <a:srgbClr val="434343"/>
                </a:solidFill>
              </a:rPr>
              <a:t>SEP 24</a:t>
            </a:r>
            <a:endParaRPr b="1" sz="1000">
              <a:solidFill>
                <a:srgbClr val="434343"/>
              </a:solidFill>
            </a:endParaRPr>
          </a:p>
          <a:p>
            <a:pPr indent="0" lvl="0" marL="0" rtl="0" algn="l">
              <a:spcBef>
                <a:spcPts val="0"/>
              </a:spcBef>
              <a:spcAft>
                <a:spcPts val="0"/>
              </a:spcAft>
              <a:buNone/>
            </a:pPr>
            <a:r>
              <a:t/>
            </a:r>
            <a:endParaRPr sz="1000">
              <a:solidFill>
                <a:srgbClr val="888888"/>
              </a:solidFill>
            </a:endParaRPr>
          </a:p>
        </p:txBody>
      </p:sp>
      <p:sp>
        <p:nvSpPr>
          <p:cNvPr id="97" name="Google Shape;97;p12"/>
          <p:cNvSpPr txBox="1"/>
          <p:nvPr/>
        </p:nvSpPr>
        <p:spPr>
          <a:xfrm>
            <a:off x="6555675" y="2995272"/>
            <a:ext cx="678300" cy="2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000">
                <a:solidFill>
                  <a:srgbClr val="434343"/>
                </a:solidFill>
              </a:rPr>
              <a:t>OCT 1</a:t>
            </a:r>
            <a:endParaRPr b="1" sz="1000">
              <a:solidFill>
                <a:srgbClr val="434343"/>
              </a:solidFill>
            </a:endParaRPr>
          </a:p>
          <a:p>
            <a:pPr indent="0" lvl="0" marL="0" rtl="0" algn="l">
              <a:spcBef>
                <a:spcPts val="0"/>
              </a:spcBef>
              <a:spcAft>
                <a:spcPts val="0"/>
              </a:spcAft>
              <a:buNone/>
            </a:pPr>
            <a:r>
              <a:t/>
            </a:r>
            <a:endParaRPr sz="1000">
              <a:solidFill>
                <a:srgbClr val="888888"/>
              </a:solidFill>
            </a:endParaRPr>
          </a:p>
        </p:txBody>
      </p:sp>
      <p:sp>
        <p:nvSpPr>
          <p:cNvPr id="98" name="Google Shape;98;p12"/>
          <p:cNvSpPr/>
          <p:nvPr/>
        </p:nvSpPr>
        <p:spPr>
          <a:xfrm>
            <a:off x="1634275" y="3553275"/>
            <a:ext cx="2121900" cy="14151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2"/>
          <p:cNvSpPr txBox="1"/>
          <p:nvPr/>
        </p:nvSpPr>
        <p:spPr>
          <a:xfrm>
            <a:off x="1755475" y="3553275"/>
            <a:ext cx="1859100" cy="14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rgbClr val="CC0000"/>
                </a:solidFill>
              </a:rPr>
              <a:t>SEP 24</a:t>
            </a:r>
            <a:endParaRPr b="1" sz="1000">
              <a:solidFill>
                <a:srgbClr val="CC0000"/>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None/>
            </a:pPr>
            <a:r>
              <a:rPr b="1" lang="en-US" sz="1500">
                <a:solidFill>
                  <a:schemeClr val="dk1"/>
                </a:solidFill>
              </a:rPr>
              <a:t>Phase I Testing Complete</a:t>
            </a:r>
            <a:endParaRPr b="1" sz="1500">
              <a:solidFill>
                <a:schemeClr val="dk1"/>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None/>
            </a:pPr>
            <a:r>
              <a:rPr lang="en-US" sz="1000">
                <a:solidFill>
                  <a:srgbClr val="888888"/>
                </a:solidFill>
              </a:rPr>
              <a:t>Phase I Skid not completed on time</a:t>
            </a:r>
            <a:endParaRPr sz="1000">
              <a:solidFill>
                <a:srgbClr val="888888"/>
              </a:solidFill>
            </a:endParaRPr>
          </a:p>
        </p:txBody>
      </p:sp>
      <p:sp>
        <p:nvSpPr>
          <p:cNvPr id="100" name="Google Shape;100;p12"/>
          <p:cNvSpPr/>
          <p:nvPr/>
        </p:nvSpPr>
        <p:spPr>
          <a:xfrm>
            <a:off x="5840675" y="3553275"/>
            <a:ext cx="2121900" cy="20784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2"/>
          <p:cNvSpPr txBox="1"/>
          <p:nvPr/>
        </p:nvSpPr>
        <p:spPr>
          <a:xfrm>
            <a:off x="5961875" y="3553275"/>
            <a:ext cx="1859100" cy="20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1"/>
                </a:solidFill>
              </a:rPr>
              <a:t>OCT 1</a:t>
            </a:r>
            <a:endParaRPr b="1" sz="1000">
              <a:solidFill>
                <a:schemeClr val="dk1"/>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None/>
            </a:pPr>
            <a:r>
              <a:rPr b="1" lang="en-US" sz="1500">
                <a:solidFill>
                  <a:schemeClr val="dk1"/>
                </a:solidFill>
              </a:rPr>
              <a:t>Phase I Test Reschedule</a:t>
            </a:r>
            <a:endParaRPr b="1" sz="1500">
              <a:solidFill>
                <a:schemeClr val="dk1"/>
              </a:solidFill>
            </a:endParaRPr>
          </a:p>
          <a:p>
            <a:pPr indent="0" lvl="0" marL="0" rtl="0" algn="l">
              <a:spcBef>
                <a:spcPts val="0"/>
              </a:spcBef>
              <a:spcAft>
                <a:spcPts val="0"/>
              </a:spcAft>
              <a:buNone/>
            </a:pPr>
            <a:r>
              <a:t/>
            </a:r>
            <a:endParaRPr b="1" sz="1500">
              <a:solidFill>
                <a:schemeClr val="dk1"/>
              </a:solidFill>
            </a:endParaRPr>
          </a:p>
          <a:p>
            <a:pPr indent="0" lvl="0" marL="0" rtl="0" algn="l">
              <a:spcBef>
                <a:spcPts val="0"/>
              </a:spcBef>
              <a:spcAft>
                <a:spcPts val="0"/>
              </a:spcAft>
              <a:buNone/>
            </a:pPr>
            <a:r>
              <a:rPr b="1" lang="en-US" sz="1500">
                <a:solidFill>
                  <a:schemeClr val="dk1"/>
                </a:solidFill>
              </a:rPr>
              <a:t>Phase II Testing Start</a:t>
            </a:r>
            <a:endParaRPr b="1" sz="1500">
              <a:solidFill>
                <a:schemeClr val="dk1"/>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None/>
            </a:pPr>
            <a:r>
              <a:rPr lang="en-US" sz="1000">
                <a:solidFill>
                  <a:srgbClr val="888888"/>
                </a:solidFill>
              </a:rPr>
              <a:t>Resin loop head loss and conductivity validation</a:t>
            </a:r>
            <a:endParaRPr sz="1000">
              <a:solidFill>
                <a:srgbClr val="888888"/>
              </a:solidFill>
            </a:endParaRPr>
          </a:p>
          <a:p>
            <a:pPr indent="0" lvl="0" marL="0" rtl="0" algn="l">
              <a:spcBef>
                <a:spcPts val="0"/>
              </a:spcBef>
              <a:spcAft>
                <a:spcPts val="0"/>
              </a:spcAft>
              <a:buNone/>
            </a:pPr>
            <a:r>
              <a:t/>
            </a:r>
            <a:endParaRPr b="1" sz="1000">
              <a:solidFill>
                <a:srgbClr val="888888"/>
              </a:solidFill>
            </a:endParaRPr>
          </a:p>
        </p:txBody>
      </p:sp>
      <p:sp>
        <p:nvSpPr>
          <p:cNvPr id="102" name="Google Shape;102;p12"/>
          <p:cNvSpPr/>
          <p:nvPr/>
        </p:nvSpPr>
        <p:spPr>
          <a:xfrm>
            <a:off x="10188650" y="1859175"/>
            <a:ext cx="1859100" cy="1415100"/>
          </a:xfrm>
          <a:prstGeom prst="roundRect">
            <a:avLst>
              <a:gd fmla="val 16667" name="adj"/>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2"/>
          <p:cNvSpPr txBox="1"/>
          <p:nvPr/>
        </p:nvSpPr>
        <p:spPr>
          <a:xfrm>
            <a:off x="10244700" y="1859175"/>
            <a:ext cx="1803000" cy="14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rgbClr val="F1C232"/>
                </a:solidFill>
              </a:rPr>
              <a:t>NOV 1</a:t>
            </a:r>
            <a:endParaRPr b="1" sz="1000">
              <a:solidFill>
                <a:srgbClr val="F1C232"/>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None/>
            </a:pPr>
            <a:r>
              <a:rPr b="1" lang="en-US" sz="1500">
                <a:solidFill>
                  <a:schemeClr val="dk1"/>
                </a:solidFill>
              </a:rPr>
              <a:t>Phase III Construction Start</a:t>
            </a:r>
            <a:endParaRPr b="1" sz="1500">
              <a:solidFill>
                <a:schemeClr val="dk1"/>
              </a:solidFill>
            </a:endParaRPr>
          </a:p>
          <a:p>
            <a:pPr indent="0" lvl="0" marL="0" rtl="0" algn="l">
              <a:spcBef>
                <a:spcPts val="0"/>
              </a:spcBef>
              <a:spcAft>
                <a:spcPts val="0"/>
              </a:spcAft>
              <a:buClr>
                <a:schemeClr val="dk1"/>
              </a:buClr>
              <a:buSzPts val="1100"/>
              <a:buFont typeface="Arial"/>
              <a:buNone/>
            </a:pPr>
            <a:r>
              <a:rPr lang="en-US" sz="1000">
                <a:solidFill>
                  <a:srgbClr val="888888"/>
                </a:solidFill>
              </a:rPr>
              <a:t>Heating/cooling </a:t>
            </a:r>
            <a:r>
              <a:rPr lang="en-US" sz="1000">
                <a:solidFill>
                  <a:srgbClr val="888888"/>
                </a:solidFill>
              </a:rPr>
              <a:t> loop</a:t>
            </a:r>
            <a:endParaRPr b="1" sz="1500">
              <a:solidFill>
                <a:schemeClr val="dk1"/>
              </a:solidFill>
            </a:endParaRPr>
          </a:p>
          <a:p>
            <a:pPr indent="0" lvl="0" marL="0" rtl="0" algn="l">
              <a:spcBef>
                <a:spcPts val="0"/>
              </a:spcBef>
              <a:spcAft>
                <a:spcPts val="0"/>
              </a:spcAft>
              <a:buNone/>
            </a:pPr>
            <a:r>
              <a:t/>
            </a:r>
            <a:endParaRPr b="1" sz="1000">
              <a:solidFill>
                <a:srgbClr val="6AA84F"/>
              </a:solidFill>
            </a:endParaRPr>
          </a:p>
          <a:p>
            <a:pPr indent="0" lvl="0" marL="0" rtl="0" algn="l">
              <a:spcBef>
                <a:spcPts val="0"/>
              </a:spcBef>
              <a:spcAft>
                <a:spcPts val="0"/>
              </a:spcAft>
              <a:buNone/>
            </a:pPr>
            <a:r>
              <a:t/>
            </a:r>
            <a:endParaRPr sz="1000">
              <a:solidFill>
                <a:srgbClr val="888888"/>
              </a:solidFill>
            </a:endParaRPr>
          </a:p>
        </p:txBody>
      </p:sp>
      <p:sp>
        <p:nvSpPr>
          <p:cNvPr id="104" name="Google Shape;104;p12"/>
          <p:cNvSpPr txBox="1"/>
          <p:nvPr/>
        </p:nvSpPr>
        <p:spPr>
          <a:xfrm>
            <a:off x="10910450" y="3553275"/>
            <a:ext cx="678300" cy="2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000">
                <a:solidFill>
                  <a:srgbClr val="434343"/>
                </a:solidFill>
              </a:rPr>
              <a:t>NOV 1</a:t>
            </a:r>
            <a:endParaRPr sz="1000">
              <a:solidFill>
                <a:srgbClr val="888888"/>
              </a:solidFill>
            </a:endParaRPr>
          </a:p>
        </p:txBody>
      </p:sp>
      <p:sp>
        <p:nvSpPr>
          <p:cNvPr id="105" name="Google Shape;105;p12"/>
          <p:cNvSpPr/>
          <p:nvPr/>
        </p:nvSpPr>
        <p:spPr>
          <a:xfrm>
            <a:off x="2822938" y="6239000"/>
            <a:ext cx="211800" cy="211800"/>
          </a:xfrm>
          <a:prstGeom prst="ellipse">
            <a:avLst/>
          </a:prstGeom>
          <a:solidFill>
            <a:srgbClr val="3876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2"/>
          <p:cNvSpPr txBox="1"/>
          <p:nvPr/>
        </p:nvSpPr>
        <p:spPr>
          <a:xfrm>
            <a:off x="3034738" y="6152900"/>
            <a:ext cx="1124400" cy="3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rPr>
              <a:t>Complete</a:t>
            </a:r>
            <a:endParaRPr sz="1600">
              <a:solidFill>
                <a:schemeClr val="dk1"/>
              </a:solidFill>
            </a:endParaRPr>
          </a:p>
        </p:txBody>
      </p:sp>
      <p:sp>
        <p:nvSpPr>
          <p:cNvPr id="107" name="Google Shape;107;p12"/>
          <p:cNvSpPr/>
          <p:nvPr/>
        </p:nvSpPr>
        <p:spPr>
          <a:xfrm>
            <a:off x="4306013" y="6239000"/>
            <a:ext cx="211800" cy="211800"/>
          </a:xfrm>
          <a:prstGeom prst="ellipse">
            <a:avLst/>
          </a:prstGeom>
          <a:solidFill>
            <a:srgbClr val="BF9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12"/>
          <p:cNvSpPr txBox="1"/>
          <p:nvPr/>
        </p:nvSpPr>
        <p:spPr>
          <a:xfrm>
            <a:off x="4517813" y="6152900"/>
            <a:ext cx="1312500" cy="3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rPr>
              <a:t>In Progress</a:t>
            </a:r>
            <a:endParaRPr sz="1600">
              <a:solidFill>
                <a:schemeClr val="dk1"/>
              </a:solidFill>
            </a:endParaRPr>
          </a:p>
        </p:txBody>
      </p:sp>
      <p:sp>
        <p:nvSpPr>
          <p:cNvPr id="109" name="Google Shape;109;p12"/>
          <p:cNvSpPr/>
          <p:nvPr/>
        </p:nvSpPr>
        <p:spPr>
          <a:xfrm>
            <a:off x="5893850" y="6239000"/>
            <a:ext cx="211800" cy="211800"/>
          </a:xfrm>
          <a:prstGeom prst="ellipse">
            <a:avLst/>
          </a:prstGeom>
          <a:solidFill>
            <a:srgbClr val="99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2"/>
          <p:cNvSpPr txBox="1"/>
          <p:nvPr/>
        </p:nvSpPr>
        <p:spPr>
          <a:xfrm>
            <a:off x="6105663" y="6152900"/>
            <a:ext cx="1803000" cy="3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rPr>
              <a:t>Behind Schedule</a:t>
            </a:r>
            <a:endParaRPr sz="1600">
              <a:solidFill>
                <a:schemeClr val="dk1"/>
              </a:solidFill>
            </a:endParaRPr>
          </a:p>
        </p:txBody>
      </p:sp>
      <p:sp>
        <p:nvSpPr>
          <p:cNvPr id="111" name="Google Shape;111;p12"/>
          <p:cNvSpPr/>
          <p:nvPr/>
        </p:nvSpPr>
        <p:spPr>
          <a:xfrm>
            <a:off x="7908650" y="6239000"/>
            <a:ext cx="211800" cy="2118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2"/>
          <p:cNvSpPr txBox="1"/>
          <p:nvPr/>
        </p:nvSpPr>
        <p:spPr>
          <a:xfrm>
            <a:off x="8120464" y="6152900"/>
            <a:ext cx="1248600" cy="3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rPr>
              <a:t>Not Started</a:t>
            </a:r>
            <a:endParaRPr sz="1600">
              <a:solidFill>
                <a:schemeClr val="dk1"/>
              </a:solidFill>
            </a:endParaRPr>
          </a:p>
        </p:txBody>
      </p:sp>
      <p:sp>
        <p:nvSpPr>
          <p:cNvPr id="113" name="Google Shape;113;p12"/>
          <p:cNvSpPr txBox="1"/>
          <p:nvPr/>
        </p:nvSpPr>
        <p:spPr>
          <a:xfrm>
            <a:off x="10146900" y="6465600"/>
            <a:ext cx="2045100" cy="3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solidFill>
                  <a:schemeClr val="dk1"/>
                </a:solidFill>
              </a:rPr>
              <a:t>*Contains AI generated content*</a:t>
            </a:r>
            <a:endParaRPr sz="1000">
              <a:solidFill>
                <a:schemeClr val="dk1"/>
              </a:solidFill>
            </a:endParaRPr>
          </a:p>
        </p:txBody>
      </p:sp>
      <p:cxnSp>
        <p:nvCxnSpPr>
          <p:cNvPr id="114" name="Google Shape;114;p12"/>
          <p:cNvCxnSpPr/>
          <p:nvPr/>
        </p:nvCxnSpPr>
        <p:spPr>
          <a:xfrm>
            <a:off x="4798825" y="3274275"/>
            <a:ext cx="0" cy="279000"/>
          </a:xfrm>
          <a:prstGeom prst="straightConnector1">
            <a:avLst/>
          </a:prstGeom>
          <a:noFill/>
          <a:ln cap="flat" cmpd="sng" w="38100">
            <a:solidFill>
              <a:srgbClr val="434343"/>
            </a:solidFill>
            <a:prstDash val="solid"/>
            <a:round/>
            <a:headEnd len="med" w="med" type="none"/>
            <a:tailEnd len="med" w="med" type="none"/>
          </a:ln>
        </p:spPr>
      </p:cxnSp>
      <p:sp>
        <p:nvSpPr>
          <p:cNvPr id="115" name="Google Shape;115;p12"/>
          <p:cNvSpPr txBox="1"/>
          <p:nvPr/>
        </p:nvSpPr>
        <p:spPr>
          <a:xfrm>
            <a:off x="4459275" y="3553272"/>
            <a:ext cx="678300" cy="2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000">
                <a:solidFill>
                  <a:srgbClr val="434343"/>
                </a:solidFill>
              </a:rPr>
              <a:t>SEP 25</a:t>
            </a:r>
            <a:endParaRPr b="1" sz="1000">
              <a:solidFill>
                <a:srgbClr val="434343"/>
              </a:solidFill>
            </a:endParaRPr>
          </a:p>
          <a:p>
            <a:pPr indent="0" lvl="0" marL="0" rtl="0" algn="l">
              <a:spcBef>
                <a:spcPts val="0"/>
              </a:spcBef>
              <a:spcAft>
                <a:spcPts val="0"/>
              </a:spcAft>
              <a:buNone/>
            </a:pPr>
            <a:r>
              <a:t/>
            </a:r>
            <a:endParaRPr sz="1000">
              <a:solidFill>
                <a:srgbClr val="888888"/>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3"/>
          <p:cNvSpPr txBox="1"/>
          <p:nvPr>
            <p:ph type="title"/>
          </p:nvPr>
        </p:nvSpPr>
        <p:spPr>
          <a:xfrm>
            <a:off x="6267000" y="0"/>
            <a:ext cx="53154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Parts Ordering Status</a:t>
            </a:r>
            <a:endParaRPr/>
          </a:p>
        </p:txBody>
      </p:sp>
      <p:pic>
        <p:nvPicPr>
          <p:cNvPr id="121" name="Google Shape;121;p13"/>
          <p:cNvPicPr preferRelativeResize="0"/>
          <p:nvPr/>
        </p:nvPicPr>
        <p:blipFill>
          <a:blip r:embed="rId3">
            <a:alphaModFix/>
          </a:blip>
          <a:stretch>
            <a:fillRect/>
          </a:stretch>
        </p:blipFill>
        <p:spPr>
          <a:xfrm>
            <a:off x="1192100" y="4023650"/>
            <a:ext cx="2103700" cy="1937750"/>
          </a:xfrm>
          <a:prstGeom prst="rect">
            <a:avLst/>
          </a:prstGeom>
          <a:noFill/>
          <a:ln>
            <a:noFill/>
          </a:ln>
        </p:spPr>
      </p:pic>
      <p:pic>
        <p:nvPicPr>
          <p:cNvPr id="122" name="Google Shape;122;p13"/>
          <p:cNvPicPr preferRelativeResize="0"/>
          <p:nvPr/>
        </p:nvPicPr>
        <p:blipFill>
          <a:blip r:embed="rId4">
            <a:alphaModFix/>
          </a:blip>
          <a:stretch>
            <a:fillRect/>
          </a:stretch>
        </p:blipFill>
        <p:spPr>
          <a:xfrm>
            <a:off x="10294150" y="4071350"/>
            <a:ext cx="1897850" cy="1890050"/>
          </a:xfrm>
          <a:prstGeom prst="rect">
            <a:avLst/>
          </a:prstGeom>
          <a:noFill/>
          <a:ln>
            <a:noFill/>
          </a:ln>
        </p:spPr>
      </p:pic>
      <p:pic>
        <p:nvPicPr>
          <p:cNvPr id="123" name="Google Shape;123;p13"/>
          <p:cNvPicPr preferRelativeResize="0"/>
          <p:nvPr/>
        </p:nvPicPr>
        <p:blipFill>
          <a:blip r:embed="rId5">
            <a:alphaModFix/>
          </a:blip>
          <a:stretch>
            <a:fillRect/>
          </a:stretch>
        </p:blipFill>
        <p:spPr>
          <a:xfrm>
            <a:off x="4790925" y="1012400"/>
            <a:ext cx="2610150" cy="2359775"/>
          </a:xfrm>
          <a:prstGeom prst="rect">
            <a:avLst/>
          </a:prstGeom>
          <a:noFill/>
          <a:ln>
            <a:noFill/>
          </a:ln>
        </p:spPr>
      </p:pic>
      <p:sp>
        <p:nvSpPr>
          <p:cNvPr id="124" name="Google Shape;124;p13"/>
          <p:cNvSpPr txBox="1"/>
          <p:nvPr/>
        </p:nvSpPr>
        <p:spPr>
          <a:xfrm>
            <a:off x="8491450" y="5337850"/>
            <a:ext cx="1802700" cy="65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rPr>
              <a:t>The Void</a:t>
            </a:r>
            <a:endParaRPr sz="3200">
              <a:solidFill>
                <a:schemeClr val="dk1"/>
              </a:solidFill>
            </a:endParaRPr>
          </a:p>
        </p:txBody>
      </p:sp>
      <p:pic>
        <p:nvPicPr>
          <p:cNvPr id="125" name="Google Shape;125;p13"/>
          <p:cNvPicPr preferRelativeResize="0"/>
          <p:nvPr/>
        </p:nvPicPr>
        <p:blipFill>
          <a:blip r:embed="rId6">
            <a:alphaModFix/>
          </a:blip>
          <a:stretch>
            <a:fillRect/>
          </a:stretch>
        </p:blipFill>
        <p:spPr>
          <a:xfrm>
            <a:off x="1456938" y="5996057"/>
            <a:ext cx="1574025" cy="588875"/>
          </a:xfrm>
          <a:prstGeom prst="rect">
            <a:avLst/>
          </a:prstGeom>
          <a:noFill/>
          <a:ln>
            <a:noFill/>
          </a:ln>
        </p:spPr>
      </p:pic>
      <p:pic>
        <p:nvPicPr>
          <p:cNvPr id="126" name="Google Shape;126;p13"/>
          <p:cNvPicPr preferRelativeResize="0"/>
          <p:nvPr/>
        </p:nvPicPr>
        <p:blipFill>
          <a:blip r:embed="rId7">
            <a:alphaModFix/>
          </a:blip>
          <a:stretch>
            <a:fillRect/>
          </a:stretch>
        </p:blipFill>
        <p:spPr>
          <a:xfrm>
            <a:off x="5712100" y="3166475"/>
            <a:ext cx="767800" cy="693970"/>
          </a:xfrm>
          <a:prstGeom prst="rect">
            <a:avLst/>
          </a:prstGeom>
          <a:noFill/>
          <a:ln>
            <a:noFill/>
          </a:ln>
        </p:spPr>
      </p:pic>
      <p:sp>
        <p:nvSpPr>
          <p:cNvPr id="127" name="Google Shape;127;p13"/>
          <p:cNvSpPr txBox="1"/>
          <p:nvPr/>
        </p:nvSpPr>
        <p:spPr>
          <a:xfrm>
            <a:off x="7422025" y="1302500"/>
            <a:ext cx="1802700" cy="327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Received</a:t>
            </a:r>
            <a:endParaRPr b="1">
              <a:solidFill>
                <a:schemeClr val="dk1"/>
              </a:solidFill>
            </a:endParaRPr>
          </a:p>
          <a:p>
            <a:pPr indent="0" lvl="0" marL="457200" rtl="0" algn="l">
              <a:spcBef>
                <a:spcPts val="0"/>
              </a:spcBef>
              <a:spcAft>
                <a:spcPts val="0"/>
              </a:spcAft>
              <a:buNone/>
            </a:pPr>
            <a:r>
              <a:t/>
            </a:r>
            <a:endParaRPr sz="12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Pumps</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Conductivity probe</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Control system</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RTDs </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Pump relays</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Fan relay</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Power switches</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Current probe</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Voltage probe</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Pressure switch</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3-way valve</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24VDC 10A PS</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24VDC 20A PS</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600mA fuse</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1A fuse</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DIN rail</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14 AWG wire</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Flow transmitter</a:t>
            </a:r>
            <a:endParaRPr sz="1000">
              <a:solidFill>
                <a:schemeClr val="dk1"/>
              </a:solidFill>
            </a:endParaRPr>
          </a:p>
        </p:txBody>
      </p:sp>
      <p:cxnSp>
        <p:nvCxnSpPr>
          <p:cNvPr id="128" name="Google Shape;128;p13"/>
          <p:cNvCxnSpPr/>
          <p:nvPr/>
        </p:nvCxnSpPr>
        <p:spPr>
          <a:xfrm>
            <a:off x="9010825" y="1747700"/>
            <a:ext cx="480300" cy="0"/>
          </a:xfrm>
          <a:prstGeom prst="straightConnector1">
            <a:avLst/>
          </a:prstGeom>
          <a:noFill/>
          <a:ln cap="flat" cmpd="sng" w="19050">
            <a:solidFill>
              <a:schemeClr val="dk1"/>
            </a:solidFill>
            <a:prstDash val="solid"/>
            <a:round/>
            <a:headEnd len="med" w="med" type="none"/>
            <a:tailEnd len="med" w="med" type="none"/>
          </a:ln>
        </p:spPr>
      </p:cxnSp>
      <p:cxnSp>
        <p:nvCxnSpPr>
          <p:cNvPr id="129" name="Google Shape;129;p13"/>
          <p:cNvCxnSpPr/>
          <p:nvPr/>
        </p:nvCxnSpPr>
        <p:spPr>
          <a:xfrm>
            <a:off x="9010825" y="4577700"/>
            <a:ext cx="480300" cy="0"/>
          </a:xfrm>
          <a:prstGeom prst="straightConnector1">
            <a:avLst/>
          </a:prstGeom>
          <a:noFill/>
          <a:ln cap="flat" cmpd="sng" w="19050">
            <a:solidFill>
              <a:schemeClr val="dk1"/>
            </a:solidFill>
            <a:prstDash val="solid"/>
            <a:round/>
            <a:headEnd len="med" w="med" type="none"/>
            <a:tailEnd len="med" w="med" type="none"/>
          </a:ln>
        </p:spPr>
      </p:cxnSp>
      <p:cxnSp>
        <p:nvCxnSpPr>
          <p:cNvPr id="130" name="Google Shape;130;p13"/>
          <p:cNvCxnSpPr/>
          <p:nvPr/>
        </p:nvCxnSpPr>
        <p:spPr>
          <a:xfrm>
            <a:off x="9491125" y="1741775"/>
            <a:ext cx="0" cy="2835000"/>
          </a:xfrm>
          <a:prstGeom prst="straightConnector1">
            <a:avLst/>
          </a:prstGeom>
          <a:noFill/>
          <a:ln cap="flat" cmpd="sng" w="19050">
            <a:solidFill>
              <a:schemeClr val="dk1"/>
            </a:solidFill>
            <a:prstDash val="solid"/>
            <a:round/>
            <a:headEnd len="med" w="med" type="none"/>
            <a:tailEnd len="med" w="med" type="none"/>
          </a:ln>
        </p:spPr>
      </p:cxnSp>
      <p:sp>
        <p:nvSpPr>
          <p:cNvPr id="131" name="Google Shape;131;p13"/>
          <p:cNvSpPr txBox="1"/>
          <p:nvPr/>
        </p:nvSpPr>
        <p:spPr>
          <a:xfrm>
            <a:off x="9547725" y="2777400"/>
            <a:ext cx="1016100" cy="4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1"/>
                </a:solidFill>
              </a:rPr>
              <a:t>FEDC</a:t>
            </a:r>
            <a:endParaRPr sz="2000">
              <a:solidFill>
                <a:schemeClr val="dk1"/>
              </a:solidFill>
            </a:endParaRPr>
          </a:p>
        </p:txBody>
      </p:sp>
      <p:cxnSp>
        <p:nvCxnSpPr>
          <p:cNvPr id="132" name="Google Shape;132;p13"/>
          <p:cNvCxnSpPr/>
          <p:nvPr/>
        </p:nvCxnSpPr>
        <p:spPr>
          <a:xfrm>
            <a:off x="9010825" y="4397600"/>
            <a:ext cx="480300" cy="0"/>
          </a:xfrm>
          <a:prstGeom prst="straightConnector1">
            <a:avLst/>
          </a:prstGeom>
          <a:noFill/>
          <a:ln cap="flat" cmpd="sng" w="19050">
            <a:solidFill>
              <a:schemeClr val="dk1"/>
            </a:solidFill>
            <a:prstDash val="solid"/>
            <a:round/>
            <a:headEnd len="med" w="med" type="none"/>
            <a:tailEnd len="med" w="med" type="none"/>
          </a:ln>
        </p:spPr>
      </p:cxnSp>
      <p:sp>
        <p:nvSpPr>
          <p:cNvPr id="133" name="Google Shape;133;p13"/>
          <p:cNvSpPr txBox="1"/>
          <p:nvPr/>
        </p:nvSpPr>
        <p:spPr>
          <a:xfrm>
            <a:off x="9547725" y="4197800"/>
            <a:ext cx="1333500" cy="4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1"/>
                </a:solidFill>
              </a:rPr>
              <a:t>J. CAIN</a:t>
            </a:r>
            <a:endParaRPr sz="20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4"/>
          <p:cNvSpPr txBox="1"/>
          <p:nvPr>
            <p:ph type="title"/>
          </p:nvPr>
        </p:nvSpPr>
        <p:spPr>
          <a:xfrm>
            <a:off x="7133625" y="0"/>
            <a:ext cx="37122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Execution Plan</a:t>
            </a:r>
            <a:endParaRPr/>
          </a:p>
        </p:txBody>
      </p:sp>
      <p:cxnSp>
        <p:nvCxnSpPr>
          <p:cNvPr id="139" name="Google Shape;139;p14"/>
          <p:cNvCxnSpPr/>
          <p:nvPr/>
        </p:nvCxnSpPr>
        <p:spPr>
          <a:xfrm>
            <a:off x="4101450" y="6676775"/>
            <a:ext cx="3548100" cy="0"/>
          </a:xfrm>
          <a:prstGeom prst="straightConnector1">
            <a:avLst/>
          </a:prstGeom>
          <a:noFill/>
          <a:ln cap="flat" cmpd="sng" w="9525">
            <a:solidFill>
              <a:schemeClr val="dk1"/>
            </a:solidFill>
            <a:prstDash val="solid"/>
            <a:round/>
            <a:headEnd len="med" w="med" type="none"/>
            <a:tailEnd len="med" w="med" type="none"/>
          </a:ln>
        </p:spPr>
      </p:cxnSp>
      <p:pic>
        <p:nvPicPr>
          <p:cNvPr id="140" name="Google Shape;140;p14"/>
          <p:cNvPicPr preferRelativeResize="0"/>
          <p:nvPr/>
        </p:nvPicPr>
        <p:blipFill>
          <a:blip r:embed="rId3">
            <a:alphaModFix/>
          </a:blip>
          <a:stretch>
            <a:fillRect/>
          </a:stretch>
        </p:blipFill>
        <p:spPr>
          <a:xfrm>
            <a:off x="152400" y="2083163"/>
            <a:ext cx="11887202" cy="269167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graphicFrame>
        <p:nvGraphicFramePr>
          <p:cNvPr id="145" name="Google Shape;145;p15"/>
          <p:cNvGraphicFramePr/>
          <p:nvPr/>
        </p:nvGraphicFramePr>
        <p:xfrm>
          <a:off x="609600" y="1244218"/>
          <a:ext cx="3000000" cy="3000000"/>
        </p:xfrm>
        <a:graphic>
          <a:graphicData uri="http://schemas.openxmlformats.org/drawingml/2006/table">
            <a:tbl>
              <a:tblPr>
                <a:noFill/>
                <a:tableStyleId>{A630BAC2-E9F3-4A2B-A599-B295203249EC}</a:tableStyleId>
              </a:tblPr>
              <a:tblGrid>
                <a:gridCol w="5494025"/>
                <a:gridCol w="5478775"/>
              </a:tblGrid>
              <a:tr h="929150">
                <a:tc>
                  <a:txBody>
                    <a:bodyPr/>
                    <a:lstStyle/>
                    <a:p>
                      <a:pPr indent="0" lvl="0" marL="0" marR="0" rtl="0" algn="ctr">
                        <a:lnSpc>
                          <a:spcPct val="100000"/>
                        </a:lnSpc>
                        <a:spcBef>
                          <a:spcPts val="0"/>
                        </a:spcBef>
                        <a:spcAft>
                          <a:spcPts val="0"/>
                        </a:spcAft>
                        <a:buClr>
                          <a:schemeClr val="dk1"/>
                        </a:buClr>
                        <a:buSzPts val="1800"/>
                        <a:buFont typeface="Arial"/>
                        <a:buNone/>
                      </a:pPr>
                      <a:r>
                        <a:rPr lang="en-US" sz="1800">
                          <a:solidFill>
                            <a:schemeClr val="dk1"/>
                          </a:solidFill>
                        </a:rPr>
                        <a:t>Accomplishments (9/16 - 9/30) </a:t>
                      </a:r>
                      <a:r>
                        <a:rPr lang="en-US" sz="1800" u="none" cap="none" strike="noStrike"/>
                        <a:t>                        </a:t>
                      </a:r>
                      <a:endParaRPr sz="1800" u="none" cap="none" strike="noStrike">
                        <a:solidFill>
                          <a:srgbClr val="C00000"/>
                        </a:solidFill>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c>
                  <a:txBody>
                    <a:bodyPr/>
                    <a:lstStyle/>
                    <a:p>
                      <a:pPr indent="0" lvl="0" marL="0" rtl="0" algn="ctr">
                        <a:spcBef>
                          <a:spcPts val="0"/>
                        </a:spcBef>
                        <a:spcAft>
                          <a:spcPts val="0"/>
                        </a:spcAft>
                        <a:buClr>
                          <a:schemeClr val="dk1"/>
                        </a:buClr>
                        <a:buSzPts val="1800"/>
                        <a:buFont typeface="Arial"/>
                        <a:buNone/>
                      </a:pPr>
                      <a:r>
                        <a:rPr lang="en-US" sz="1800">
                          <a:solidFill>
                            <a:schemeClr val="dk1"/>
                          </a:solidFill>
                        </a:rPr>
                        <a:t>In Progress (9/30 - 10/14)</a:t>
                      </a:r>
                      <a:endParaRPr sz="1800" u="none" cap="none" strike="noStrike">
                        <a:solidFill>
                          <a:schemeClr val="dk1"/>
                        </a:solidFill>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r>
              <a:tr h="3923150">
                <a:tc>
                  <a:txBody>
                    <a:bodyPr/>
                    <a:lstStyle/>
                    <a:p>
                      <a:pPr indent="-317500" lvl="0" marL="457200" rtl="0" algn="l">
                        <a:spcBef>
                          <a:spcPts val="0"/>
                        </a:spcBef>
                        <a:spcAft>
                          <a:spcPts val="0"/>
                        </a:spcAft>
                        <a:buClr>
                          <a:schemeClr val="dk2"/>
                        </a:buClr>
                        <a:buSzPts val="1400"/>
                        <a:buChar char="●"/>
                      </a:pPr>
                      <a:r>
                        <a:rPr lang="en-US">
                          <a:solidFill>
                            <a:schemeClr val="dk2"/>
                          </a:solidFill>
                        </a:rPr>
                        <a:t>Established new agreement for multiple days of water testing</a:t>
                      </a:r>
                      <a:endParaRPr>
                        <a:solidFill>
                          <a:schemeClr val="dk2"/>
                        </a:solidFill>
                      </a:endParaRPr>
                    </a:p>
                    <a:p>
                      <a:pPr indent="0" lvl="0" marL="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Char char="●"/>
                      </a:pPr>
                      <a:r>
                        <a:rPr lang="en-US">
                          <a:solidFill>
                            <a:schemeClr val="dk2"/>
                          </a:solidFill>
                        </a:rPr>
                        <a:t>Coordinated new strategy between ECEN and MEEN regarding Phase construction and testing delays</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1"/>
                        </a:buClr>
                        <a:buSzPts val="1400"/>
                        <a:buChar char="●"/>
                      </a:pPr>
                      <a:r>
                        <a:rPr lang="en-US">
                          <a:solidFill>
                            <a:schemeClr val="dk1"/>
                          </a:solidFill>
                        </a:rPr>
                        <a:t>Received ALL power components on BOM</a:t>
                      </a:r>
                      <a:endParaRPr>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Constructed full power system prototype with all available loads</a:t>
                      </a:r>
                      <a:endParaRPr>
                        <a:solidFill>
                          <a:schemeClr val="dk1"/>
                        </a:solidFill>
                      </a:endParaRPr>
                    </a:p>
                    <a:p>
                      <a:pPr indent="-317500" lvl="1" marL="914400" rtl="0" algn="l">
                        <a:spcBef>
                          <a:spcPts val="0"/>
                        </a:spcBef>
                        <a:spcAft>
                          <a:spcPts val="0"/>
                        </a:spcAft>
                        <a:buClr>
                          <a:schemeClr val="dk1"/>
                        </a:buClr>
                        <a:buSzPts val="1400"/>
                        <a:buChar char="○"/>
                      </a:pPr>
                      <a:r>
                        <a:rPr lang="en-US">
                          <a:solidFill>
                            <a:schemeClr val="dk1"/>
                          </a:solidFill>
                        </a:rPr>
                        <a:t>mapped out intermittent connections</a:t>
                      </a:r>
                      <a:endParaRPr>
                        <a:solidFill>
                          <a:schemeClr val="dk1"/>
                        </a:solidFill>
                      </a:endParaRPr>
                    </a:p>
                    <a:p>
                      <a:pPr indent="-317500" lvl="1" marL="914400" rtl="0" algn="l">
                        <a:spcBef>
                          <a:spcPts val="0"/>
                        </a:spcBef>
                        <a:spcAft>
                          <a:spcPts val="0"/>
                        </a:spcAft>
                        <a:buClr>
                          <a:schemeClr val="dk1"/>
                        </a:buClr>
                        <a:buSzPts val="1400"/>
                        <a:buChar char="○"/>
                      </a:pPr>
                      <a:r>
                        <a:rPr lang="en-US">
                          <a:solidFill>
                            <a:schemeClr val="dk1"/>
                          </a:solidFill>
                        </a:rPr>
                        <a:t>understood DIN rail real estate for PLC box mounting</a:t>
                      </a:r>
                      <a:endParaRPr>
                        <a:solidFill>
                          <a:schemeClr val="dk1"/>
                        </a:solidFill>
                      </a:endParaRPr>
                    </a:p>
                    <a:p>
                      <a:pPr indent="-317500" lvl="1" marL="914400" rtl="0" algn="l">
                        <a:spcBef>
                          <a:spcPts val="0"/>
                        </a:spcBef>
                        <a:spcAft>
                          <a:spcPts val="0"/>
                        </a:spcAft>
                        <a:buClr>
                          <a:schemeClr val="dk1"/>
                        </a:buClr>
                        <a:buSzPts val="1400"/>
                        <a:buChar char="○"/>
                      </a:pPr>
                      <a:r>
                        <a:rPr lang="en-US">
                          <a:solidFill>
                            <a:schemeClr val="dk1"/>
                          </a:solidFill>
                        </a:rPr>
                        <a:t>recognized best practice for wiring</a:t>
                      </a:r>
                      <a:endParaRPr>
                        <a:solidFill>
                          <a:schemeClr val="dk1"/>
                        </a:solidFill>
                      </a:endParaRPr>
                    </a:p>
                    <a:p>
                      <a:pPr indent="-317500" lvl="1" marL="914400" rtl="0" algn="l">
                        <a:spcBef>
                          <a:spcPts val="0"/>
                        </a:spcBef>
                        <a:spcAft>
                          <a:spcPts val="0"/>
                        </a:spcAft>
                        <a:buClr>
                          <a:schemeClr val="dk1"/>
                        </a:buClr>
                        <a:buSzPts val="1400"/>
                        <a:buChar char="○"/>
                      </a:pPr>
                      <a:r>
                        <a:rPr lang="en-US">
                          <a:solidFill>
                            <a:schemeClr val="dk1"/>
                          </a:solidFill>
                        </a:rPr>
                        <a:t>established grounding plan (pending test)</a:t>
                      </a:r>
                      <a:endParaRPr>
                        <a:solidFill>
                          <a:schemeClr val="dk1"/>
                        </a:solidFill>
                      </a:endParaRPr>
                    </a:p>
                    <a:p>
                      <a:pPr indent="-171450" lvl="0" marL="285750" marR="0" rtl="0" algn="l">
                        <a:spcBef>
                          <a:spcPts val="0"/>
                        </a:spcBef>
                        <a:spcAft>
                          <a:spcPts val="0"/>
                        </a:spcAft>
                        <a:buClr>
                          <a:schemeClr val="dk1"/>
                        </a:buClr>
                        <a:buSzPts val="1800"/>
                        <a:buFont typeface="Arial"/>
                        <a:buNone/>
                      </a:pPr>
                      <a:r>
                        <a:t/>
                      </a:r>
                      <a:endParaRPr sz="1800" u="none" cap="none" strike="noStrike"/>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17500" lvl="0" marL="457200" rtl="0" algn="l">
                        <a:spcBef>
                          <a:spcPts val="0"/>
                        </a:spcBef>
                        <a:spcAft>
                          <a:spcPts val="0"/>
                        </a:spcAft>
                        <a:buClr>
                          <a:schemeClr val="dk2"/>
                        </a:buClr>
                        <a:buSzPts val="1400"/>
                        <a:buChar char="●"/>
                      </a:pPr>
                      <a:r>
                        <a:rPr lang="en-US">
                          <a:solidFill>
                            <a:schemeClr val="dk2"/>
                          </a:solidFill>
                        </a:rPr>
                        <a:t>Continue working to provide clarity on project-class requirements and expectations</a:t>
                      </a:r>
                      <a:endParaRPr>
                        <a:solidFill>
                          <a:schemeClr val="dk2"/>
                        </a:solidFill>
                      </a:endParaRPr>
                    </a:p>
                    <a:p>
                      <a:pPr indent="0" lvl="0" marL="0" rtl="0" algn="l">
                        <a:spcBef>
                          <a:spcPts val="0"/>
                        </a:spcBef>
                        <a:spcAft>
                          <a:spcPts val="0"/>
                        </a:spcAft>
                        <a:buClr>
                          <a:schemeClr val="dk1"/>
                        </a:buClr>
                        <a:buSzPts val="1100"/>
                        <a:buFont typeface="Arial"/>
                        <a:buNone/>
                      </a:pPr>
                      <a:r>
                        <a:t/>
                      </a:r>
                      <a:endParaRPr>
                        <a:solidFill>
                          <a:schemeClr val="dk2"/>
                        </a:solidFill>
                      </a:endParaRPr>
                    </a:p>
                    <a:p>
                      <a:pPr indent="-317500" lvl="0" marL="457200" rtl="0" algn="l">
                        <a:spcBef>
                          <a:spcPts val="0"/>
                        </a:spcBef>
                        <a:spcAft>
                          <a:spcPts val="0"/>
                        </a:spcAft>
                        <a:buClr>
                          <a:schemeClr val="dk2"/>
                        </a:buClr>
                        <a:buSzPts val="1400"/>
                        <a:buChar char="●"/>
                      </a:pPr>
                      <a:r>
                        <a:rPr lang="en-US">
                          <a:solidFill>
                            <a:schemeClr val="dk2"/>
                          </a:solidFill>
                        </a:rPr>
                        <a:t>Be more involved in MEEN Phase construction timeline to better prepare ECEN for testing</a:t>
                      </a:r>
                      <a:endParaRPr>
                        <a:solidFill>
                          <a:schemeClr val="dk2"/>
                        </a:solidFill>
                      </a:endParaRPr>
                    </a:p>
                    <a:p>
                      <a:pPr indent="0" lvl="0" marL="0" rtl="0" algn="l">
                        <a:spcBef>
                          <a:spcPts val="0"/>
                        </a:spcBef>
                        <a:spcAft>
                          <a:spcPts val="0"/>
                        </a:spcAft>
                        <a:buClr>
                          <a:schemeClr val="dk1"/>
                        </a:buClr>
                        <a:buSzPts val="1100"/>
                        <a:buFont typeface="Arial"/>
                        <a:buNone/>
                      </a:pPr>
                      <a:r>
                        <a:t/>
                      </a:r>
                      <a:endParaRPr>
                        <a:solidFill>
                          <a:schemeClr val="dk2"/>
                        </a:solidFill>
                      </a:endParaRPr>
                    </a:p>
                    <a:p>
                      <a:pPr indent="-317500" lvl="0" marL="457200" rtl="0" algn="l">
                        <a:spcBef>
                          <a:spcPts val="0"/>
                        </a:spcBef>
                        <a:spcAft>
                          <a:spcPts val="0"/>
                        </a:spcAft>
                        <a:buClr>
                          <a:schemeClr val="dk2"/>
                        </a:buClr>
                        <a:buSzPts val="1400"/>
                        <a:buChar char="●"/>
                      </a:pPr>
                      <a:r>
                        <a:rPr lang="en-US">
                          <a:solidFill>
                            <a:schemeClr val="dk2"/>
                          </a:solidFill>
                        </a:rPr>
                        <a:t>Isolate ECEN group from MEEN’s more volatile timeline - focus on getting the electrical system in a plug-and-play position</a:t>
                      </a:r>
                      <a:endParaRPr>
                        <a:solidFill>
                          <a:schemeClr val="dk2"/>
                        </a:solidFill>
                      </a:endParaRPr>
                    </a:p>
                    <a:p>
                      <a:pPr indent="0" lvl="0" marL="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1"/>
                        </a:buClr>
                        <a:buSzPts val="1400"/>
                        <a:buChar char="●"/>
                      </a:pPr>
                      <a:r>
                        <a:rPr lang="en-US">
                          <a:solidFill>
                            <a:schemeClr val="dk1"/>
                          </a:solidFill>
                        </a:rPr>
                        <a:t>Finalize wiring diagram (length, position, color, AWG, etc.) and component DIN rail mounting</a:t>
                      </a:r>
                      <a:endParaRPr>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Mount and ground electrical system in PLC box</a:t>
                      </a:r>
                      <a:endParaRPr>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Reassess AC protection scheme due to additional AC load</a:t>
                      </a:r>
                      <a:endParaRPr>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Reassess Skid Power DC protection due to additional motor load</a:t>
                      </a:r>
                      <a:endParaRPr>
                        <a:solidFill>
                          <a:schemeClr val="dk1"/>
                        </a:solidFill>
                      </a:endParaRPr>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46" name="Google Shape;146;p15"/>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Power | </a:t>
            </a:r>
            <a:r>
              <a:rPr b="1" lang="en-US" sz="3600">
                <a:solidFill>
                  <a:schemeClr val="dk2"/>
                </a:solidFill>
              </a:rPr>
              <a:t>ECEN Team Lead</a:t>
            </a:r>
            <a:endParaRPr b="1" sz="3600">
              <a:solidFill>
                <a:schemeClr val="dk2"/>
              </a:solidFill>
            </a:endParaRPr>
          </a:p>
        </p:txBody>
      </p:sp>
      <p:sp>
        <p:nvSpPr>
          <p:cNvPr id="147" name="Google Shape;147;p15"/>
          <p:cNvSpPr txBox="1"/>
          <p:nvPr/>
        </p:nvSpPr>
        <p:spPr>
          <a:xfrm>
            <a:off x="6936601" y="643925"/>
            <a:ext cx="47346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Ethan Henderson</a:t>
            </a:r>
            <a:endParaRPr i="1"/>
          </a:p>
        </p:txBody>
      </p:sp>
      <p:cxnSp>
        <p:nvCxnSpPr>
          <p:cNvPr id="148" name="Google Shape;148;p15"/>
          <p:cNvCxnSpPr/>
          <p:nvPr/>
        </p:nvCxnSpPr>
        <p:spPr>
          <a:xfrm>
            <a:off x="836300" y="3311125"/>
            <a:ext cx="5141100" cy="0"/>
          </a:xfrm>
          <a:prstGeom prst="straightConnector1">
            <a:avLst/>
          </a:prstGeom>
          <a:noFill/>
          <a:ln cap="flat" cmpd="sng" w="28575">
            <a:solidFill>
              <a:schemeClr val="dk1"/>
            </a:solidFill>
            <a:prstDash val="solid"/>
            <a:round/>
            <a:headEnd len="med" w="med" type="none"/>
            <a:tailEnd len="med" w="med" type="none"/>
          </a:ln>
        </p:spPr>
      </p:cxnSp>
      <p:cxnSp>
        <p:nvCxnSpPr>
          <p:cNvPr id="149" name="Google Shape;149;p15"/>
          <p:cNvCxnSpPr/>
          <p:nvPr/>
        </p:nvCxnSpPr>
        <p:spPr>
          <a:xfrm>
            <a:off x="6214825" y="4203700"/>
            <a:ext cx="5141100" cy="0"/>
          </a:xfrm>
          <a:prstGeom prst="straightConnector1">
            <a:avLst/>
          </a:prstGeom>
          <a:noFill/>
          <a:ln cap="flat" cmpd="sng" w="28575">
            <a:solidFill>
              <a:schemeClr val="dk1"/>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6"/>
          <p:cNvSpPr txBox="1"/>
          <p:nvPr>
            <p:ph type="title"/>
          </p:nvPr>
        </p:nvSpPr>
        <p:spPr>
          <a:xfrm>
            <a:off x="6521275" y="0"/>
            <a:ext cx="46476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Power System</a:t>
            </a:r>
            <a:endParaRPr/>
          </a:p>
        </p:txBody>
      </p:sp>
      <p:pic>
        <p:nvPicPr>
          <p:cNvPr id="155" name="Google Shape;155;p16"/>
          <p:cNvPicPr preferRelativeResize="0"/>
          <p:nvPr/>
        </p:nvPicPr>
        <p:blipFill>
          <a:blip r:embed="rId3">
            <a:alphaModFix/>
          </a:blip>
          <a:stretch>
            <a:fillRect/>
          </a:stretch>
        </p:blipFill>
        <p:spPr>
          <a:xfrm>
            <a:off x="2333588" y="2053925"/>
            <a:ext cx="7524825" cy="4804075"/>
          </a:xfrm>
          <a:prstGeom prst="rect">
            <a:avLst/>
          </a:prstGeom>
          <a:noFill/>
          <a:ln>
            <a:noFill/>
          </a:ln>
        </p:spPr>
      </p:pic>
      <p:sp>
        <p:nvSpPr>
          <p:cNvPr id="156" name="Google Shape;156;p16"/>
          <p:cNvSpPr txBox="1"/>
          <p:nvPr/>
        </p:nvSpPr>
        <p:spPr>
          <a:xfrm>
            <a:off x="1703125" y="914400"/>
            <a:ext cx="8288400" cy="6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rPr>
              <a:t>The power system was redesigned to expand from two to three power supplies (two 10A and one 20A) to improve power distribution and accommodate system requirements, while branching circuits were terminated at intermittent terminal connections to provide the necessary electrical connectivity and improve overall system integration. </a:t>
            </a:r>
            <a:endParaRPr sz="1600">
              <a:solidFill>
                <a:schemeClr val="dk1"/>
              </a:solidFill>
            </a:endParaRPr>
          </a:p>
        </p:txBody>
      </p:sp>
      <p:sp>
        <p:nvSpPr>
          <p:cNvPr id="157" name="Google Shape;157;p16"/>
          <p:cNvSpPr txBox="1"/>
          <p:nvPr/>
        </p:nvSpPr>
        <p:spPr>
          <a:xfrm>
            <a:off x="0" y="6240600"/>
            <a:ext cx="1180800" cy="6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rPr>
              <a:t>OLD</a:t>
            </a:r>
            <a:endParaRPr sz="3200">
              <a:solidFill>
                <a:schemeClr val="dk1"/>
              </a:solidFill>
            </a:endParaRPr>
          </a:p>
        </p:txBody>
      </p:sp>
      <p:sp>
        <p:nvSpPr>
          <p:cNvPr id="158" name="Google Shape;158;p16"/>
          <p:cNvSpPr txBox="1"/>
          <p:nvPr/>
        </p:nvSpPr>
        <p:spPr>
          <a:xfrm>
            <a:off x="2634825" y="2343375"/>
            <a:ext cx="3384600" cy="3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chemeClr val="dk1"/>
                </a:solidFill>
              </a:rPr>
              <a:t>Figure P.1.1: </a:t>
            </a:r>
            <a:r>
              <a:rPr lang="en-US" sz="1500">
                <a:solidFill>
                  <a:schemeClr val="dk1"/>
                </a:solidFill>
              </a:rPr>
              <a:t>Power system (8/24)</a:t>
            </a:r>
            <a:endParaRPr sz="15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7"/>
          <p:cNvSpPr txBox="1"/>
          <p:nvPr>
            <p:ph type="title"/>
          </p:nvPr>
        </p:nvSpPr>
        <p:spPr>
          <a:xfrm>
            <a:off x="6521275" y="0"/>
            <a:ext cx="46476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Power System</a:t>
            </a:r>
            <a:endParaRPr/>
          </a:p>
        </p:txBody>
      </p:sp>
      <p:pic>
        <p:nvPicPr>
          <p:cNvPr id="164" name="Google Shape;164;p17"/>
          <p:cNvPicPr preferRelativeResize="0"/>
          <p:nvPr/>
        </p:nvPicPr>
        <p:blipFill>
          <a:blip r:embed="rId3">
            <a:alphaModFix/>
          </a:blip>
          <a:stretch>
            <a:fillRect/>
          </a:stretch>
        </p:blipFill>
        <p:spPr>
          <a:xfrm rot="-5400000">
            <a:off x="3397903" y="418921"/>
            <a:ext cx="5396201" cy="7194907"/>
          </a:xfrm>
          <a:prstGeom prst="rect">
            <a:avLst/>
          </a:prstGeom>
          <a:noFill/>
          <a:ln>
            <a:noFill/>
          </a:ln>
        </p:spPr>
      </p:pic>
      <p:sp>
        <p:nvSpPr>
          <p:cNvPr id="165" name="Google Shape;165;p17"/>
          <p:cNvSpPr txBox="1"/>
          <p:nvPr/>
        </p:nvSpPr>
        <p:spPr>
          <a:xfrm>
            <a:off x="0" y="6240600"/>
            <a:ext cx="1180800" cy="6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rPr>
              <a:t>OLD</a:t>
            </a:r>
            <a:endParaRPr sz="3200">
              <a:solidFill>
                <a:schemeClr val="dk1"/>
              </a:solidFill>
            </a:endParaRPr>
          </a:p>
        </p:txBody>
      </p:sp>
      <p:sp>
        <p:nvSpPr>
          <p:cNvPr id="166" name="Google Shape;166;p17"/>
          <p:cNvSpPr txBox="1"/>
          <p:nvPr/>
        </p:nvSpPr>
        <p:spPr>
          <a:xfrm>
            <a:off x="4135350" y="918350"/>
            <a:ext cx="3921300" cy="3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chemeClr val="dk1"/>
                </a:solidFill>
              </a:rPr>
              <a:t>Figure P.1.2: </a:t>
            </a:r>
            <a:r>
              <a:rPr lang="en-US" sz="1500">
                <a:solidFill>
                  <a:schemeClr val="dk1"/>
                </a:solidFill>
              </a:rPr>
              <a:t>Photo of </a:t>
            </a:r>
            <a:r>
              <a:rPr lang="en-US" sz="1500">
                <a:solidFill>
                  <a:schemeClr val="dk1"/>
                </a:solidFill>
              </a:rPr>
              <a:t>Power system (8/24)</a:t>
            </a:r>
            <a:endParaRPr sz="15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8"/>
          <p:cNvSpPr txBox="1"/>
          <p:nvPr>
            <p:ph type="title"/>
          </p:nvPr>
        </p:nvSpPr>
        <p:spPr>
          <a:xfrm>
            <a:off x="6521275" y="0"/>
            <a:ext cx="46476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Power System</a:t>
            </a:r>
            <a:endParaRPr/>
          </a:p>
        </p:txBody>
      </p:sp>
      <p:pic>
        <p:nvPicPr>
          <p:cNvPr id="172" name="Google Shape;172;p18"/>
          <p:cNvPicPr preferRelativeResize="0"/>
          <p:nvPr/>
        </p:nvPicPr>
        <p:blipFill>
          <a:blip r:embed="rId3">
            <a:alphaModFix/>
          </a:blip>
          <a:stretch>
            <a:fillRect/>
          </a:stretch>
        </p:blipFill>
        <p:spPr>
          <a:xfrm>
            <a:off x="1951798" y="2057744"/>
            <a:ext cx="8288401" cy="4647855"/>
          </a:xfrm>
          <a:prstGeom prst="rect">
            <a:avLst/>
          </a:prstGeom>
          <a:noFill/>
          <a:ln>
            <a:noFill/>
          </a:ln>
        </p:spPr>
      </p:pic>
      <p:sp>
        <p:nvSpPr>
          <p:cNvPr id="173" name="Google Shape;173;p18"/>
          <p:cNvSpPr txBox="1"/>
          <p:nvPr/>
        </p:nvSpPr>
        <p:spPr>
          <a:xfrm>
            <a:off x="0" y="6240600"/>
            <a:ext cx="1180800" cy="6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rPr>
              <a:t>NEW</a:t>
            </a:r>
            <a:endParaRPr sz="3200">
              <a:solidFill>
                <a:schemeClr val="dk1"/>
              </a:solidFill>
            </a:endParaRPr>
          </a:p>
        </p:txBody>
      </p:sp>
      <p:sp>
        <p:nvSpPr>
          <p:cNvPr id="174" name="Google Shape;174;p18"/>
          <p:cNvSpPr txBox="1"/>
          <p:nvPr/>
        </p:nvSpPr>
        <p:spPr>
          <a:xfrm>
            <a:off x="1703125" y="914400"/>
            <a:ext cx="8288400" cy="6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rPr>
              <a:t>The power system was redesigned to expand from two to three power supplies (two 10A and one 20A) to improve power distribution and accommodate system requirements, while branching circuits were terminated at intermittent terminal connections to provide the necessary electrical connectivity and improve overall system integration. </a:t>
            </a:r>
            <a:endParaRPr sz="1600">
              <a:solidFill>
                <a:schemeClr val="dk1"/>
              </a:solidFill>
            </a:endParaRPr>
          </a:p>
        </p:txBody>
      </p:sp>
      <p:sp>
        <p:nvSpPr>
          <p:cNvPr id="175" name="Google Shape;175;p18"/>
          <p:cNvSpPr txBox="1"/>
          <p:nvPr/>
        </p:nvSpPr>
        <p:spPr>
          <a:xfrm>
            <a:off x="2152400" y="2256800"/>
            <a:ext cx="3179100" cy="3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chemeClr val="dk1"/>
                </a:solidFill>
              </a:rPr>
              <a:t>Figure P.2.1: </a:t>
            </a:r>
            <a:r>
              <a:rPr lang="en-US" sz="1500">
                <a:solidFill>
                  <a:schemeClr val="dk1"/>
                </a:solidFill>
              </a:rPr>
              <a:t>Power system (9/30)</a:t>
            </a:r>
            <a:endParaRPr sz="15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9"/>
          <p:cNvSpPr txBox="1"/>
          <p:nvPr>
            <p:ph type="title"/>
          </p:nvPr>
        </p:nvSpPr>
        <p:spPr>
          <a:xfrm>
            <a:off x="6521275" y="0"/>
            <a:ext cx="46476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Power System</a:t>
            </a:r>
            <a:endParaRPr/>
          </a:p>
        </p:txBody>
      </p:sp>
      <p:pic>
        <p:nvPicPr>
          <p:cNvPr id="181" name="Google Shape;181;p19"/>
          <p:cNvPicPr preferRelativeResize="0"/>
          <p:nvPr/>
        </p:nvPicPr>
        <p:blipFill>
          <a:blip r:embed="rId3">
            <a:alphaModFix/>
          </a:blip>
          <a:stretch>
            <a:fillRect/>
          </a:stretch>
        </p:blipFill>
        <p:spPr>
          <a:xfrm>
            <a:off x="2560037" y="1389275"/>
            <a:ext cx="7071927" cy="5303945"/>
          </a:xfrm>
          <a:prstGeom prst="rect">
            <a:avLst/>
          </a:prstGeom>
          <a:noFill/>
          <a:ln>
            <a:noFill/>
          </a:ln>
        </p:spPr>
      </p:pic>
      <p:sp>
        <p:nvSpPr>
          <p:cNvPr id="182" name="Google Shape;182;p19"/>
          <p:cNvSpPr txBox="1"/>
          <p:nvPr/>
        </p:nvSpPr>
        <p:spPr>
          <a:xfrm>
            <a:off x="0" y="6240600"/>
            <a:ext cx="1180800" cy="6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rPr>
              <a:t>NEW</a:t>
            </a:r>
            <a:endParaRPr sz="3200">
              <a:solidFill>
                <a:schemeClr val="dk1"/>
              </a:solidFill>
            </a:endParaRPr>
          </a:p>
        </p:txBody>
      </p:sp>
      <p:sp>
        <p:nvSpPr>
          <p:cNvPr id="183" name="Google Shape;183;p19"/>
          <p:cNvSpPr txBox="1"/>
          <p:nvPr/>
        </p:nvSpPr>
        <p:spPr>
          <a:xfrm>
            <a:off x="4135350" y="918350"/>
            <a:ext cx="3921300" cy="3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chemeClr val="dk1"/>
                </a:solidFill>
              </a:rPr>
              <a:t>Figure P.2.2: </a:t>
            </a:r>
            <a:r>
              <a:rPr lang="en-US" sz="1500">
                <a:solidFill>
                  <a:schemeClr val="dk1"/>
                </a:solidFill>
              </a:rPr>
              <a:t>Photo of Power system (9/30)</a:t>
            </a:r>
            <a:endParaRPr sz="15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graphicFrame>
        <p:nvGraphicFramePr>
          <p:cNvPr id="188" name="Google Shape;188;p20"/>
          <p:cNvGraphicFramePr/>
          <p:nvPr/>
        </p:nvGraphicFramePr>
        <p:xfrm>
          <a:off x="609600" y="2005693"/>
          <a:ext cx="3000000" cy="3000000"/>
        </p:xfrm>
        <a:graphic>
          <a:graphicData uri="http://schemas.openxmlformats.org/drawingml/2006/table">
            <a:tbl>
              <a:tblPr>
                <a:noFill/>
                <a:tableStyleId>{A630BAC2-E9F3-4A2B-A599-B295203249EC}</a:tableStyleId>
              </a:tblPr>
              <a:tblGrid>
                <a:gridCol w="5494025"/>
                <a:gridCol w="5478775"/>
              </a:tblGrid>
              <a:tr h="1042750">
                <a:tc>
                  <a:txBody>
                    <a:bodyPr/>
                    <a:lstStyle/>
                    <a:p>
                      <a:pPr indent="0" lvl="0" marL="0" marR="0" rtl="0" algn="ctr">
                        <a:lnSpc>
                          <a:spcPct val="100000"/>
                        </a:lnSpc>
                        <a:spcBef>
                          <a:spcPts val="0"/>
                        </a:spcBef>
                        <a:spcAft>
                          <a:spcPts val="0"/>
                        </a:spcAft>
                        <a:buClr>
                          <a:schemeClr val="dk1"/>
                        </a:buClr>
                        <a:buSzPts val="1800"/>
                        <a:buFont typeface="Arial"/>
                        <a:buNone/>
                      </a:pPr>
                      <a:r>
                        <a:rPr lang="en-US" sz="1800">
                          <a:solidFill>
                            <a:schemeClr val="dk1"/>
                          </a:solidFill>
                        </a:rPr>
                        <a:t>Accomplishments (8/31 - 9/16)</a:t>
                      </a:r>
                      <a:r>
                        <a:rPr lang="en-US" sz="1800" u="none" cap="none" strike="noStrike"/>
                        <a:t>                       </a:t>
                      </a:r>
                      <a:endParaRPr sz="1800" u="none" cap="none" strike="noStrike">
                        <a:solidFill>
                          <a:srgbClr val="C00000"/>
                        </a:solidFill>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c>
                  <a:txBody>
                    <a:bodyPr/>
                    <a:lstStyle/>
                    <a:p>
                      <a:pPr indent="0" lvl="0" marL="0" rtl="0" algn="ctr">
                        <a:spcBef>
                          <a:spcPts val="0"/>
                        </a:spcBef>
                        <a:spcAft>
                          <a:spcPts val="0"/>
                        </a:spcAft>
                        <a:buClr>
                          <a:schemeClr val="dk1"/>
                        </a:buClr>
                        <a:buSzPts val="1800"/>
                        <a:buFont typeface="Arial"/>
                        <a:buNone/>
                      </a:pPr>
                      <a:r>
                        <a:rPr lang="en-US" sz="1800">
                          <a:solidFill>
                            <a:schemeClr val="dk1"/>
                          </a:solidFill>
                        </a:rPr>
                        <a:t>In Progress (9/16 - 9/30)</a:t>
                      </a:r>
                      <a:endParaRPr sz="1800" u="none" cap="none" strike="noStrike">
                        <a:solidFill>
                          <a:schemeClr val="dk1"/>
                        </a:solidFill>
                      </a:endParaRPr>
                    </a:p>
                  </a:txBody>
                  <a:tcPr marT="45750" marB="457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r>
              <a:tr h="2799425">
                <a:tc>
                  <a:txBody>
                    <a:bodyPr/>
                    <a:lstStyle/>
                    <a:p>
                      <a:pPr indent="-285750" lvl="0" marL="285750" marR="0" rtl="0" algn="l">
                        <a:lnSpc>
                          <a:spcPct val="100000"/>
                        </a:lnSpc>
                        <a:spcBef>
                          <a:spcPts val="0"/>
                        </a:spcBef>
                        <a:spcAft>
                          <a:spcPts val="0"/>
                        </a:spcAft>
                        <a:buClr>
                          <a:schemeClr val="dk1"/>
                        </a:buClr>
                        <a:buSzPts val="1800"/>
                        <a:buFont typeface="Arial"/>
                        <a:buChar char="•"/>
                      </a:pPr>
                      <a:r>
                        <a:rPr lang="en-US" sz="1800"/>
                        <a:t>Tested and Installed</a:t>
                      </a:r>
                      <a:r>
                        <a:rPr lang="en-US" sz="1800"/>
                        <a:t> Power Monitor transmitters and valve actuator</a:t>
                      </a:r>
                      <a:endParaRPr sz="1800"/>
                    </a:p>
                    <a:p>
                      <a:pPr indent="-285750" lvl="0" marL="285750" marR="0" rtl="0" algn="l">
                        <a:lnSpc>
                          <a:spcPct val="100000"/>
                        </a:lnSpc>
                        <a:spcBef>
                          <a:spcPts val="0"/>
                        </a:spcBef>
                        <a:spcAft>
                          <a:spcPts val="0"/>
                        </a:spcAft>
                        <a:buSzPts val="1800"/>
                        <a:buChar char="•"/>
                      </a:pPr>
                      <a:r>
                        <a:rPr lang="en-US" sz="1800"/>
                        <a:t>Refactored HMI overview screen</a:t>
                      </a:r>
                      <a:endParaRPr sz="1800"/>
                    </a:p>
                    <a:p>
                      <a:pPr indent="-285750" lvl="0" marL="285750" marR="0" rtl="0" algn="l">
                        <a:lnSpc>
                          <a:spcPct val="100000"/>
                        </a:lnSpc>
                        <a:spcBef>
                          <a:spcPts val="0"/>
                        </a:spcBef>
                        <a:spcAft>
                          <a:spcPts val="0"/>
                        </a:spcAft>
                        <a:buSzPts val="1800"/>
                        <a:buChar char="•"/>
                      </a:pPr>
                      <a:r>
                        <a:rPr lang="en-US" sz="1800"/>
                        <a:t>Installed and tested Pump and Fan control Relays</a:t>
                      </a:r>
                      <a:endParaRPr sz="1800"/>
                    </a:p>
                    <a:p>
                      <a:pPr indent="-171450" lvl="0" marL="285750" marR="0" rtl="0" algn="l">
                        <a:spcBef>
                          <a:spcPts val="0"/>
                        </a:spcBef>
                        <a:spcAft>
                          <a:spcPts val="0"/>
                        </a:spcAft>
                        <a:buClr>
                          <a:schemeClr val="dk1"/>
                        </a:buClr>
                        <a:buSzPts val="1800"/>
                        <a:buFont typeface="Arial"/>
                        <a:buNone/>
                      </a:pPr>
                      <a:r>
                        <a:t/>
                      </a:r>
                      <a:endParaRPr sz="1800" u="none" cap="none" strike="noStrike"/>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en-US" sz="1800"/>
                        <a:t>Test Conductivity Meter</a:t>
                      </a:r>
                      <a:endParaRPr b="1" sz="1800"/>
                    </a:p>
                    <a:p>
                      <a:pPr indent="-285750" lvl="0" marL="285750" marR="0" rtl="0" algn="l">
                        <a:spcBef>
                          <a:spcPts val="0"/>
                        </a:spcBef>
                        <a:spcAft>
                          <a:spcPts val="0"/>
                        </a:spcAft>
                        <a:buClr>
                          <a:schemeClr val="dk1"/>
                        </a:buClr>
                        <a:buSzPts val="1800"/>
                        <a:buFont typeface="Arial"/>
                        <a:buChar char="•"/>
                      </a:pPr>
                      <a:r>
                        <a:rPr lang="en-US" sz="1800"/>
                        <a:t>Part of Phase 2 build</a:t>
                      </a:r>
                      <a:endParaRPr sz="1800"/>
                    </a:p>
                    <a:p>
                      <a:pPr indent="-285750" lvl="0" marL="285750" marR="0" rtl="0" algn="l">
                        <a:spcBef>
                          <a:spcPts val="0"/>
                        </a:spcBef>
                        <a:spcAft>
                          <a:spcPts val="0"/>
                        </a:spcAft>
                        <a:buClr>
                          <a:schemeClr val="dk1"/>
                        </a:buClr>
                        <a:buSzPts val="1800"/>
                        <a:buFont typeface="Arial"/>
                        <a:buChar char="•"/>
                      </a:pPr>
                      <a:r>
                        <a:rPr lang="en-US" sz="1800"/>
                        <a:t>I/O to PLC is tested only need to test probe measurement</a:t>
                      </a:r>
                      <a:endParaRPr sz="1800"/>
                    </a:p>
                    <a:p>
                      <a:pPr indent="0" lvl="0" marL="0" marR="0" rtl="0" algn="l">
                        <a:spcBef>
                          <a:spcPts val="0"/>
                        </a:spcBef>
                        <a:spcAft>
                          <a:spcPts val="0"/>
                        </a:spcAft>
                        <a:buNone/>
                      </a:pPr>
                      <a:r>
                        <a:rPr b="1" lang="en-US" sz="1800"/>
                        <a:t>Phase 1 build and test</a:t>
                      </a:r>
                      <a:endParaRPr b="1" sz="1800"/>
                    </a:p>
                    <a:p>
                      <a:pPr indent="-285750" lvl="0" marL="285750" marR="0" rtl="0" algn="l">
                        <a:spcBef>
                          <a:spcPts val="0"/>
                        </a:spcBef>
                        <a:spcAft>
                          <a:spcPts val="0"/>
                        </a:spcAft>
                        <a:buClr>
                          <a:schemeClr val="dk1"/>
                        </a:buClr>
                        <a:buSzPts val="1800"/>
                        <a:buFont typeface="Arial"/>
                        <a:buChar char="•"/>
                      </a:pPr>
                      <a:r>
                        <a:rPr lang="en-US" sz="1800"/>
                        <a:t>Install float switches to reservoir</a:t>
                      </a:r>
                      <a:endParaRPr sz="1800"/>
                    </a:p>
                    <a:p>
                      <a:pPr indent="-285750" lvl="0" marL="285750" marR="0" rtl="0" algn="l">
                        <a:spcBef>
                          <a:spcPts val="0"/>
                        </a:spcBef>
                        <a:spcAft>
                          <a:spcPts val="0"/>
                        </a:spcAft>
                        <a:buClr>
                          <a:schemeClr val="dk1"/>
                        </a:buClr>
                        <a:buSzPts val="1800"/>
                        <a:buFont typeface="Arial"/>
                        <a:buChar char="•"/>
                      </a:pPr>
                      <a:r>
                        <a:rPr lang="en-US" sz="1800"/>
                        <a:t>Test Control of Pumps via digital out to relays</a:t>
                      </a:r>
                      <a:endParaRPr sz="1800"/>
                    </a:p>
                    <a:p>
                      <a:pPr indent="-285750" lvl="0" marL="285750" marR="0" rtl="0" algn="l">
                        <a:spcBef>
                          <a:spcPts val="0"/>
                        </a:spcBef>
                        <a:spcAft>
                          <a:spcPts val="0"/>
                        </a:spcAft>
                        <a:buClr>
                          <a:schemeClr val="dk1"/>
                        </a:buClr>
                        <a:buSzPts val="1800"/>
                        <a:buFont typeface="Arial"/>
                        <a:buChar char="•"/>
                      </a:pPr>
                      <a:r>
                        <a:rPr lang="en-US" sz="1800"/>
                        <a:t>Test Flow Meter with Phase 1 build (Blocked until flow meter arrives)</a:t>
                      </a:r>
                      <a:endParaRPr sz="1800"/>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89" name="Google Shape;189;p20"/>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Hardware</a:t>
            </a:r>
            <a:endParaRPr b="1" sz="3600"/>
          </a:p>
          <a:p>
            <a:pPr indent="0" lvl="0" marL="0" rtl="0" algn="ctr">
              <a:spcBef>
                <a:spcPts val="0"/>
              </a:spcBef>
              <a:spcAft>
                <a:spcPts val="0"/>
              </a:spcAft>
              <a:buNone/>
            </a:pPr>
            <a:r>
              <a:t/>
            </a:r>
            <a:endParaRPr b="1" sz="3600"/>
          </a:p>
        </p:txBody>
      </p:sp>
      <p:sp>
        <p:nvSpPr>
          <p:cNvPr id="190" name="Google Shape;190;p20"/>
          <p:cNvSpPr txBox="1"/>
          <p:nvPr/>
        </p:nvSpPr>
        <p:spPr>
          <a:xfrm>
            <a:off x="6936601" y="643925"/>
            <a:ext cx="47346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Robert Parker</a:t>
            </a:r>
            <a:endParaRPr i="1" sz="27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1"/>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Hardware</a:t>
            </a:r>
            <a:endParaRPr b="1" sz="3600">
              <a:solidFill>
                <a:srgbClr val="000000"/>
              </a:solidFill>
            </a:endParaRPr>
          </a:p>
        </p:txBody>
      </p:sp>
      <p:sp>
        <p:nvSpPr>
          <p:cNvPr id="197" name="Google Shape;197;p21"/>
          <p:cNvSpPr txBox="1"/>
          <p:nvPr/>
        </p:nvSpPr>
        <p:spPr>
          <a:xfrm>
            <a:off x="6936601" y="643925"/>
            <a:ext cx="47346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Power Monitor Testing</a:t>
            </a:r>
            <a:endParaRPr i="1"/>
          </a:p>
        </p:txBody>
      </p:sp>
      <p:pic>
        <p:nvPicPr>
          <p:cNvPr id="198" name="Google Shape;198;p21" title="Chart"/>
          <p:cNvPicPr preferRelativeResize="0"/>
          <p:nvPr/>
        </p:nvPicPr>
        <p:blipFill>
          <a:blip r:embed="rId3">
            <a:alphaModFix/>
          </a:blip>
          <a:stretch>
            <a:fillRect/>
          </a:stretch>
        </p:blipFill>
        <p:spPr>
          <a:xfrm>
            <a:off x="0" y="1844825"/>
            <a:ext cx="6096000" cy="3872200"/>
          </a:xfrm>
          <a:prstGeom prst="rect">
            <a:avLst/>
          </a:prstGeom>
          <a:noFill/>
          <a:ln>
            <a:noFill/>
          </a:ln>
        </p:spPr>
      </p:pic>
      <p:sp>
        <p:nvSpPr>
          <p:cNvPr id="199" name="Google Shape;199;p21"/>
          <p:cNvSpPr txBox="1"/>
          <p:nvPr/>
        </p:nvSpPr>
        <p:spPr>
          <a:xfrm>
            <a:off x="0" y="859500"/>
            <a:ext cx="6772800" cy="985200"/>
          </a:xfrm>
          <a:prstGeom prst="rect">
            <a:avLst/>
          </a:prstGeom>
          <a:noFill/>
          <a:ln>
            <a:noFill/>
          </a:ln>
        </p:spPr>
        <p:txBody>
          <a:bodyPr anchorCtr="0" anchor="t" bIns="91425" lIns="91425" spcFirstLastPara="1" rIns="91425" wrap="square" tIns="91425">
            <a:spAutoFit/>
          </a:bodyPr>
          <a:lstStyle/>
          <a:p>
            <a:pPr indent="-393700" lvl="0" marL="457200" rtl="0" algn="l">
              <a:spcBef>
                <a:spcPts val="0"/>
              </a:spcBef>
              <a:spcAft>
                <a:spcPts val="0"/>
              </a:spcAft>
              <a:buClr>
                <a:schemeClr val="dk1"/>
              </a:buClr>
              <a:buSzPts val="2600"/>
              <a:buChar char="●"/>
            </a:pPr>
            <a:r>
              <a:rPr lang="en-US" sz="2600">
                <a:solidFill>
                  <a:schemeClr val="dk1"/>
                </a:solidFill>
              </a:rPr>
              <a:t>Testing shows that output of power monitors is a linear relationship</a:t>
            </a:r>
            <a:endParaRPr sz="2600">
              <a:solidFill>
                <a:schemeClr val="dk1"/>
              </a:solidFill>
            </a:endParaRPr>
          </a:p>
        </p:txBody>
      </p:sp>
      <p:sp>
        <p:nvSpPr>
          <p:cNvPr id="200" name="Google Shape;200;p21"/>
          <p:cNvSpPr txBox="1"/>
          <p:nvPr/>
        </p:nvSpPr>
        <p:spPr>
          <a:xfrm>
            <a:off x="464849" y="5492525"/>
            <a:ext cx="51663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a:solidFill>
                  <a:schemeClr val="dk1"/>
                </a:solidFill>
              </a:rPr>
              <a:t>Figure CH.1: </a:t>
            </a:r>
            <a:r>
              <a:rPr lang="en-US">
                <a:solidFill>
                  <a:schemeClr val="dk1"/>
                </a:solidFill>
              </a:rPr>
              <a:t>Plot of Signal Current vs Test Current</a:t>
            </a:r>
            <a:r>
              <a:rPr lang="en-US">
                <a:solidFill>
                  <a:schemeClr val="dk1"/>
                </a:solidFill>
              </a:rPr>
              <a:t> </a:t>
            </a:r>
            <a:endParaRPr sz="1100"/>
          </a:p>
        </p:txBody>
      </p:sp>
      <p:sp>
        <p:nvSpPr>
          <p:cNvPr id="201" name="Google Shape;201;p21"/>
          <p:cNvSpPr txBox="1"/>
          <p:nvPr/>
        </p:nvSpPr>
        <p:spPr>
          <a:xfrm>
            <a:off x="6973550" y="5492525"/>
            <a:ext cx="4335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a:solidFill>
                  <a:schemeClr val="dk1"/>
                </a:solidFill>
              </a:rPr>
              <a:t>Figure CH.2: </a:t>
            </a:r>
            <a:r>
              <a:rPr lang="en-US">
                <a:solidFill>
                  <a:schemeClr val="dk1"/>
                </a:solidFill>
              </a:rPr>
              <a:t>Plot of Signal Current vs Test Voltage</a:t>
            </a:r>
            <a:endParaRPr sz="1100"/>
          </a:p>
        </p:txBody>
      </p:sp>
      <p:pic>
        <p:nvPicPr>
          <p:cNvPr id="202" name="Google Shape;202;p21" title="Chart"/>
          <p:cNvPicPr preferRelativeResize="0"/>
          <p:nvPr/>
        </p:nvPicPr>
        <p:blipFill>
          <a:blip r:embed="rId4">
            <a:alphaModFix/>
          </a:blip>
          <a:stretch>
            <a:fillRect/>
          </a:stretch>
        </p:blipFill>
        <p:spPr>
          <a:xfrm>
            <a:off x="6096000" y="1844701"/>
            <a:ext cx="5738301" cy="35198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Hardware</a:t>
            </a:r>
            <a:endParaRPr b="1" sz="3600">
              <a:solidFill>
                <a:srgbClr val="000000"/>
              </a:solidFill>
            </a:endParaRPr>
          </a:p>
        </p:txBody>
      </p:sp>
      <p:sp>
        <p:nvSpPr>
          <p:cNvPr id="209" name="Google Shape;209;p22"/>
          <p:cNvSpPr txBox="1"/>
          <p:nvPr/>
        </p:nvSpPr>
        <p:spPr>
          <a:xfrm>
            <a:off x="6936601" y="643925"/>
            <a:ext cx="47346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New HMI Overview Screen</a:t>
            </a:r>
            <a:endParaRPr i="1"/>
          </a:p>
        </p:txBody>
      </p:sp>
      <p:sp>
        <p:nvSpPr>
          <p:cNvPr id="210" name="Google Shape;210;p22"/>
          <p:cNvSpPr txBox="1"/>
          <p:nvPr/>
        </p:nvSpPr>
        <p:spPr>
          <a:xfrm>
            <a:off x="0" y="859500"/>
            <a:ext cx="6772800" cy="985200"/>
          </a:xfrm>
          <a:prstGeom prst="rect">
            <a:avLst/>
          </a:prstGeom>
          <a:noFill/>
          <a:ln>
            <a:noFill/>
          </a:ln>
        </p:spPr>
        <p:txBody>
          <a:bodyPr anchorCtr="0" anchor="t" bIns="91425" lIns="91425" spcFirstLastPara="1" rIns="91425" wrap="square" tIns="91425">
            <a:spAutoFit/>
          </a:bodyPr>
          <a:lstStyle/>
          <a:p>
            <a:pPr indent="-393700" lvl="0" marL="457200" rtl="0" algn="l">
              <a:spcBef>
                <a:spcPts val="0"/>
              </a:spcBef>
              <a:spcAft>
                <a:spcPts val="0"/>
              </a:spcAft>
              <a:buClr>
                <a:schemeClr val="dk1"/>
              </a:buClr>
              <a:buSzPts val="2600"/>
              <a:buChar char="●"/>
            </a:pPr>
            <a:r>
              <a:rPr lang="en-US" sz="2600">
                <a:solidFill>
                  <a:schemeClr val="dk1"/>
                </a:solidFill>
              </a:rPr>
              <a:t>New Screen has P&amp;ID to Show Where each Measurement Is Coming From</a:t>
            </a:r>
            <a:endParaRPr sz="2600">
              <a:solidFill>
                <a:schemeClr val="dk1"/>
              </a:solidFill>
            </a:endParaRPr>
          </a:p>
        </p:txBody>
      </p:sp>
      <p:sp>
        <p:nvSpPr>
          <p:cNvPr id="211" name="Google Shape;211;p22"/>
          <p:cNvSpPr txBox="1"/>
          <p:nvPr/>
        </p:nvSpPr>
        <p:spPr>
          <a:xfrm>
            <a:off x="2672950" y="6106750"/>
            <a:ext cx="40998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a:solidFill>
                  <a:schemeClr val="dk1"/>
                </a:solidFill>
              </a:rPr>
              <a:t>Figure CH.3: </a:t>
            </a:r>
            <a:r>
              <a:rPr lang="en-US">
                <a:solidFill>
                  <a:schemeClr val="dk1"/>
                </a:solidFill>
              </a:rPr>
              <a:t>New HMI Overview screen</a:t>
            </a:r>
            <a:r>
              <a:rPr lang="en-US">
                <a:solidFill>
                  <a:schemeClr val="dk1"/>
                </a:solidFill>
              </a:rPr>
              <a:t> </a:t>
            </a:r>
            <a:endParaRPr sz="1100"/>
          </a:p>
        </p:txBody>
      </p:sp>
      <p:pic>
        <p:nvPicPr>
          <p:cNvPr id="212" name="Google Shape;212;p22"/>
          <p:cNvPicPr preferRelativeResize="0"/>
          <p:nvPr/>
        </p:nvPicPr>
        <p:blipFill>
          <a:blip r:embed="rId3">
            <a:alphaModFix/>
          </a:blip>
          <a:stretch>
            <a:fillRect/>
          </a:stretch>
        </p:blipFill>
        <p:spPr>
          <a:xfrm>
            <a:off x="2672950" y="1987024"/>
            <a:ext cx="6846099" cy="41197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Software</a:t>
            </a:r>
            <a:endParaRPr b="1" sz="3600">
              <a:solidFill>
                <a:srgbClr val="000000"/>
              </a:solidFill>
            </a:endParaRPr>
          </a:p>
        </p:txBody>
      </p:sp>
      <p:sp>
        <p:nvSpPr>
          <p:cNvPr id="218" name="Google Shape;218;p23"/>
          <p:cNvSpPr txBox="1"/>
          <p:nvPr/>
        </p:nvSpPr>
        <p:spPr>
          <a:xfrm>
            <a:off x="6936601" y="643925"/>
            <a:ext cx="47346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Noah Ovikian</a:t>
            </a:r>
            <a:endParaRPr i="1"/>
          </a:p>
        </p:txBody>
      </p:sp>
      <p:graphicFrame>
        <p:nvGraphicFramePr>
          <p:cNvPr id="219" name="Google Shape;219;p23"/>
          <p:cNvGraphicFramePr/>
          <p:nvPr/>
        </p:nvGraphicFramePr>
        <p:xfrm>
          <a:off x="609599" y="2005693"/>
          <a:ext cx="3000000" cy="3000000"/>
        </p:xfrm>
        <a:graphic>
          <a:graphicData uri="http://schemas.openxmlformats.org/drawingml/2006/table">
            <a:tbl>
              <a:tblPr>
                <a:noFill/>
                <a:tableStyleId>{A630BAC2-E9F3-4A2B-A599-B295203249EC}</a:tableStyleId>
              </a:tblPr>
              <a:tblGrid>
                <a:gridCol w="5486400"/>
                <a:gridCol w="5486400"/>
              </a:tblGrid>
              <a:tr h="927225">
                <a:tc>
                  <a:txBody>
                    <a:bodyPr/>
                    <a:lstStyle/>
                    <a:p>
                      <a:pPr indent="0" lvl="0" marL="0" marR="0" rtl="0" algn="ctr">
                        <a:spcBef>
                          <a:spcPts val="0"/>
                        </a:spcBef>
                        <a:spcAft>
                          <a:spcPts val="0"/>
                        </a:spcAft>
                        <a:buClr>
                          <a:schemeClr val="dk1"/>
                        </a:buClr>
                        <a:buSzPts val="1800"/>
                        <a:buFont typeface="Arial"/>
                        <a:buNone/>
                      </a:pPr>
                      <a:r>
                        <a:t/>
                      </a:r>
                      <a:endParaRPr sz="1800"/>
                    </a:p>
                    <a:p>
                      <a:pPr indent="0" lvl="0" marL="0" marR="0" rtl="0" algn="ctr">
                        <a:spcBef>
                          <a:spcPts val="0"/>
                        </a:spcBef>
                        <a:spcAft>
                          <a:spcPts val="0"/>
                        </a:spcAft>
                        <a:buClr>
                          <a:schemeClr val="dk1"/>
                        </a:buClr>
                        <a:buSzPts val="1800"/>
                        <a:buFont typeface="Arial"/>
                        <a:buNone/>
                      </a:pPr>
                      <a:r>
                        <a:rPr lang="en-US" sz="1800" u="none" cap="none" strike="noStrike"/>
                        <a:t>Accomplishments </a:t>
                      </a:r>
                      <a:r>
                        <a:rPr lang="en-US" sz="1800"/>
                        <a:t>(9/16 - 9/30)</a:t>
                      </a:r>
                      <a:endParaRPr/>
                    </a:p>
                    <a:p>
                      <a:pPr indent="0" lvl="0" marL="0" marR="0" rtl="0" algn="l">
                        <a:spcBef>
                          <a:spcPts val="0"/>
                        </a:spcBef>
                        <a:spcAft>
                          <a:spcPts val="0"/>
                        </a:spcAft>
                        <a:buClr>
                          <a:srgbClr val="C00000"/>
                        </a:buClr>
                        <a:buSzPts val="1800"/>
                        <a:buFont typeface="Arial"/>
                        <a:buNone/>
                      </a:pPr>
                      <a:r>
                        <a:t/>
                      </a:r>
                      <a:endParaRPr sz="1800" u="none" cap="none" strike="noStrike">
                        <a:solidFill>
                          <a:srgbClr val="C00000"/>
                        </a:solidFill>
                      </a:endParaRPr>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c>
                  <a:txBody>
                    <a:bodyPr/>
                    <a:lstStyle/>
                    <a:p>
                      <a:pPr indent="0" lvl="0" marL="0" marR="0" rtl="0" algn="ctr">
                        <a:spcBef>
                          <a:spcPts val="0"/>
                        </a:spcBef>
                        <a:spcAft>
                          <a:spcPts val="0"/>
                        </a:spcAft>
                        <a:buClr>
                          <a:schemeClr val="dk1"/>
                        </a:buClr>
                        <a:buSzPts val="1800"/>
                        <a:buFont typeface="Arial"/>
                        <a:buNone/>
                      </a:pPr>
                      <a:r>
                        <a:t/>
                      </a:r>
                      <a:endParaRPr sz="1800">
                        <a:solidFill>
                          <a:schemeClr val="dk1"/>
                        </a:solidFill>
                      </a:endParaRPr>
                    </a:p>
                    <a:p>
                      <a:pPr indent="0" lvl="0" marL="0" marR="0" rtl="0" algn="ctr">
                        <a:spcBef>
                          <a:spcPts val="0"/>
                        </a:spcBef>
                        <a:spcAft>
                          <a:spcPts val="0"/>
                        </a:spcAft>
                        <a:buClr>
                          <a:schemeClr val="dk1"/>
                        </a:buClr>
                        <a:buSzPts val="1800"/>
                        <a:buFont typeface="Arial"/>
                        <a:buNone/>
                      </a:pPr>
                      <a:r>
                        <a:rPr lang="en-US" sz="1800">
                          <a:solidFill>
                            <a:schemeClr val="dk1"/>
                          </a:solidFill>
                        </a:rPr>
                        <a:t>In Progress (9/30 - 10/14)</a:t>
                      </a:r>
                      <a:endParaRPr sz="1800" u="none" cap="none" strike="noStrike">
                        <a:solidFill>
                          <a:schemeClr val="dk1"/>
                        </a:solidFill>
                      </a:endParaRPr>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r>
              <a:tr h="2765250">
                <a:tc>
                  <a:txBody>
                    <a:bodyPr/>
                    <a:lstStyle/>
                    <a:p>
                      <a:pPr indent="0" lvl="0" marL="0" marR="0" rtl="0" algn="l">
                        <a:lnSpc>
                          <a:spcPct val="115000"/>
                        </a:lnSpc>
                        <a:spcBef>
                          <a:spcPts val="0"/>
                        </a:spcBef>
                        <a:spcAft>
                          <a:spcPts val="0"/>
                        </a:spcAft>
                        <a:buNone/>
                      </a:pPr>
                      <a:r>
                        <a:rPr b="1" lang="en-US" sz="1900"/>
                        <a:t>Digital Twin </a:t>
                      </a:r>
                      <a:endParaRPr b="1" sz="1900"/>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Sized </a:t>
                      </a:r>
                      <a:r>
                        <a:rPr lang="en-US" sz="1700">
                          <a:solidFill>
                            <a:schemeClr val="dk1"/>
                          </a:solidFill>
                        </a:rPr>
                        <a:t>Hydraulics</a:t>
                      </a:r>
                      <a:r>
                        <a:rPr lang="en-US" sz="1700">
                          <a:solidFill>
                            <a:schemeClr val="dk1"/>
                          </a:solidFill>
                        </a:rPr>
                        <a:t> &amp; Temperature Components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Implemented PID Controller w/ regulators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Validated PID Regulation &amp; Robustness</a:t>
                      </a:r>
                      <a:endParaRPr sz="1700">
                        <a:solidFill>
                          <a:schemeClr val="dk1"/>
                        </a:solidFill>
                      </a:endParaRPr>
                    </a:p>
                    <a:p>
                      <a:pPr indent="0" lvl="0" marL="0" marR="0" rtl="0" algn="l">
                        <a:lnSpc>
                          <a:spcPct val="115000"/>
                        </a:lnSpc>
                        <a:spcBef>
                          <a:spcPts val="0"/>
                        </a:spcBef>
                        <a:spcAft>
                          <a:spcPts val="0"/>
                        </a:spcAft>
                        <a:buNone/>
                      </a:pPr>
                      <a:r>
                        <a:rPr b="1" lang="en-US" sz="1900"/>
                        <a:t>PLC Logic / Integration </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Mapped MODBUS &amp; I/O Variables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Implemented</a:t>
                      </a:r>
                      <a:r>
                        <a:rPr lang="en-US" sz="1700">
                          <a:solidFill>
                            <a:schemeClr val="dk1"/>
                          </a:solidFill>
                        </a:rPr>
                        <a:t> Diagnostics Phase</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Validated Pump Control &amp; System Configuration </a:t>
                      </a:r>
                      <a:endParaRPr sz="17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114300" marR="0" rtl="0" algn="l">
                        <a:spcBef>
                          <a:spcPts val="0"/>
                        </a:spcBef>
                        <a:spcAft>
                          <a:spcPts val="0"/>
                        </a:spcAft>
                        <a:buClr>
                          <a:schemeClr val="dk1"/>
                        </a:buClr>
                        <a:buSzPts val="1800"/>
                        <a:buFont typeface="Arial"/>
                        <a:buNone/>
                      </a:pPr>
                      <a:r>
                        <a:t/>
                      </a:r>
                      <a:endParaRPr sz="1000" u="none" cap="none" strike="noStrike"/>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b="1" lang="en-US" sz="1500">
                          <a:solidFill>
                            <a:schemeClr val="dk1"/>
                          </a:solidFill>
                        </a:rPr>
                        <a:t>Control Strategy</a:t>
                      </a:r>
                      <a:endParaRPr b="1" sz="15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Potential return to PID Control (confirm w/ sponsor &amp; MEEN)</a:t>
                      </a:r>
                      <a:endParaRPr b="1" sz="15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500">
                          <a:solidFill>
                            <a:schemeClr val="dk1"/>
                          </a:solidFill>
                        </a:rPr>
                        <a:t>Digital Twin </a:t>
                      </a:r>
                      <a:endParaRPr b="1" sz="15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Experiment with derivative gain implementation </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Analyze system dynamics w/ various orifice openings.</a:t>
                      </a:r>
                      <a:endParaRPr b="1" sz="1500">
                        <a:solidFill>
                          <a:schemeClr val="dk1"/>
                        </a:solidFill>
                      </a:endParaRPr>
                    </a:p>
                    <a:p>
                      <a:pPr indent="0" lvl="0" marL="0" rtl="0" algn="l">
                        <a:lnSpc>
                          <a:spcPct val="115000"/>
                        </a:lnSpc>
                        <a:spcBef>
                          <a:spcPts val="0"/>
                        </a:spcBef>
                        <a:spcAft>
                          <a:spcPts val="0"/>
                        </a:spcAft>
                        <a:buNone/>
                      </a:pPr>
                      <a:r>
                        <a:rPr b="1" lang="en-US" sz="1500">
                          <a:solidFill>
                            <a:schemeClr val="dk1"/>
                          </a:solidFill>
                        </a:rPr>
                        <a:t>PLC Logic </a:t>
                      </a:r>
                      <a:endParaRPr b="1" sz="15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Implement Cascading Control Loop</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Validate Valve Position Feedback</a:t>
                      </a:r>
                      <a:endParaRPr sz="1300">
                        <a:solidFill>
                          <a:schemeClr val="dk1"/>
                        </a:solidFill>
                      </a:endParaRPr>
                    </a:p>
                    <a:p>
                      <a:pPr indent="0" lvl="0" marL="0" rtl="0" algn="l">
                        <a:lnSpc>
                          <a:spcPct val="115000"/>
                        </a:lnSpc>
                        <a:spcBef>
                          <a:spcPts val="0"/>
                        </a:spcBef>
                        <a:spcAft>
                          <a:spcPts val="0"/>
                        </a:spcAft>
                        <a:buNone/>
                      </a:pPr>
                      <a:r>
                        <a:rPr b="1" lang="en-US" sz="1500">
                          <a:solidFill>
                            <a:schemeClr val="dk1"/>
                          </a:solidFill>
                        </a:rPr>
                        <a:t>Integration</a:t>
                      </a:r>
                      <a:endParaRPr b="1" sz="15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Establish Connection &amp; Control w/ 3-Way Valve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Validate Reservoir Level Control</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Verify Analog Scaling</a:t>
                      </a:r>
                      <a:endParaRPr b="1" sz="1500">
                        <a:solidFill>
                          <a:schemeClr val="dk1"/>
                        </a:solidFill>
                      </a:endParaRPr>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4"/>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Software</a:t>
            </a:r>
            <a:endParaRPr b="1" sz="3600">
              <a:solidFill>
                <a:srgbClr val="000000"/>
              </a:solidFill>
            </a:endParaRPr>
          </a:p>
        </p:txBody>
      </p:sp>
      <p:sp>
        <p:nvSpPr>
          <p:cNvPr id="226" name="Google Shape;226;p24"/>
          <p:cNvSpPr txBox="1"/>
          <p:nvPr/>
        </p:nvSpPr>
        <p:spPr>
          <a:xfrm>
            <a:off x="6508850" y="654225"/>
            <a:ext cx="54996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Updated Digital Twin</a:t>
            </a:r>
            <a:endParaRPr i="1"/>
          </a:p>
        </p:txBody>
      </p:sp>
      <p:sp>
        <p:nvSpPr>
          <p:cNvPr id="227" name="Google Shape;227;p24"/>
          <p:cNvSpPr txBox="1"/>
          <p:nvPr/>
        </p:nvSpPr>
        <p:spPr>
          <a:xfrm>
            <a:off x="236199" y="5524047"/>
            <a:ext cx="11802600" cy="74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700">
                <a:solidFill>
                  <a:schemeClr val="dk1"/>
                </a:solidFill>
              </a:rPr>
              <a:t>Figure CS.1: </a:t>
            </a:r>
            <a:r>
              <a:rPr lang="en-US" sz="1700">
                <a:solidFill>
                  <a:schemeClr val="dk1"/>
                </a:solidFill>
              </a:rPr>
              <a:t>Updated Digital Twin Model. Head losses, friction, and turbulence within digital twin subsystems (color-code legend left), accounted for through pressure drop &amp; restriction blocks in circuit</a:t>
            </a:r>
            <a:endParaRPr/>
          </a:p>
        </p:txBody>
      </p:sp>
      <p:pic>
        <p:nvPicPr>
          <p:cNvPr id="228" name="Google Shape;228;p24"/>
          <p:cNvPicPr preferRelativeResize="0"/>
          <p:nvPr/>
        </p:nvPicPr>
        <p:blipFill>
          <a:blip r:embed="rId3">
            <a:alphaModFix/>
          </a:blip>
          <a:stretch>
            <a:fillRect/>
          </a:stretch>
        </p:blipFill>
        <p:spPr>
          <a:xfrm>
            <a:off x="2400" y="1155251"/>
            <a:ext cx="12192002" cy="440324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5"/>
          <p:cNvSpPr txBox="1"/>
          <p:nvPr/>
        </p:nvSpPr>
        <p:spPr>
          <a:xfrm>
            <a:off x="5633225" y="1290175"/>
            <a:ext cx="6607200" cy="10314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US" sz="2200">
                <a:solidFill>
                  <a:schemeClr val="dk1"/>
                </a:solidFill>
              </a:rPr>
              <a:t>The Digital Twin is a tool developed in response to delayed physical testing</a:t>
            </a:r>
            <a:endParaRPr b="1" sz="2200">
              <a:solidFill>
                <a:schemeClr val="dk1"/>
              </a:solidFill>
            </a:endParaRPr>
          </a:p>
        </p:txBody>
      </p:sp>
      <p:sp>
        <p:nvSpPr>
          <p:cNvPr id="235" name="Google Shape;235;p25"/>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Software</a:t>
            </a:r>
            <a:endParaRPr b="1" sz="3600">
              <a:solidFill>
                <a:srgbClr val="000000"/>
              </a:solidFill>
            </a:endParaRPr>
          </a:p>
        </p:txBody>
      </p:sp>
      <p:sp>
        <p:nvSpPr>
          <p:cNvPr id="236" name="Google Shape;236;p25"/>
          <p:cNvSpPr txBox="1"/>
          <p:nvPr/>
        </p:nvSpPr>
        <p:spPr>
          <a:xfrm>
            <a:off x="6936601" y="643925"/>
            <a:ext cx="47346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Digital Twin - ROI</a:t>
            </a:r>
            <a:endParaRPr i="1"/>
          </a:p>
        </p:txBody>
      </p:sp>
      <p:pic>
        <p:nvPicPr>
          <p:cNvPr id="237" name="Google Shape;237;p25"/>
          <p:cNvPicPr preferRelativeResize="0"/>
          <p:nvPr/>
        </p:nvPicPr>
        <p:blipFill>
          <a:blip r:embed="rId3">
            <a:alphaModFix/>
          </a:blip>
          <a:stretch>
            <a:fillRect/>
          </a:stretch>
        </p:blipFill>
        <p:spPr>
          <a:xfrm>
            <a:off x="588175" y="894348"/>
            <a:ext cx="5045049" cy="2600038"/>
          </a:xfrm>
          <a:prstGeom prst="rect">
            <a:avLst/>
          </a:prstGeom>
          <a:noFill/>
          <a:ln>
            <a:noFill/>
          </a:ln>
        </p:spPr>
      </p:pic>
      <p:pic>
        <p:nvPicPr>
          <p:cNvPr id="238" name="Google Shape;238;p25"/>
          <p:cNvPicPr preferRelativeResize="0"/>
          <p:nvPr/>
        </p:nvPicPr>
        <p:blipFill>
          <a:blip r:embed="rId4">
            <a:alphaModFix/>
          </a:blip>
          <a:stretch>
            <a:fillRect/>
          </a:stretch>
        </p:blipFill>
        <p:spPr>
          <a:xfrm>
            <a:off x="483625" y="3527315"/>
            <a:ext cx="5045058" cy="2596050"/>
          </a:xfrm>
          <a:prstGeom prst="rect">
            <a:avLst/>
          </a:prstGeom>
          <a:noFill/>
          <a:ln>
            <a:noFill/>
          </a:ln>
        </p:spPr>
      </p:pic>
      <p:sp>
        <p:nvSpPr>
          <p:cNvPr id="239" name="Google Shape;239;p25"/>
          <p:cNvSpPr txBox="1"/>
          <p:nvPr/>
        </p:nvSpPr>
        <p:spPr>
          <a:xfrm>
            <a:off x="5746475" y="2481438"/>
            <a:ext cx="6380700" cy="2333100"/>
          </a:xfrm>
          <a:prstGeom prst="rect">
            <a:avLst/>
          </a:prstGeom>
          <a:noFill/>
          <a:ln>
            <a:noFill/>
          </a:ln>
        </p:spPr>
        <p:txBody>
          <a:bodyPr anchorCtr="0" anchor="t" bIns="91425" lIns="91425" spcFirstLastPara="1" rIns="91425" wrap="square" tIns="91425">
            <a:noAutofit/>
          </a:bodyPr>
          <a:lstStyle/>
          <a:p>
            <a:pPr indent="-368300" lvl="0" marL="457200" rtl="0" algn="l">
              <a:lnSpc>
                <a:spcPct val="200000"/>
              </a:lnSpc>
              <a:spcBef>
                <a:spcPts val="0"/>
              </a:spcBef>
              <a:spcAft>
                <a:spcPts val="0"/>
              </a:spcAft>
              <a:buSzPts val="2200"/>
              <a:buChar char="●"/>
            </a:pPr>
            <a:r>
              <a:rPr lang="en-US" sz="2200">
                <a:solidFill>
                  <a:schemeClr val="dk1"/>
                </a:solidFill>
              </a:rPr>
              <a:t>Saving time through</a:t>
            </a:r>
            <a:r>
              <a:rPr lang="en-US" sz="2200">
                <a:solidFill>
                  <a:schemeClr val="dk1"/>
                </a:solidFill>
              </a:rPr>
              <a:t> virtual experimentation</a:t>
            </a:r>
            <a:r>
              <a:rPr lang="en-US" sz="2200">
                <a:solidFill>
                  <a:schemeClr val="dk1"/>
                </a:solidFill>
              </a:rPr>
              <a:t> </a:t>
            </a:r>
            <a:endParaRPr sz="2200">
              <a:solidFill>
                <a:schemeClr val="dk1"/>
              </a:solidFill>
            </a:endParaRPr>
          </a:p>
          <a:p>
            <a:pPr indent="-368300" lvl="0" marL="457200" rtl="0" algn="l">
              <a:lnSpc>
                <a:spcPct val="200000"/>
              </a:lnSpc>
              <a:spcBef>
                <a:spcPts val="0"/>
              </a:spcBef>
              <a:spcAft>
                <a:spcPts val="0"/>
              </a:spcAft>
              <a:buClr>
                <a:schemeClr val="dk1"/>
              </a:buClr>
              <a:buSzPts val="2200"/>
              <a:buChar char="●"/>
            </a:pPr>
            <a:r>
              <a:rPr lang="en-US" sz="2200">
                <a:solidFill>
                  <a:schemeClr val="dk1"/>
                </a:solidFill>
              </a:rPr>
              <a:t>Preventative instead of Reactive Measures</a:t>
            </a:r>
            <a:endParaRPr sz="2200">
              <a:solidFill>
                <a:schemeClr val="dk1"/>
              </a:solidFill>
            </a:endParaRPr>
          </a:p>
          <a:p>
            <a:pPr indent="-368300" lvl="0" marL="457200" rtl="0" algn="l">
              <a:lnSpc>
                <a:spcPct val="200000"/>
              </a:lnSpc>
              <a:spcBef>
                <a:spcPts val="0"/>
              </a:spcBef>
              <a:spcAft>
                <a:spcPts val="0"/>
              </a:spcAft>
              <a:buClr>
                <a:schemeClr val="dk1"/>
              </a:buClr>
              <a:buSzPts val="2200"/>
              <a:buChar char="●"/>
            </a:pPr>
            <a:r>
              <a:rPr lang="en-US" sz="2200">
                <a:solidFill>
                  <a:schemeClr val="dk1"/>
                </a:solidFill>
              </a:rPr>
              <a:t>Physical Testing with </a:t>
            </a:r>
            <a:r>
              <a:rPr lang="en-US" sz="2200">
                <a:solidFill>
                  <a:schemeClr val="dk1"/>
                </a:solidFill>
              </a:rPr>
              <a:t>a priori</a:t>
            </a:r>
            <a:r>
              <a:rPr lang="en-US" sz="2200">
                <a:solidFill>
                  <a:schemeClr val="dk1"/>
                </a:solidFill>
              </a:rPr>
              <a:t> knowledge</a:t>
            </a:r>
            <a:endParaRPr sz="2200">
              <a:solidFill>
                <a:schemeClr val="dk1"/>
              </a:solidFill>
            </a:endParaRPr>
          </a:p>
          <a:p>
            <a:pPr indent="-368300" lvl="0" marL="457200" rtl="0" algn="l">
              <a:lnSpc>
                <a:spcPct val="100000"/>
              </a:lnSpc>
              <a:spcBef>
                <a:spcPts val="0"/>
              </a:spcBef>
              <a:spcAft>
                <a:spcPts val="0"/>
              </a:spcAft>
              <a:buClr>
                <a:schemeClr val="dk1"/>
              </a:buClr>
              <a:buSzPts val="2200"/>
              <a:buChar char="●"/>
            </a:pPr>
            <a:r>
              <a:rPr lang="en-US" sz="2200">
                <a:solidFill>
                  <a:schemeClr val="dk1"/>
                </a:solidFill>
              </a:rPr>
              <a:t>Simulation Return on Investment Include:</a:t>
            </a:r>
            <a:endParaRPr sz="2200">
              <a:solidFill>
                <a:schemeClr val="dk1"/>
              </a:solidFill>
            </a:endParaRPr>
          </a:p>
          <a:p>
            <a:pPr indent="-355600" lvl="1" marL="914400" rtl="0" algn="l">
              <a:lnSpc>
                <a:spcPct val="100000"/>
              </a:lnSpc>
              <a:spcBef>
                <a:spcPts val="0"/>
              </a:spcBef>
              <a:spcAft>
                <a:spcPts val="0"/>
              </a:spcAft>
              <a:buClr>
                <a:schemeClr val="dk1"/>
              </a:buClr>
              <a:buSzPts val="2000"/>
              <a:buChar char="○"/>
            </a:pPr>
            <a:r>
              <a:rPr lang="en-US" sz="2000">
                <a:solidFill>
                  <a:schemeClr val="dk1"/>
                </a:solidFill>
              </a:rPr>
              <a:t>Hysteresis</a:t>
            </a:r>
            <a:r>
              <a:rPr lang="en-US" sz="2000">
                <a:solidFill>
                  <a:schemeClr val="dk1"/>
                </a:solidFill>
              </a:rPr>
              <a:t> Control </a:t>
            </a:r>
            <a:endParaRPr sz="2000">
              <a:solidFill>
                <a:schemeClr val="dk1"/>
              </a:solidFill>
            </a:endParaRPr>
          </a:p>
          <a:p>
            <a:pPr indent="-355600" lvl="1" marL="914400" rtl="0" algn="l">
              <a:lnSpc>
                <a:spcPct val="100000"/>
              </a:lnSpc>
              <a:spcBef>
                <a:spcPts val="0"/>
              </a:spcBef>
              <a:spcAft>
                <a:spcPts val="0"/>
              </a:spcAft>
              <a:buClr>
                <a:schemeClr val="dk1"/>
              </a:buClr>
              <a:buSzPts val="2000"/>
              <a:buChar char="○"/>
            </a:pPr>
            <a:r>
              <a:rPr lang="en-US" sz="2000">
                <a:solidFill>
                  <a:schemeClr val="dk1"/>
                </a:solidFill>
              </a:rPr>
              <a:t>Initial Transient Response Strategy</a:t>
            </a:r>
            <a:endParaRPr sz="2000">
              <a:solidFill>
                <a:schemeClr val="dk1"/>
              </a:solidFill>
            </a:endParaRPr>
          </a:p>
          <a:p>
            <a:pPr indent="-355600" lvl="1" marL="914400" rtl="0" algn="l">
              <a:lnSpc>
                <a:spcPct val="100000"/>
              </a:lnSpc>
              <a:spcBef>
                <a:spcPts val="0"/>
              </a:spcBef>
              <a:spcAft>
                <a:spcPts val="0"/>
              </a:spcAft>
              <a:buClr>
                <a:schemeClr val="dk1"/>
              </a:buClr>
              <a:buSzPts val="2000"/>
              <a:buChar char="○"/>
            </a:pPr>
            <a:r>
              <a:rPr lang="en-US" sz="2000">
                <a:solidFill>
                  <a:schemeClr val="dk1"/>
                </a:solidFill>
              </a:rPr>
              <a:t>ΔSP Regulation Algorithm</a:t>
            </a:r>
            <a:endParaRPr sz="2000">
              <a:solidFill>
                <a:schemeClr val="dk1"/>
              </a:solidFill>
            </a:endParaRPr>
          </a:p>
          <a:p>
            <a:pPr indent="-355600" lvl="1" marL="914400" rtl="0" algn="l">
              <a:lnSpc>
                <a:spcPct val="100000"/>
              </a:lnSpc>
              <a:spcBef>
                <a:spcPts val="0"/>
              </a:spcBef>
              <a:spcAft>
                <a:spcPts val="0"/>
              </a:spcAft>
              <a:buClr>
                <a:schemeClr val="dk1"/>
              </a:buClr>
              <a:buSzPts val="2000"/>
              <a:buChar char="○"/>
            </a:pPr>
            <a:r>
              <a:rPr lang="en-US" sz="2000">
                <a:solidFill>
                  <a:schemeClr val="dk1"/>
                </a:solidFill>
              </a:rPr>
              <a:t>PID Controller Tuning</a:t>
            </a:r>
            <a:endParaRPr sz="2000">
              <a:solidFill>
                <a:schemeClr val="dk1"/>
              </a:solidFill>
            </a:endParaRPr>
          </a:p>
          <a:p>
            <a:pPr indent="-355600" lvl="1" marL="914400" rtl="0" algn="l">
              <a:lnSpc>
                <a:spcPct val="100000"/>
              </a:lnSpc>
              <a:spcBef>
                <a:spcPts val="0"/>
              </a:spcBef>
              <a:spcAft>
                <a:spcPts val="0"/>
              </a:spcAft>
              <a:buClr>
                <a:schemeClr val="dk1"/>
              </a:buClr>
              <a:buSzPts val="2000"/>
              <a:buChar char="○"/>
            </a:pPr>
            <a:r>
              <a:rPr lang="en-US" sz="2000">
                <a:solidFill>
                  <a:schemeClr val="dk1"/>
                </a:solidFill>
              </a:rPr>
              <a:t>Dynamic Hydraulic Regulation Algorithm</a:t>
            </a:r>
            <a:endParaRPr sz="2000">
              <a:solidFill>
                <a:schemeClr val="dk1"/>
              </a:solidFill>
            </a:endParaRPr>
          </a:p>
          <a:p>
            <a:pPr indent="0" lvl="0" marL="0" rtl="0" algn="l">
              <a:lnSpc>
                <a:spcPct val="150000"/>
              </a:lnSpc>
              <a:spcBef>
                <a:spcPts val="0"/>
              </a:spcBef>
              <a:spcAft>
                <a:spcPts val="0"/>
              </a:spcAft>
              <a:buNone/>
            </a:pPr>
            <a:r>
              <a:t/>
            </a:r>
            <a:endParaRPr sz="2200">
              <a:solidFill>
                <a:schemeClr val="dk1"/>
              </a:solidFill>
            </a:endParaRPr>
          </a:p>
          <a:p>
            <a:pPr indent="0" lvl="0" marL="0" rtl="0" algn="l">
              <a:lnSpc>
                <a:spcPct val="150000"/>
              </a:lnSpc>
              <a:spcBef>
                <a:spcPts val="0"/>
              </a:spcBef>
              <a:spcAft>
                <a:spcPts val="0"/>
              </a:spcAft>
              <a:buNone/>
            </a:pPr>
            <a:r>
              <a:t/>
            </a:r>
            <a:endParaRPr sz="2200">
              <a:solidFill>
                <a:schemeClr val="dk1"/>
              </a:solidFill>
            </a:endParaRPr>
          </a:p>
        </p:txBody>
      </p:sp>
      <p:sp>
        <p:nvSpPr>
          <p:cNvPr id="240" name="Google Shape;240;p25"/>
          <p:cNvSpPr txBox="1"/>
          <p:nvPr/>
        </p:nvSpPr>
        <p:spPr>
          <a:xfrm>
            <a:off x="483625" y="6051782"/>
            <a:ext cx="5313900" cy="74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100">
                <a:solidFill>
                  <a:schemeClr val="dk1"/>
                </a:solidFill>
              </a:rPr>
              <a:t>Figure CS.2 </a:t>
            </a:r>
            <a:r>
              <a:rPr lang="en-US" sz="1100">
                <a:solidFill>
                  <a:schemeClr val="dk1"/>
                </a:solidFill>
              </a:rPr>
              <a:t>Example of using simulation to test &amp; validate system: (Top) PID response without </a:t>
            </a:r>
            <a:r>
              <a:rPr lang="en-US" sz="1100">
                <a:solidFill>
                  <a:schemeClr val="dk1"/>
                </a:solidFill>
              </a:rPr>
              <a:t>ΔSP (setpoint)  </a:t>
            </a:r>
            <a:r>
              <a:rPr lang="en-US" sz="1100">
                <a:solidFill>
                  <a:schemeClr val="dk1"/>
                </a:solidFill>
              </a:rPr>
              <a:t>regulation. (Bottom) PID response with </a:t>
            </a:r>
            <a:r>
              <a:rPr lang="en-US" sz="1100">
                <a:solidFill>
                  <a:schemeClr val="dk1"/>
                </a:solidFill>
              </a:rPr>
              <a:t>ΔSP </a:t>
            </a:r>
            <a:r>
              <a:rPr lang="en-US" sz="1100">
                <a:solidFill>
                  <a:schemeClr val="dk1"/>
                </a:solidFill>
              </a:rPr>
              <a:t>regulation. Spool pos (position) controls position of </a:t>
            </a:r>
            <a:r>
              <a:rPr lang="en-US" sz="1100">
                <a:solidFill>
                  <a:schemeClr val="dk1"/>
                </a:solidFill>
              </a:rPr>
              <a:t>orifice</a:t>
            </a:r>
            <a:r>
              <a:rPr lang="en-US" sz="1100">
                <a:solidFill>
                  <a:schemeClr val="dk1"/>
                </a:solidFill>
              </a:rPr>
              <a:t> in 3-way valve.</a:t>
            </a:r>
            <a:endParaRPr sz="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6"/>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Software</a:t>
            </a:r>
            <a:endParaRPr b="1" sz="3600">
              <a:solidFill>
                <a:srgbClr val="000000"/>
              </a:solidFill>
            </a:endParaRPr>
          </a:p>
        </p:txBody>
      </p:sp>
      <p:sp>
        <p:nvSpPr>
          <p:cNvPr id="247" name="Google Shape;247;p26"/>
          <p:cNvSpPr txBox="1"/>
          <p:nvPr/>
        </p:nvSpPr>
        <p:spPr>
          <a:xfrm>
            <a:off x="6508850" y="654225"/>
            <a:ext cx="54996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Digital Twin - Validation</a:t>
            </a:r>
            <a:endParaRPr i="1"/>
          </a:p>
        </p:txBody>
      </p:sp>
      <p:graphicFrame>
        <p:nvGraphicFramePr>
          <p:cNvPr id="248" name="Google Shape;248;p26"/>
          <p:cNvGraphicFramePr/>
          <p:nvPr/>
        </p:nvGraphicFramePr>
        <p:xfrm>
          <a:off x="1723125" y="1524818"/>
          <a:ext cx="3000000" cy="3000000"/>
        </p:xfrm>
        <a:graphic>
          <a:graphicData uri="http://schemas.openxmlformats.org/drawingml/2006/table">
            <a:tbl>
              <a:tblPr>
                <a:noFill/>
                <a:tableStyleId>{A630BAC2-E9F3-4A2B-A599-B295203249EC}</a:tableStyleId>
              </a:tblPr>
              <a:tblGrid>
                <a:gridCol w="3559625"/>
                <a:gridCol w="1825800"/>
                <a:gridCol w="1825800"/>
                <a:gridCol w="1396250"/>
              </a:tblGrid>
              <a:tr h="204950">
                <a:tc>
                  <a:txBody>
                    <a:bodyPr/>
                    <a:lstStyle/>
                    <a:p>
                      <a:pPr indent="0" lvl="0" marL="0" rtl="0" algn="l">
                        <a:spcBef>
                          <a:spcPts val="0"/>
                        </a:spcBef>
                        <a:spcAft>
                          <a:spcPts val="0"/>
                        </a:spcAft>
                        <a:buNone/>
                      </a:pPr>
                      <a:r>
                        <a:rPr b="1" lang="en-US" sz="1100"/>
                        <a:t>Measurements</a:t>
                      </a:r>
                      <a:endParaRPr b="1" sz="1100"/>
                    </a:p>
                  </a:txBody>
                  <a:tcPr marT="91425" marB="91425" marR="91425" marL="91425">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US" sz="1100"/>
                        <a:t>Simulation Value</a:t>
                      </a:r>
                      <a:endParaRPr b="1" sz="1100"/>
                    </a:p>
                  </a:txBody>
                  <a:tcPr marT="91425" marB="91425" marR="91425" marL="91425">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US" sz="1100"/>
                        <a:t>Calculated Value</a:t>
                      </a:r>
                      <a:endParaRPr b="1" sz="1100"/>
                    </a:p>
                  </a:txBody>
                  <a:tcPr marT="91425" marB="91425" marR="91425" marL="91425">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US" sz="1100"/>
                        <a:t>% Difference</a:t>
                      </a:r>
                      <a:endParaRPr b="1" sz="1100"/>
                    </a:p>
                  </a:txBody>
                  <a:tcPr marT="91425" marB="91425" marR="91425" marL="91425">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tcPr>
                </a:tc>
              </a:tr>
              <a:tr h="249025">
                <a:tc>
                  <a:txBody>
                    <a:bodyPr/>
                    <a:lstStyle/>
                    <a:p>
                      <a:pPr indent="0" lvl="0" marL="0" rtl="0" algn="l">
                        <a:spcBef>
                          <a:spcPts val="0"/>
                        </a:spcBef>
                        <a:spcAft>
                          <a:spcPts val="0"/>
                        </a:spcAft>
                        <a:buNone/>
                      </a:pPr>
                      <a:r>
                        <a:rPr lang="en-US"/>
                        <a:t>Total Loop Flow (GPM)</a:t>
                      </a:r>
                      <a:endParaRPr/>
                    </a:p>
                  </a:txBody>
                  <a:tcPr marT="91425" marB="91425" marR="91425" marL="91425">
                    <a:lnT cap="flat" cmpd="sng" w="10150">
                      <a:solidFill>
                        <a:srgbClr val="000000"/>
                      </a:solidFill>
                      <a:prstDash val="solid"/>
                      <a:round/>
                      <a:headEnd len="sm" w="sm" type="none"/>
                      <a:tailEnd len="sm" w="sm" type="none"/>
                    </a:lnT>
                    <a:solidFill>
                      <a:srgbClr val="D9D9D9"/>
                    </a:solidFill>
                  </a:tcPr>
                </a:tc>
                <a:tc>
                  <a:txBody>
                    <a:bodyPr/>
                    <a:lstStyle/>
                    <a:p>
                      <a:pPr indent="0" lvl="0" marL="0" rtl="0" algn="r">
                        <a:lnSpc>
                          <a:spcPct val="115000"/>
                        </a:lnSpc>
                        <a:spcBef>
                          <a:spcPts val="0"/>
                        </a:spcBef>
                        <a:spcAft>
                          <a:spcPts val="0"/>
                        </a:spcAft>
                        <a:buNone/>
                      </a:pPr>
                      <a:r>
                        <a:rPr lang="en-US"/>
                        <a:t>5.9129</a:t>
                      </a:r>
                      <a:endParaRPr/>
                    </a:p>
                  </a:txBody>
                  <a:tcPr marT="91425" marB="91425" marR="91425" marL="91425">
                    <a:lnT cap="flat" cmpd="sng" w="10150">
                      <a:solidFill>
                        <a:srgbClr val="000000"/>
                      </a:solidFill>
                      <a:prstDash val="solid"/>
                      <a:round/>
                      <a:headEnd len="sm" w="sm" type="none"/>
                      <a:tailEnd len="sm" w="sm" type="none"/>
                    </a:lnT>
                    <a:solidFill>
                      <a:srgbClr val="D9D9D9"/>
                    </a:solidFill>
                  </a:tcPr>
                </a:tc>
                <a:tc>
                  <a:txBody>
                    <a:bodyPr/>
                    <a:lstStyle/>
                    <a:p>
                      <a:pPr indent="0" lvl="0" marL="0" rtl="0" algn="r">
                        <a:lnSpc>
                          <a:spcPct val="115000"/>
                        </a:lnSpc>
                        <a:spcBef>
                          <a:spcPts val="0"/>
                        </a:spcBef>
                        <a:spcAft>
                          <a:spcPts val="0"/>
                        </a:spcAft>
                        <a:buNone/>
                      </a:pPr>
                      <a:r>
                        <a:rPr lang="en-US"/>
                        <a:t>5.9</a:t>
                      </a:r>
                      <a:endParaRPr/>
                    </a:p>
                  </a:txBody>
                  <a:tcPr marT="91425" marB="91425" marR="91425" marL="91425">
                    <a:lnT cap="flat" cmpd="sng" w="10150">
                      <a:solidFill>
                        <a:srgbClr val="000000"/>
                      </a:solidFill>
                      <a:prstDash val="solid"/>
                      <a:round/>
                      <a:headEnd len="sm" w="sm" type="none"/>
                      <a:tailEnd len="sm" w="sm" type="none"/>
                    </a:lnT>
                    <a:solidFill>
                      <a:srgbClr val="D9D9D9"/>
                    </a:solidFill>
                  </a:tcPr>
                </a:tc>
                <a:tc>
                  <a:txBody>
                    <a:bodyPr/>
                    <a:lstStyle/>
                    <a:p>
                      <a:pPr indent="0" lvl="0" marL="0" rtl="0" algn="r">
                        <a:lnSpc>
                          <a:spcPct val="115000"/>
                        </a:lnSpc>
                        <a:spcBef>
                          <a:spcPts val="0"/>
                        </a:spcBef>
                        <a:spcAft>
                          <a:spcPts val="0"/>
                        </a:spcAft>
                        <a:buNone/>
                      </a:pPr>
                      <a:r>
                        <a:rPr lang="en-US"/>
                        <a:t>0.218405303</a:t>
                      </a:r>
                      <a:endParaRPr/>
                    </a:p>
                  </a:txBody>
                  <a:tcPr marT="91425" marB="91425" marR="91425" marL="91425">
                    <a:lnT cap="flat" cmpd="sng" w="10150">
                      <a:solidFill>
                        <a:srgbClr val="000000"/>
                      </a:solidFill>
                      <a:prstDash val="solid"/>
                      <a:round/>
                      <a:headEnd len="sm" w="sm" type="none"/>
                      <a:tailEnd len="sm" w="sm" type="none"/>
                    </a:lnT>
                    <a:solidFill>
                      <a:srgbClr val="D9D9D9"/>
                    </a:solidFill>
                  </a:tcPr>
                </a:tc>
              </a:tr>
              <a:tr h="249025">
                <a:tc>
                  <a:txBody>
                    <a:bodyPr/>
                    <a:lstStyle/>
                    <a:p>
                      <a:pPr indent="0" lvl="0" marL="0" rtl="0" algn="l">
                        <a:spcBef>
                          <a:spcPts val="0"/>
                        </a:spcBef>
                        <a:spcAft>
                          <a:spcPts val="0"/>
                        </a:spcAft>
                        <a:buNone/>
                      </a:pPr>
                      <a:r>
                        <a:rPr lang="en-US"/>
                        <a:t>DI Loop Flow (GPM)</a:t>
                      </a:r>
                      <a:endParaRPr/>
                    </a:p>
                  </a:txBody>
                  <a:tcPr marT="91425" marB="91425" marR="91425" marL="91425"/>
                </a:tc>
                <a:tc>
                  <a:txBody>
                    <a:bodyPr/>
                    <a:lstStyle/>
                    <a:p>
                      <a:pPr indent="0" lvl="0" marL="0" rtl="0" algn="r">
                        <a:lnSpc>
                          <a:spcPct val="115000"/>
                        </a:lnSpc>
                        <a:spcBef>
                          <a:spcPts val="0"/>
                        </a:spcBef>
                        <a:spcAft>
                          <a:spcPts val="0"/>
                        </a:spcAft>
                        <a:buNone/>
                      </a:pPr>
                      <a:r>
                        <a:rPr lang="en-US"/>
                        <a:t>0.9061</a:t>
                      </a:r>
                      <a:endParaRPr/>
                    </a:p>
                  </a:txBody>
                  <a:tcPr marT="91425" marB="91425" marR="91425" marL="91425"/>
                </a:tc>
                <a:tc>
                  <a:txBody>
                    <a:bodyPr/>
                    <a:lstStyle/>
                    <a:p>
                      <a:pPr indent="0" lvl="0" marL="0" rtl="0" algn="r">
                        <a:lnSpc>
                          <a:spcPct val="115000"/>
                        </a:lnSpc>
                        <a:spcBef>
                          <a:spcPts val="0"/>
                        </a:spcBef>
                        <a:spcAft>
                          <a:spcPts val="0"/>
                        </a:spcAft>
                        <a:buNone/>
                      </a:pPr>
                      <a:r>
                        <a:rPr lang="en-US"/>
                        <a:t>0.9</a:t>
                      </a:r>
                      <a:endParaRPr/>
                    </a:p>
                  </a:txBody>
                  <a:tcPr marT="91425" marB="91425" marR="91425" marL="91425"/>
                </a:tc>
                <a:tc>
                  <a:txBody>
                    <a:bodyPr/>
                    <a:lstStyle/>
                    <a:p>
                      <a:pPr indent="0" lvl="0" marL="0" rtl="0" algn="r">
                        <a:lnSpc>
                          <a:spcPct val="115000"/>
                        </a:lnSpc>
                        <a:spcBef>
                          <a:spcPts val="0"/>
                        </a:spcBef>
                        <a:spcAft>
                          <a:spcPts val="0"/>
                        </a:spcAft>
                        <a:buNone/>
                      </a:pPr>
                      <a:r>
                        <a:rPr lang="en-US"/>
                        <a:t>0.675488622</a:t>
                      </a:r>
                      <a:endParaRPr/>
                    </a:p>
                  </a:txBody>
                  <a:tcPr marT="91425" marB="91425" marR="91425" marL="91425"/>
                </a:tc>
              </a:tr>
              <a:tr h="249025">
                <a:tc>
                  <a:txBody>
                    <a:bodyPr/>
                    <a:lstStyle/>
                    <a:p>
                      <a:pPr indent="0" lvl="0" marL="0" rtl="0" algn="l">
                        <a:spcBef>
                          <a:spcPts val="0"/>
                        </a:spcBef>
                        <a:spcAft>
                          <a:spcPts val="0"/>
                        </a:spcAft>
                        <a:buNone/>
                      </a:pPr>
                      <a:r>
                        <a:rPr lang="en-US"/>
                        <a:t>Main Loop Flow (GPM)</a:t>
                      </a:r>
                      <a:endParaRPr/>
                    </a:p>
                  </a:txBody>
                  <a:tcPr marT="91425" marB="91425" marR="91425" marL="91425">
                    <a:solidFill>
                      <a:srgbClr val="D9D9D9"/>
                    </a:solidFill>
                  </a:tcPr>
                </a:tc>
                <a:tc>
                  <a:txBody>
                    <a:bodyPr/>
                    <a:lstStyle/>
                    <a:p>
                      <a:pPr indent="0" lvl="0" marL="0" rtl="0" algn="r">
                        <a:lnSpc>
                          <a:spcPct val="115000"/>
                        </a:lnSpc>
                        <a:spcBef>
                          <a:spcPts val="0"/>
                        </a:spcBef>
                        <a:spcAft>
                          <a:spcPts val="0"/>
                        </a:spcAft>
                        <a:buNone/>
                      </a:pPr>
                      <a:r>
                        <a:rPr lang="en-US"/>
                        <a:t>5.0069</a:t>
                      </a:r>
                      <a:endParaRPr/>
                    </a:p>
                  </a:txBody>
                  <a:tcPr marT="91425" marB="91425" marR="91425" marL="91425">
                    <a:solidFill>
                      <a:srgbClr val="D9D9D9"/>
                    </a:solidFill>
                  </a:tcPr>
                </a:tc>
                <a:tc>
                  <a:txBody>
                    <a:bodyPr/>
                    <a:lstStyle/>
                    <a:p>
                      <a:pPr indent="0" lvl="0" marL="0" rtl="0" algn="r">
                        <a:lnSpc>
                          <a:spcPct val="115000"/>
                        </a:lnSpc>
                        <a:spcBef>
                          <a:spcPts val="0"/>
                        </a:spcBef>
                        <a:spcAft>
                          <a:spcPts val="0"/>
                        </a:spcAft>
                        <a:buNone/>
                      </a:pPr>
                      <a:r>
                        <a:rPr lang="en-US"/>
                        <a:t>5</a:t>
                      </a:r>
                      <a:endParaRPr/>
                    </a:p>
                  </a:txBody>
                  <a:tcPr marT="91425" marB="91425" marR="91425" marL="91425">
                    <a:solidFill>
                      <a:srgbClr val="D9D9D9"/>
                    </a:solidFill>
                  </a:tcPr>
                </a:tc>
                <a:tc>
                  <a:txBody>
                    <a:bodyPr/>
                    <a:lstStyle/>
                    <a:p>
                      <a:pPr indent="0" lvl="0" marL="0" rtl="0" algn="r">
                        <a:lnSpc>
                          <a:spcPct val="115000"/>
                        </a:lnSpc>
                        <a:spcBef>
                          <a:spcPts val="0"/>
                        </a:spcBef>
                        <a:spcAft>
                          <a:spcPts val="0"/>
                        </a:spcAft>
                        <a:buNone/>
                      </a:pPr>
                      <a:r>
                        <a:rPr lang="en-US"/>
                        <a:t>0.137904846</a:t>
                      </a:r>
                      <a:endParaRPr/>
                    </a:p>
                  </a:txBody>
                  <a:tcPr marT="91425" marB="91425" marR="91425" marL="91425">
                    <a:solidFill>
                      <a:srgbClr val="D9D9D9"/>
                    </a:solidFill>
                  </a:tcPr>
                </a:tc>
              </a:tr>
              <a:tr h="249025">
                <a:tc>
                  <a:txBody>
                    <a:bodyPr/>
                    <a:lstStyle/>
                    <a:p>
                      <a:pPr indent="0" lvl="0" marL="0" rtl="0" algn="l">
                        <a:spcBef>
                          <a:spcPts val="0"/>
                        </a:spcBef>
                        <a:spcAft>
                          <a:spcPts val="0"/>
                        </a:spcAft>
                        <a:buNone/>
                      </a:pPr>
                      <a:r>
                        <a:rPr lang="en-US"/>
                        <a:t>Steady State Temp (°C)</a:t>
                      </a:r>
                      <a:endParaRPr/>
                    </a:p>
                  </a:txBody>
                  <a:tcPr marT="91425" marB="91425" marR="91425" marL="91425"/>
                </a:tc>
                <a:tc>
                  <a:txBody>
                    <a:bodyPr/>
                    <a:lstStyle/>
                    <a:p>
                      <a:pPr indent="0" lvl="0" marL="0" rtl="0" algn="r">
                        <a:lnSpc>
                          <a:spcPct val="115000"/>
                        </a:lnSpc>
                        <a:spcBef>
                          <a:spcPts val="0"/>
                        </a:spcBef>
                        <a:spcAft>
                          <a:spcPts val="0"/>
                        </a:spcAft>
                        <a:buNone/>
                      </a:pPr>
                      <a:r>
                        <a:rPr lang="en-US"/>
                        <a:t>25.3948</a:t>
                      </a:r>
                      <a:endParaRPr/>
                    </a:p>
                  </a:txBody>
                  <a:tcPr marT="91425" marB="91425" marR="91425" marL="91425"/>
                </a:tc>
                <a:tc>
                  <a:txBody>
                    <a:bodyPr/>
                    <a:lstStyle/>
                    <a:p>
                      <a:pPr indent="0" lvl="0" marL="0" rtl="0" algn="r">
                        <a:lnSpc>
                          <a:spcPct val="115000"/>
                        </a:lnSpc>
                        <a:spcBef>
                          <a:spcPts val="0"/>
                        </a:spcBef>
                        <a:spcAft>
                          <a:spcPts val="0"/>
                        </a:spcAft>
                        <a:buNone/>
                      </a:pPr>
                      <a:r>
                        <a:rPr lang="en-US"/>
                        <a:t>26.87</a:t>
                      </a:r>
                      <a:endParaRPr/>
                    </a:p>
                  </a:txBody>
                  <a:tcPr marT="91425" marB="91425" marR="91425" marL="91425"/>
                </a:tc>
                <a:tc>
                  <a:txBody>
                    <a:bodyPr/>
                    <a:lstStyle/>
                    <a:p>
                      <a:pPr indent="0" lvl="0" marL="0" rtl="0" algn="r">
                        <a:lnSpc>
                          <a:spcPct val="115000"/>
                        </a:lnSpc>
                        <a:spcBef>
                          <a:spcPts val="0"/>
                        </a:spcBef>
                        <a:spcAft>
                          <a:spcPts val="0"/>
                        </a:spcAft>
                        <a:buNone/>
                      </a:pPr>
                      <a:r>
                        <a:rPr lang="en-US"/>
                        <a:t>5.64509957</a:t>
                      </a:r>
                      <a:endParaRPr/>
                    </a:p>
                  </a:txBody>
                  <a:tcPr marT="91425" marB="91425" marR="91425" marL="91425"/>
                </a:tc>
              </a:tr>
              <a:tr h="249025">
                <a:tc>
                  <a:txBody>
                    <a:bodyPr/>
                    <a:lstStyle/>
                    <a:p>
                      <a:pPr indent="0" lvl="0" marL="0" rtl="0" algn="l">
                        <a:spcBef>
                          <a:spcPts val="0"/>
                        </a:spcBef>
                        <a:spcAft>
                          <a:spcPts val="0"/>
                        </a:spcAft>
                        <a:buNone/>
                      </a:pPr>
                      <a:r>
                        <a:rPr lang="en-US"/>
                        <a:t>Pump Outlet Pressure (Gauge PSI)</a:t>
                      </a:r>
                      <a:endParaRPr/>
                    </a:p>
                  </a:txBody>
                  <a:tcPr marT="91425" marB="91425" marR="91425" marL="91425">
                    <a:solidFill>
                      <a:srgbClr val="D9D9D9"/>
                    </a:solidFill>
                  </a:tcPr>
                </a:tc>
                <a:tc>
                  <a:txBody>
                    <a:bodyPr/>
                    <a:lstStyle/>
                    <a:p>
                      <a:pPr indent="0" lvl="0" marL="0" rtl="0" algn="r">
                        <a:lnSpc>
                          <a:spcPct val="115000"/>
                        </a:lnSpc>
                        <a:spcBef>
                          <a:spcPts val="0"/>
                        </a:spcBef>
                        <a:spcAft>
                          <a:spcPts val="0"/>
                        </a:spcAft>
                        <a:buNone/>
                      </a:pPr>
                      <a:r>
                        <a:rPr lang="en-US"/>
                        <a:t>8.3829</a:t>
                      </a:r>
                      <a:endParaRPr/>
                    </a:p>
                  </a:txBody>
                  <a:tcPr marT="91425" marB="91425" marR="91425" marL="91425">
                    <a:solidFill>
                      <a:srgbClr val="D9D9D9"/>
                    </a:solidFill>
                  </a:tcPr>
                </a:tc>
                <a:tc>
                  <a:txBody>
                    <a:bodyPr/>
                    <a:lstStyle/>
                    <a:p>
                      <a:pPr indent="0" lvl="0" marL="0" rtl="0" algn="r">
                        <a:lnSpc>
                          <a:spcPct val="115000"/>
                        </a:lnSpc>
                        <a:spcBef>
                          <a:spcPts val="0"/>
                        </a:spcBef>
                        <a:spcAft>
                          <a:spcPts val="0"/>
                        </a:spcAft>
                        <a:buNone/>
                      </a:pPr>
                      <a:r>
                        <a:rPr lang="en-US"/>
                        <a:t>8.23</a:t>
                      </a:r>
                      <a:endParaRPr/>
                    </a:p>
                  </a:txBody>
                  <a:tcPr marT="91425" marB="91425" marR="91425" marL="91425">
                    <a:solidFill>
                      <a:srgbClr val="D9D9D9"/>
                    </a:solidFill>
                  </a:tcPr>
                </a:tc>
                <a:tc>
                  <a:txBody>
                    <a:bodyPr/>
                    <a:lstStyle/>
                    <a:p>
                      <a:pPr indent="0" lvl="0" marL="0" rtl="0" algn="r">
                        <a:lnSpc>
                          <a:spcPct val="115000"/>
                        </a:lnSpc>
                        <a:spcBef>
                          <a:spcPts val="0"/>
                        </a:spcBef>
                        <a:spcAft>
                          <a:spcPts val="0"/>
                        </a:spcAft>
                        <a:buNone/>
                      </a:pPr>
                      <a:r>
                        <a:rPr lang="en-US"/>
                        <a:t>1.840738222</a:t>
                      </a:r>
                      <a:endParaRPr/>
                    </a:p>
                  </a:txBody>
                  <a:tcPr marT="91425" marB="91425" marR="91425" marL="91425">
                    <a:solidFill>
                      <a:srgbClr val="D9D9D9"/>
                    </a:solidFill>
                  </a:tcPr>
                </a:tc>
              </a:tr>
              <a:tr h="249025">
                <a:tc>
                  <a:txBody>
                    <a:bodyPr/>
                    <a:lstStyle/>
                    <a:p>
                      <a:pPr indent="0" lvl="0" marL="0" rtl="0" algn="l">
                        <a:spcBef>
                          <a:spcPts val="0"/>
                        </a:spcBef>
                        <a:spcAft>
                          <a:spcPts val="0"/>
                        </a:spcAft>
                        <a:buNone/>
                      </a:pPr>
                      <a:r>
                        <a:rPr lang="en-US"/>
                        <a:t>Pump Inlet Pressure (Gauge PSI)</a:t>
                      </a:r>
                      <a:endParaRPr/>
                    </a:p>
                  </a:txBody>
                  <a:tcPr marT="91425" marB="91425" marR="91425" marL="91425">
                    <a:lnB cap="flat" cmpd="sng" w="10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t>0.2245</a:t>
                      </a:r>
                      <a:endParaRPr/>
                    </a:p>
                  </a:txBody>
                  <a:tcPr marT="91425" marB="91425" marR="91425" marL="91425">
                    <a:lnB cap="flat" cmpd="sng" w="10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t>0.21</a:t>
                      </a:r>
                      <a:endParaRPr/>
                    </a:p>
                  </a:txBody>
                  <a:tcPr marT="91425" marB="91425" marR="91425" marL="91425">
                    <a:lnB cap="flat" cmpd="sng" w="10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t>6.904761905</a:t>
                      </a:r>
                      <a:endParaRPr/>
                    </a:p>
                  </a:txBody>
                  <a:tcPr marT="91425" marB="91425" marR="91425" marL="91425">
                    <a:lnB cap="flat" cmpd="sng" w="10150">
                      <a:solidFill>
                        <a:srgbClr val="000000"/>
                      </a:solidFill>
                      <a:prstDash val="solid"/>
                      <a:round/>
                      <a:headEnd len="sm" w="sm" type="none"/>
                      <a:tailEnd len="sm" w="sm" type="none"/>
                    </a:lnB>
                  </a:tcPr>
                </a:tc>
              </a:tr>
            </a:tbl>
          </a:graphicData>
        </a:graphic>
      </p:graphicFrame>
      <p:sp>
        <p:nvSpPr>
          <p:cNvPr id="249" name="Google Shape;249;p26"/>
          <p:cNvSpPr txBox="1"/>
          <p:nvPr/>
        </p:nvSpPr>
        <p:spPr>
          <a:xfrm>
            <a:off x="1723063" y="1201197"/>
            <a:ext cx="86076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a:solidFill>
                  <a:schemeClr val="dk1"/>
                </a:solidFill>
              </a:rPr>
              <a:t>Table </a:t>
            </a:r>
            <a:r>
              <a:rPr b="1" lang="en-US">
                <a:solidFill>
                  <a:schemeClr val="dk1"/>
                </a:solidFill>
              </a:rPr>
              <a:t>CS.1 </a:t>
            </a:r>
            <a:r>
              <a:rPr lang="en-US">
                <a:solidFill>
                  <a:schemeClr val="dk1"/>
                </a:solidFill>
              </a:rPr>
              <a:t>Comparison of calculated MEEN and simulation results. (100% HX Throughput)</a:t>
            </a:r>
            <a:endParaRPr sz="1100"/>
          </a:p>
        </p:txBody>
      </p:sp>
      <p:sp>
        <p:nvSpPr>
          <p:cNvPr id="250" name="Google Shape;250;p26"/>
          <p:cNvSpPr txBox="1"/>
          <p:nvPr/>
        </p:nvSpPr>
        <p:spPr>
          <a:xfrm>
            <a:off x="1723050" y="4664154"/>
            <a:ext cx="8607600" cy="1647000"/>
          </a:xfrm>
          <a:prstGeom prst="rect">
            <a:avLst/>
          </a:prstGeom>
          <a:noFill/>
          <a:ln>
            <a:noFill/>
          </a:ln>
        </p:spPr>
        <p:txBody>
          <a:bodyPr anchorCtr="0" anchor="t" bIns="91425" lIns="91425" spcFirstLastPara="1" rIns="91425" wrap="square" tIns="91425">
            <a:spAutoFit/>
          </a:bodyPr>
          <a:lstStyle/>
          <a:p>
            <a:pPr indent="-349250" lvl="0" marL="457200" rtl="0" algn="l">
              <a:lnSpc>
                <a:spcPct val="200000"/>
              </a:lnSpc>
              <a:spcBef>
                <a:spcPts val="0"/>
              </a:spcBef>
              <a:spcAft>
                <a:spcPts val="0"/>
              </a:spcAft>
              <a:buSzPts val="1900"/>
              <a:buChar char="●"/>
            </a:pPr>
            <a:r>
              <a:rPr lang="en-US" sz="1900">
                <a:solidFill>
                  <a:schemeClr val="dk1"/>
                </a:solidFill>
              </a:rPr>
              <a:t>Calculated values obtained from MEENs</a:t>
            </a:r>
            <a:endParaRPr sz="1900">
              <a:solidFill>
                <a:schemeClr val="dk1"/>
              </a:solidFill>
            </a:endParaRPr>
          </a:p>
          <a:p>
            <a:pPr indent="-349250" lvl="0" marL="457200" rtl="0" algn="l">
              <a:lnSpc>
                <a:spcPct val="200000"/>
              </a:lnSpc>
              <a:spcBef>
                <a:spcPts val="0"/>
              </a:spcBef>
              <a:spcAft>
                <a:spcPts val="0"/>
              </a:spcAft>
              <a:buSzPts val="1900"/>
              <a:buChar char="●"/>
            </a:pPr>
            <a:r>
              <a:rPr lang="en-US" sz="1900">
                <a:solidFill>
                  <a:schemeClr val="dk1"/>
                </a:solidFill>
              </a:rPr>
              <a:t>All flow directed into heat exchanger loop through out simulation duration</a:t>
            </a:r>
            <a:endParaRPr sz="1900">
              <a:solidFill>
                <a:schemeClr val="dk1"/>
              </a:solidFill>
            </a:endParaRPr>
          </a:p>
          <a:p>
            <a:pPr indent="-349250" lvl="0" marL="457200" rtl="0" algn="l">
              <a:lnSpc>
                <a:spcPct val="200000"/>
              </a:lnSpc>
              <a:spcBef>
                <a:spcPts val="0"/>
              </a:spcBef>
              <a:spcAft>
                <a:spcPts val="0"/>
              </a:spcAft>
              <a:buSzPts val="1900"/>
              <a:buChar char="●"/>
            </a:pPr>
            <a:r>
              <a:rPr lang="en-US" sz="1900">
                <a:solidFill>
                  <a:schemeClr val="dk1"/>
                </a:solidFill>
              </a:rPr>
              <a:t>Simulation &amp; calculated value differences within tolerable ranges</a:t>
            </a:r>
            <a:r>
              <a:rPr lang="en-US" sz="1900">
                <a:solidFill>
                  <a:schemeClr val="dk1"/>
                </a:solidFill>
              </a:rPr>
              <a:t> </a:t>
            </a:r>
            <a:endParaRPr sz="19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7"/>
          <p:cNvSpPr txBox="1"/>
          <p:nvPr/>
        </p:nvSpPr>
        <p:spPr>
          <a:xfrm>
            <a:off x="6415800" y="0"/>
            <a:ext cx="57762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t>Control Software</a:t>
            </a:r>
            <a:endParaRPr b="1" sz="3600">
              <a:solidFill>
                <a:srgbClr val="000000"/>
              </a:solidFill>
            </a:endParaRPr>
          </a:p>
        </p:txBody>
      </p:sp>
      <p:sp>
        <p:nvSpPr>
          <p:cNvPr id="257" name="Google Shape;257;p27"/>
          <p:cNvSpPr txBox="1"/>
          <p:nvPr/>
        </p:nvSpPr>
        <p:spPr>
          <a:xfrm>
            <a:off x="6554100" y="609125"/>
            <a:ext cx="54996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700">
                <a:solidFill>
                  <a:schemeClr val="dk1"/>
                </a:solidFill>
              </a:rPr>
              <a:t>PLC Point List</a:t>
            </a:r>
            <a:endParaRPr i="1"/>
          </a:p>
        </p:txBody>
      </p:sp>
      <p:sp>
        <p:nvSpPr>
          <p:cNvPr id="258" name="Google Shape;258;p27"/>
          <p:cNvSpPr txBox="1"/>
          <p:nvPr/>
        </p:nvSpPr>
        <p:spPr>
          <a:xfrm>
            <a:off x="152388" y="2782655"/>
            <a:ext cx="86076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a:solidFill>
                  <a:schemeClr val="dk1"/>
                </a:solidFill>
              </a:rPr>
              <a:t>Figure </a:t>
            </a:r>
            <a:r>
              <a:rPr b="1" lang="en-US">
                <a:solidFill>
                  <a:schemeClr val="dk1"/>
                </a:solidFill>
              </a:rPr>
              <a:t>CS.3 </a:t>
            </a:r>
            <a:r>
              <a:rPr lang="en-US">
                <a:solidFill>
                  <a:schemeClr val="dk1"/>
                </a:solidFill>
              </a:rPr>
              <a:t>Snapshot of of PLC Point List. Subset of Fault &amp; Physical Signals</a:t>
            </a:r>
            <a:endParaRPr sz="1100"/>
          </a:p>
        </p:txBody>
      </p:sp>
      <p:sp>
        <p:nvSpPr>
          <p:cNvPr id="259" name="Google Shape;259;p27"/>
          <p:cNvSpPr txBox="1"/>
          <p:nvPr/>
        </p:nvSpPr>
        <p:spPr>
          <a:xfrm>
            <a:off x="152400" y="3580434"/>
            <a:ext cx="6770700" cy="1647000"/>
          </a:xfrm>
          <a:prstGeom prst="rect">
            <a:avLst/>
          </a:prstGeom>
          <a:noFill/>
          <a:ln>
            <a:noFill/>
          </a:ln>
        </p:spPr>
        <p:txBody>
          <a:bodyPr anchorCtr="0" anchor="t" bIns="91425" lIns="91425" spcFirstLastPara="1" rIns="91425" wrap="square" tIns="91425">
            <a:spAutoFit/>
          </a:bodyPr>
          <a:lstStyle/>
          <a:p>
            <a:pPr indent="-349250" lvl="0" marL="457200" rtl="0" algn="l">
              <a:lnSpc>
                <a:spcPct val="200000"/>
              </a:lnSpc>
              <a:spcBef>
                <a:spcPts val="0"/>
              </a:spcBef>
              <a:spcAft>
                <a:spcPts val="0"/>
              </a:spcAft>
              <a:buClr>
                <a:schemeClr val="dk1"/>
              </a:buClr>
              <a:buSzPts val="1900"/>
              <a:buChar char="●"/>
            </a:pPr>
            <a:r>
              <a:rPr lang="en-US" sz="1900">
                <a:solidFill>
                  <a:schemeClr val="dk1"/>
                </a:solidFill>
              </a:rPr>
              <a:t>Fundamental Key for Software &amp; Hardware Comms.</a:t>
            </a:r>
            <a:endParaRPr sz="1900">
              <a:solidFill>
                <a:schemeClr val="dk1"/>
              </a:solidFill>
            </a:endParaRPr>
          </a:p>
          <a:p>
            <a:pPr indent="-349250" lvl="0" marL="457200" rtl="0" algn="l">
              <a:lnSpc>
                <a:spcPct val="200000"/>
              </a:lnSpc>
              <a:spcBef>
                <a:spcPts val="0"/>
              </a:spcBef>
              <a:spcAft>
                <a:spcPts val="0"/>
              </a:spcAft>
              <a:buClr>
                <a:schemeClr val="dk1"/>
              </a:buClr>
              <a:buSzPts val="1900"/>
              <a:buChar char="●"/>
            </a:pPr>
            <a:r>
              <a:rPr lang="en-US" sz="1900">
                <a:solidFill>
                  <a:schemeClr val="dk1"/>
                </a:solidFill>
              </a:rPr>
              <a:t>Automatic Addressing in Excel Sheet for modifications </a:t>
            </a:r>
            <a:endParaRPr sz="1900">
              <a:solidFill>
                <a:schemeClr val="dk1"/>
              </a:solidFill>
            </a:endParaRPr>
          </a:p>
          <a:p>
            <a:pPr indent="-349250" lvl="0" marL="457200" rtl="0" algn="l">
              <a:lnSpc>
                <a:spcPct val="200000"/>
              </a:lnSpc>
              <a:spcBef>
                <a:spcPts val="0"/>
              </a:spcBef>
              <a:spcAft>
                <a:spcPts val="0"/>
              </a:spcAft>
              <a:buClr>
                <a:schemeClr val="dk1"/>
              </a:buClr>
              <a:buSzPts val="1900"/>
              <a:buChar char="●"/>
            </a:pPr>
            <a:r>
              <a:rPr lang="en-US" sz="1900">
                <a:solidFill>
                  <a:schemeClr val="dk1"/>
                </a:solidFill>
              </a:rPr>
              <a:t>Necessary for Physical Control System Validation </a:t>
            </a:r>
            <a:endParaRPr sz="1900">
              <a:solidFill>
                <a:schemeClr val="dk1"/>
              </a:solidFill>
            </a:endParaRPr>
          </a:p>
        </p:txBody>
      </p:sp>
      <p:pic>
        <p:nvPicPr>
          <p:cNvPr id="260" name="Google Shape;260;p27"/>
          <p:cNvPicPr preferRelativeResize="0"/>
          <p:nvPr/>
        </p:nvPicPr>
        <p:blipFill>
          <a:blip r:embed="rId3">
            <a:alphaModFix/>
          </a:blip>
          <a:stretch>
            <a:fillRect/>
          </a:stretch>
        </p:blipFill>
        <p:spPr>
          <a:xfrm>
            <a:off x="152400" y="1209427"/>
            <a:ext cx="13494074" cy="1573225"/>
          </a:xfrm>
          <a:prstGeom prst="rect">
            <a:avLst/>
          </a:prstGeom>
          <a:noFill/>
          <a:ln>
            <a:noFill/>
          </a:ln>
        </p:spPr>
      </p:pic>
      <p:sp>
        <p:nvSpPr>
          <p:cNvPr id="261" name="Google Shape;261;p27"/>
          <p:cNvSpPr txBox="1"/>
          <p:nvPr/>
        </p:nvSpPr>
        <p:spPr>
          <a:xfrm>
            <a:off x="6767249" y="6025200"/>
            <a:ext cx="51663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a:solidFill>
                  <a:schemeClr val="dk1"/>
                </a:solidFill>
              </a:rPr>
              <a:t>Figure CS.4: </a:t>
            </a:r>
            <a:r>
              <a:rPr lang="en-US">
                <a:solidFill>
                  <a:schemeClr val="dk1"/>
                </a:solidFill>
              </a:rPr>
              <a:t>Configuration screen on HMI: Lights &amp; Buttons mapped w/ PLC Point List. Excuse potato quality picture</a:t>
            </a:r>
            <a:endParaRPr sz="1100"/>
          </a:p>
        </p:txBody>
      </p:sp>
      <p:pic>
        <p:nvPicPr>
          <p:cNvPr id="262" name="Google Shape;262;p27"/>
          <p:cNvPicPr preferRelativeResize="0"/>
          <p:nvPr/>
        </p:nvPicPr>
        <p:blipFill>
          <a:blip r:embed="rId4">
            <a:alphaModFix/>
          </a:blip>
          <a:stretch>
            <a:fillRect/>
          </a:stretch>
        </p:blipFill>
        <p:spPr>
          <a:xfrm>
            <a:off x="6821850" y="3165005"/>
            <a:ext cx="4964100" cy="2662627"/>
          </a:xfrm>
          <a:prstGeom prst="rect">
            <a:avLst/>
          </a:prstGeom>
          <a:noFill/>
          <a:ln>
            <a:noFill/>
          </a:ln>
        </p:spPr>
      </p:pic>
      <p:sp>
        <p:nvSpPr>
          <p:cNvPr id="263" name="Google Shape;263;p27"/>
          <p:cNvSpPr/>
          <p:nvPr/>
        </p:nvSpPr>
        <p:spPr>
          <a:xfrm>
            <a:off x="7539975" y="3713200"/>
            <a:ext cx="1812000" cy="1416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8"/>
          <p:cNvSpPr txBox="1"/>
          <p:nvPr>
            <p:ph type="title"/>
          </p:nvPr>
        </p:nvSpPr>
        <p:spPr>
          <a:xfrm>
            <a:off x="6521275" y="0"/>
            <a:ext cx="46476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MEEN Integration</a:t>
            </a:r>
            <a:endParaRPr/>
          </a:p>
        </p:txBody>
      </p:sp>
      <p:grpSp>
        <p:nvGrpSpPr>
          <p:cNvPr id="269" name="Google Shape;269;p28"/>
          <p:cNvGrpSpPr/>
          <p:nvPr/>
        </p:nvGrpSpPr>
        <p:grpSpPr>
          <a:xfrm>
            <a:off x="2815513" y="1473325"/>
            <a:ext cx="6560975" cy="4738100"/>
            <a:chOff x="1475225" y="1160175"/>
            <a:chExt cx="6560975" cy="4738100"/>
          </a:xfrm>
        </p:grpSpPr>
        <p:grpSp>
          <p:nvGrpSpPr>
            <p:cNvPr id="270" name="Google Shape;270;p28"/>
            <p:cNvGrpSpPr/>
            <p:nvPr/>
          </p:nvGrpSpPr>
          <p:grpSpPr>
            <a:xfrm>
              <a:off x="1475225" y="1160175"/>
              <a:ext cx="4893126" cy="4738100"/>
              <a:chOff x="2737475" y="1268575"/>
              <a:chExt cx="4893126" cy="4738100"/>
            </a:xfrm>
          </p:grpSpPr>
          <p:pic>
            <p:nvPicPr>
              <p:cNvPr id="271" name="Google Shape;271;p28"/>
              <p:cNvPicPr preferRelativeResize="0"/>
              <p:nvPr/>
            </p:nvPicPr>
            <p:blipFill rotWithShape="1">
              <a:blip r:embed="rId3">
                <a:alphaModFix/>
              </a:blip>
              <a:srcRect b="16163" l="13851" r="33000" t="4099"/>
              <a:stretch/>
            </p:blipFill>
            <p:spPr>
              <a:xfrm>
                <a:off x="2832850" y="1268575"/>
                <a:ext cx="4797751" cy="4540225"/>
              </a:xfrm>
              <a:prstGeom prst="rect">
                <a:avLst/>
              </a:prstGeom>
              <a:noFill/>
              <a:ln>
                <a:noFill/>
              </a:ln>
            </p:spPr>
          </p:pic>
          <p:sp>
            <p:nvSpPr>
              <p:cNvPr id="272" name="Google Shape;272;p28"/>
              <p:cNvSpPr/>
              <p:nvPr/>
            </p:nvSpPr>
            <p:spPr>
              <a:xfrm>
                <a:off x="2737475" y="3862850"/>
                <a:ext cx="1269600" cy="194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3" name="Google Shape;273;p28"/>
              <p:cNvSpPr/>
              <p:nvPr/>
            </p:nvSpPr>
            <p:spPr>
              <a:xfrm>
                <a:off x="5113900" y="5482575"/>
                <a:ext cx="2332800" cy="524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cxnSp>
          <p:nvCxnSpPr>
            <p:cNvPr id="274" name="Google Shape;274;p28"/>
            <p:cNvCxnSpPr/>
            <p:nvPr/>
          </p:nvCxnSpPr>
          <p:spPr>
            <a:xfrm>
              <a:off x="6342000" y="4328850"/>
              <a:ext cx="503400" cy="0"/>
            </a:xfrm>
            <a:prstGeom prst="straightConnector1">
              <a:avLst/>
            </a:prstGeom>
            <a:noFill/>
            <a:ln cap="flat" cmpd="sng" w="19050">
              <a:solidFill>
                <a:schemeClr val="dk1"/>
              </a:solidFill>
              <a:prstDash val="solid"/>
              <a:round/>
              <a:headEnd len="med" w="med" type="none"/>
              <a:tailEnd len="med" w="med" type="none"/>
            </a:ln>
          </p:spPr>
        </p:cxnSp>
        <p:sp>
          <p:nvSpPr>
            <p:cNvPr id="275" name="Google Shape;275;p28"/>
            <p:cNvSpPr txBox="1"/>
            <p:nvPr/>
          </p:nvSpPr>
          <p:spPr>
            <a:xfrm>
              <a:off x="2307375" y="1798275"/>
              <a:ext cx="903300" cy="6159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solidFill>
                    <a:schemeClr val="dk1"/>
                  </a:solidFill>
                </a:rPr>
                <a:t>DI Water </a:t>
              </a:r>
              <a:endParaRPr>
                <a:solidFill>
                  <a:schemeClr val="dk1"/>
                </a:solidFill>
              </a:endParaRPr>
            </a:p>
            <a:p>
              <a:pPr indent="0" lvl="0" marL="0" rtl="0" algn="ctr">
                <a:spcBef>
                  <a:spcPts val="0"/>
                </a:spcBef>
                <a:spcAft>
                  <a:spcPts val="0"/>
                </a:spcAft>
                <a:buNone/>
              </a:pPr>
              <a:r>
                <a:rPr lang="en-US">
                  <a:solidFill>
                    <a:schemeClr val="dk1"/>
                  </a:solidFill>
                </a:rPr>
                <a:t>Tank</a:t>
              </a:r>
              <a:endParaRPr>
                <a:solidFill>
                  <a:schemeClr val="dk1"/>
                </a:solidFill>
              </a:endParaRPr>
            </a:p>
          </p:txBody>
        </p:sp>
        <p:pic>
          <p:nvPicPr>
            <p:cNvPr id="276" name="Google Shape;276;p28"/>
            <p:cNvPicPr preferRelativeResize="0"/>
            <p:nvPr/>
          </p:nvPicPr>
          <p:blipFill rotWithShape="1">
            <a:blip r:embed="rId4">
              <a:alphaModFix/>
            </a:blip>
            <a:srcRect b="6769" l="0" r="0" t="0"/>
            <a:stretch/>
          </p:blipFill>
          <p:spPr>
            <a:xfrm>
              <a:off x="6845400" y="3838325"/>
              <a:ext cx="357725" cy="531975"/>
            </a:xfrm>
            <a:prstGeom prst="rect">
              <a:avLst/>
            </a:prstGeom>
            <a:noFill/>
            <a:ln>
              <a:noFill/>
            </a:ln>
          </p:spPr>
        </p:pic>
        <p:cxnSp>
          <p:nvCxnSpPr>
            <p:cNvPr id="277" name="Google Shape;277;p28"/>
            <p:cNvCxnSpPr/>
            <p:nvPr/>
          </p:nvCxnSpPr>
          <p:spPr>
            <a:xfrm>
              <a:off x="7156750" y="4328850"/>
              <a:ext cx="503400" cy="0"/>
            </a:xfrm>
            <a:prstGeom prst="straightConnector1">
              <a:avLst/>
            </a:prstGeom>
            <a:noFill/>
            <a:ln cap="flat" cmpd="sng" w="19050">
              <a:solidFill>
                <a:schemeClr val="dk1"/>
              </a:solidFill>
              <a:prstDash val="solid"/>
              <a:round/>
              <a:headEnd len="med" w="med" type="none"/>
              <a:tailEnd len="med" w="med" type="none"/>
            </a:ln>
          </p:spPr>
        </p:cxnSp>
        <p:sp>
          <p:nvSpPr>
            <p:cNvPr id="278" name="Google Shape;278;p28"/>
            <p:cNvSpPr/>
            <p:nvPr/>
          </p:nvSpPr>
          <p:spPr>
            <a:xfrm>
              <a:off x="7322200" y="4659525"/>
              <a:ext cx="675900" cy="1932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79" name="Google Shape;279;p28"/>
            <p:cNvCxnSpPr/>
            <p:nvPr/>
          </p:nvCxnSpPr>
          <p:spPr>
            <a:xfrm>
              <a:off x="7660150" y="4319500"/>
              <a:ext cx="0" cy="436200"/>
            </a:xfrm>
            <a:prstGeom prst="straightConnector1">
              <a:avLst/>
            </a:prstGeom>
            <a:noFill/>
            <a:ln cap="flat" cmpd="sng" w="19050">
              <a:solidFill>
                <a:schemeClr val="dk1"/>
              </a:solidFill>
              <a:prstDash val="solid"/>
              <a:round/>
              <a:headEnd len="med" w="med" type="none"/>
              <a:tailEnd len="med" w="med" type="none"/>
            </a:ln>
          </p:spPr>
        </p:cxnSp>
        <p:cxnSp>
          <p:nvCxnSpPr>
            <p:cNvPr id="280" name="Google Shape;280;p28"/>
            <p:cNvCxnSpPr>
              <a:stCxn id="278" idx="2"/>
            </p:cNvCxnSpPr>
            <p:nvPr/>
          </p:nvCxnSpPr>
          <p:spPr>
            <a:xfrm>
              <a:off x="7322200" y="4756125"/>
              <a:ext cx="0" cy="740100"/>
            </a:xfrm>
            <a:prstGeom prst="straightConnector1">
              <a:avLst/>
            </a:prstGeom>
            <a:noFill/>
            <a:ln cap="flat" cmpd="sng" w="9525">
              <a:solidFill>
                <a:schemeClr val="dk1"/>
              </a:solidFill>
              <a:prstDash val="solid"/>
              <a:round/>
              <a:headEnd len="med" w="med" type="none"/>
              <a:tailEnd len="med" w="med" type="none"/>
            </a:ln>
          </p:spPr>
        </p:cxnSp>
        <p:cxnSp>
          <p:nvCxnSpPr>
            <p:cNvPr id="281" name="Google Shape;281;p28"/>
            <p:cNvCxnSpPr>
              <a:stCxn id="278" idx="6"/>
            </p:cNvCxnSpPr>
            <p:nvPr/>
          </p:nvCxnSpPr>
          <p:spPr>
            <a:xfrm>
              <a:off x="7998100" y="4756125"/>
              <a:ext cx="0" cy="743100"/>
            </a:xfrm>
            <a:prstGeom prst="straightConnector1">
              <a:avLst/>
            </a:prstGeom>
            <a:noFill/>
            <a:ln cap="flat" cmpd="sng" w="9525">
              <a:solidFill>
                <a:schemeClr val="dk1"/>
              </a:solidFill>
              <a:prstDash val="solid"/>
              <a:round/>
              <a:headEnd len="med" w="med" type="none"/>
              <a:tailEnd len="med" w="med" type="none"/>
            </a:ln>
          </p:spPr>
        </p:cxnSp>
        <p:cxnSp>
          <p:nvCxnSpPr>
            <p:cNvPr id="282" name="Google Shape;282;p28"/>
            <p:cNvCxnSpPr/>
            <p:nvPr/>
          </p:nvCxnSpPr>
          <p:spPr>
            <a:xfrm rot="10800000">
              <a:off x="7318225" y="5496225"/>
              <a:ext cx="680400" cy="0"/>
            </a:xfrm>
            <a:prstGeom prst="straightConnector1">
              <a:avLst/>
            </a:prstGeom>
            <a:noFill/>
            <a:ln cap="flat" cmpd="sng" w="9525">
              <a:solidFill>
                <a:schemeClr val="dk1"/>
              </a:solidFill>
              <a:prstDash val="solid"/>
              <a:round/>
              <a:headEnd len="med" w="med" type="none"/>
              <a:tailEnd len="med" w="med" type="none"/>
            </a:ln>
          </p:spPr>
        </p:cxnSp>
        <p:sp>
          <p:nvSpPr>
            <p:cNvPr id="283" name="Google Shape;283;p28"/>
            <p:cNvSpPr txBox="1"/>
            <p:nvPr/>
          </p:nvSpPr>
          <p:spPr>
            <a:xfrm>
              <a:off x="7284100" y="4969213"/>
              <a:ext cx="752100" cy="31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solidFill>
                    <a:schemeClr val="dk1"/>
                  </a:solidFill>
                </a:rPr>
                <a:t>Bucket</a:t>
              </a:r>
              <a:endParaRPr>
                <a:solidFill>
                  <a:schemeClr val="dk1"/>
                </a:solidFill>
              </a:endParaRPr>
            </a:p>
          </p:txBody>
        </p:sp>
      </p:grpSp>
      <p:sp>
        <p:nvSpPr>
          <p:cNvPr id="284" name="Google Shape;284;p28"/>
          <p:cNvSpPr txBox="1"/>
          <p:nvPr>
            <p:ph type="title"/>
          </p:nvPr>
        </p:nvSpPr>
        <p:spPr>
          <a:xfrm>
            <a:off x="6521275" y="914400"/>
            <a:ext cx="4647600" cy="2397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44000"/>
              <a:buFont typeface="Arial"/>
              <a:buNone/>
            </a:pPr>
            <a:r>
              <a:rPr b="0" i="1" lang="en-US" sz="2500"/>
              <a:t>Phase II</a:t>
            </a:r>
            <a:endParaRPr b="0" i="1" sz="2500"/>
          </a:p>
        </p:txBody>
      </p:sp>
      <p:sp>
        <p:nvSpPr>
          <p:cNvPr id="285" name="Google Shape;285;p28"/>
          <p:cNvSpPr/>
          <p:nvPr/>
        </p:nvSpPr>
        <p:spPr>
          <a:xfrm>
            <a:off x="7163275" y="1943650"/>
            <a:ext cx="964500" cy="1548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9"/>
          <p:cNvSpPr txBox="1"/>
          <p:nvPr>
            <p:ph type="title"/>
          </p:nvPr>
        </p:nvSpPr>
        <p:spPr>
          <a:xfrm>
            <a:off x="6521275" y="0"/>
            <a:ext cx="46476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MEEN Integration</a:t>
            </a:r>
            <a:endParaRPr/>
          </a:p>
        </p:txBody>
      </p:sp>
      <p:sp>
        <p:nvSpPr>
          <p:cNvPr id="291" name="Google Shape;291;p29"/>
          <p:cNvSpPr txBox="1"/>
          <p:nvPr>
            <p:ph type="title"/>
          </p:nvPr>
        </p:nvSpPr>
        <p:spPr>
          <a:xfrm>
            <a:off x="6521275" y="914400"/>
            <a:ext cx="4647600" cy="2397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44000"/>
              <a:buFont typeface="Arial"/>
              <a:buNone/>
            </a:pPr>
            <a:r>
              <a:rPr b="0" i="1" lang="en-US" sz="2500"/>
              <a:t>Phase II</a:t>
            </a:r>
            <a:endParaRPr b="0" i="1" sz="2500"/>
          </a:p>
        </p:txBody>
      </p:sp>
      <p:sp>
        <p:nvSpPr>
          <p:cNvPr id="292" name="Google Shape;292;p29"/>
          <p:cNvSpPr/>
          <p:nvPr/>
        </p:nvSpPr>
        <p:spPr>
          <a:xfrm>
            <a:off x="7163275" y="1943650"/>
            <a:ext cx="964500" cy="1548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93" name="Google Shape;293;p29"/>
          <p:cNvPicPr preferRelativeResize="0"/>
          <p:nvPr/>
        </p:nvPicPr>
        <p:blipFill>
          <a:blip r:embed="rId3">
            <a:alphaModFix/>
          </a:blip>
          <a:stretch>
            <a:fillRect/>
          </a:stretch>
        </p:blipFill>
        <p:spPr>
          <a:xfrm>
            <a:off x="2666763" y="1306500"/>
            <a:ext cx="6858470" cy="514385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0"/>
          <p:cNvSpPr txBox="1"/>
          <p:nvPr>
            <p:ph type="title"/>
          </p:nvPr>
        </p:nvSpPr>
        <p:spPr>
          <a:xfrm>
            <a:off x="609600" y="2971812"/>
            <a:ext cx="109812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