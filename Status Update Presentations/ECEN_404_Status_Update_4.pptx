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DDDD7-9C0F-4722-96EE-246439F23AC9}">
  <a:tblStyle styleId="{DACDDDD7-9C0F-4722-96EE-246439F23AC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Michelle</a:t>
            </a:r>
            <a:endParaRPr/>
          </a:p>
        </p:txBody>
      </p:sp>
      <p:sp>
        <p:nvSpPr>
          <p:cNvPr id="56" name="Google Shape;5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a7d11e6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g3f8a7d11e6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673dcdc87ef0a4d2_2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h673dcdc87ef0a4d2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8a7d11e69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3f8a7d11e69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673dcdc87ef0a4d2_2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h673dcdc87ef0a4d2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55f133c0bb5e7207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h55f133c0bb5e720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673dcdc87ef0a4d2_2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h673dcdc87ef0a4d2_2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55f133c0bb5e7207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h55f133c0bb5e7207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673dcdc87ef0a4d2_2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h673dcdc87ef0a4d2_2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55f133c0bb5e7207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h55f133c0bb5e7207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673dcdc87ef0a4d2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h673dcdc87ef0a4d2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409e9cd8662_9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409e9cd8662_9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409ef1cdf4f_14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409ef1cdf4f_14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b52ff79a8_1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fb52ff79a8_1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673dcdc87ef0a4d2_2_1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h673dcdc87ef0a4d2_2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409ef1cdf4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409ef1cdf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638ece43b7654ea9_2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8" name="Google Shape;258;h638ece43b7654ea9_2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h638ece43b7654ea9_2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h223ddc9ba5024987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h223ddc9ba5024987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h223ddc9ba5024987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31e1302c568d55e9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31e1302c568d55e9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h31e1302c568d55e9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409ee505ee2_1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409ee505ee2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h31e1302c568d55e9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h31e1302c568d55e9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h31e1302c568d55e9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31e1302c568d55e9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31e1302c568d55e9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h31e1302c568d55e9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1f9fadeecb5a92ed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1f9fadeecb5a92ed_1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h1f9fadeecb5a92ed_1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60dad1f85979f516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60dad1f85979f516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h60dad1f85979f516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60dad1f85979f516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60dad1f85979f516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h60dad1f85979f516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409ee505ee2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409ee505ee2_1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409ee505ee2_1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b52ff79a8_1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fb52ff79a8_1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638ece43b7654ea9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h638ece43b7654ea9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5292777" y="2130426"/>
            <a:ext cx="5984823" cy="14700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4165601" y="3886200"/>
            <a:ext cx="7111999"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3"/>
          <p:cNvSpPr txBox="1"/>
          <p:nvPr>
            <p:ph type="title"/>
          </p:nvPr>
        </p:nvSpPr>
        <p:spPr>
          <a:xfrm>
            <a:off x="609600" y="843637"/>
            <a:ext cx="10981267" cy="914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609600" y="1758037"/>
            <a:ext cx="10972800" cy="471102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46906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161368" y="6469064"/>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737602" y="646906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3"/>
          <p:cNvPicPr preferRelativeResize="0"/>
          <p:nvPr/>
        </p:nvPicPr>
        <p:blipFill rotWithShape="1">
          <a:blip r:embed="rId3">
            <a:alphaModFix/>
          </a:blip>
          <a:srcRect b="0" l="0" r="0" t="0"/>
          <a:stretch/>
        </p:blipFill>
        <p:spPr>
          <a:xfrm>
            <a:off x="601135" y="152401"/>
            <a:ext cx="3258487" cy="49434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4"/>
          <p:cNvSpPr txBox="1"/>
          <p:nvPr>
            <p:ph idx="1" type="body"/>
          </p:nvPr>
        </p:nvSpPr>
        <p:spPr>
          <a:xfrm>
            <a:off x="609600" y="1647394"/>
            <a:ext cx="5384800" cy="481055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4"/>
          <p:cNvSpPr txBox="1"/>
          <p:nvPr>
            <p:ph idx="2" type="body"/>
          </p:nvPr>
        </p:nvSpPr>
        <p:spPr>
          <a:xfrm>
            <a:off x="6197600" y="1647394"/>
            <a:ext cx="5384800" cy="481055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4"/>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4"/>
          <p:cNvSpPr txBox="1"/>
          <p:nvPr>
            <p:ph type="title"/>
          </p:nvPr>
        </p:nvSpPr>
        <p:spPr>
          <a:xfrm>
            <a:off x="609600" y="843637"/>
            <a:ext cx="10981267"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5"/>
          <p:cNvSpPr txBox="1"/>
          <p:nvPr>
            <p:ph type="title"/>
          </p:nvPr>
        </p:nvSpPr>
        <p:spPr>
          <a:xfrm>
            <a:off x="609600" y="2900649"/>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609601" y="1066969"/>
            <a:ext cx="4011084" cy="7368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766733" y="1073721"/>
            <a:ext cx="6815667" cy="505244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6"/>
          <p:cNvSpPr txBox="1"/>
          <p:nvPr>
            <p:ph idx="2" type="body"/>
          </p:nvPr>
        </p:nvSpPr>
        <p:spPr>
          <a:xfrm>
            <a:off x="609601" y="1803850"/>
            <a:ext cx="4011084" cy="4322314"/>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6"/>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7"/>
          <p:cNvSpPr txBox="1"/>
          <p:nvPr>
            <p:ph type="title"/>
          </p:nvPr>
        </p:nvSpPr>
        <p:spPr>
          <a:xfrm>
            <a:off x="609600" y="1196430"/>
            <a:ext cx="3431563"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p:nvPr>
            <p:ph idx="2" type="pic"/>
          </p:nvPr>
        </p:nvSpPr>
        <p:spPr>
          <a:xfrm>
            <a:off x="4267200" y="1196431"/>
            <a:ext cx="7315200" cy="4850287"/>
          </a:xfrm>
          <a:prstGeom prst="rect">
            <a:avLst/>
          </a:prstGeom>
          <a:noFill/>
          <a:ln>
            <a:noFill/>
          </a:ln>
        </p:spPr>
      </p:sp>
      <p:sp>
        <p:nvSpPr>
          <p:cNvPr id="50" name="Google Shape;50;p7"/>
          <p:cNvSpPr txBox="1"/>
          <p:nvPr>
            <p:ph idx="1" type="body"/>
          </p:nvPr>
        </p:nvSpPr>
        <p:spPr>
          <a:xfrm>
            <a:off x="609600" y="1768044"/>
            <a:ext cx="3431563" cy="427867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7"/>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600" y="1600201"/>
            <a:ext cx="10972800" cy="4857751"/>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jp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4.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8"/>
          <p:cNvSpPr txBox="1"/>
          <p:nvPr>
            <p:ph type="ctrTitle"/>
          </p:nvPr>
        </p:nvSpPr>
        <p:spPr>
          <a:xfrm>
            <a:off x="4700349" y="3428999"/>
            <a:ext cx="7302600" cy="267880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lt1"/>
              </a:buClr>
              <a:buSzPct val="111111"/>
              <a:buFont typeface="Arial"/>
              <a:buNone/>
            </a:pPr>
            <a:r>
              <a:rPr lang="en-US"/>
              <a:t>TMEIC DI-Water Cooling Skid</a:t>
            </a:r>
            <a:endParaRPr/>
          </a:p>
          <a:p>
            <a:pPr indent="0" lvl="0" marL="0" rtl="0" algn="r">
              <a:spcBef>
                <a:spcPts val="0"/>
              </a:spcBef>
              <a:spcAft>
                <a:spcPts val="0"/>
              </a:spcAft>
              <a:buClr>
                <a:schemeClr val="lt1"/>
              </a:buClr>
              <a:buSzPct val="162933"/>
              <a:buFont typeface="Arial"/>
              <a:buNone/>
            </a:pPr>
            <a:r>
              <a:rPr lang="en-US"/>
              <a:t>Bi-Weekly Update 4</a:t>
            </a:r>
            <a:br>
              <a:rPr lang="en-US"/>
            </a:br>
            <a:r>
              <a:rPr lang="en-US" sz="2455"/>
              <a:t>Ethan Henderson</a:t>
            </a:r>
            <a:endParaRPr sz="2455"/>
          </a:p>
          <a:p>
            <a:pPr indent="0" lvl="0" marL="0" rtl="0" algn="r">
              <a:spcBef>
                <a:spcPts val="0"/>
              </a:spcBef>
              <a:spcAft>
                <a:spcPts val="0"/>
              </a:spcAft>
              <a:buClr>
                <a:schemeClr val="lt1"/>
              </a:buClr>
              <a:buSzPct val="162933"/>
              <a:buFont typeface="Arial"/>
              <a:buNone/>
            </a:pPr>
            <a:r>
              <a:rPr lang="en-US" sz="2455"/>
              <a:t>Robert Parker</a:t>
            </a:r>
            <a:endParaRPr sz="2455"/>
          </a:p>
          <a:p>
            <a:pPr indent="0" lvl="0" marL="0" rtl="0" algn="r">
              <a:spcBef>
                <a:spcPts val="0"/>
              </a:spcBef>
              <a:spcAft>
                <a:spcPts val="0"/>
              </a:spcAft>
              <a:buClr>
                <a:schemeClr val="lt1"/>
              </a:buClr>
              <a:buSzPct val="162933"/>
              <a:buFont typeface="Arial"/>
              <a:buNone/>
            </a:pPr>
            <a:r>
              <a:rPr lang="en-US" sz="2455"/>
              <a:t>Noah Ovikian</a:t>
            </a:r>
            <a:br>
              <a:rPr lang="en-US" sz="2455"/>
            </a:br>
            <a:r>
              <a:rPr lang="en-US" sz="2455"/>
              <a:t>Sponsor: TMEIC</a:t>
            </a:r>
            <a:br>
              <a:rPr lang="en-US" sz="2455"/>
            </a:br>
            <a:r>
              <a:rPr lang="en-US" sz="2455"/>
              <a:t>TA: Jerry Xu</a:t>
            </a:r>
            <a:br>
              <a:rPr lang="en-US" sz="2455"/>
            </a:br>
            <a:endParaRPr sz="2455"/>
          </a:p>
        </p:txBody>
      </p:sp>
      <p:sp>
        <p:nvSpPr>
          <p:cNvPr id="59" name="Google Shape;59;p8"/>
          <p:cNvSpPr/>
          <p:nvPr/>
        </p:nvSpPr>
        <p:spPr>
          <a:xfrm>
            <a:off x="1447" y="1"/>
            <a:ext cx="6111300" cy="6111300"/>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60" name="Google Shape;60;p8"/>
          <p:cNvPicPr preferRelativeResize="0"/>
          <p:nvPr/>
        </p:nvPicPr>
        <p:blipFill rotWithShape="1">
          <a:blip r:embed="rId4">
            <a:alphaModFix/>
          </a:blip>
          <a:srcRect b="0" l="0" r="0" t="0"/>
          <a:stretch/>
        </p:blipFill>
        <p:spPr>
          <a:xfrm>
            <a:off x="8888750" y="1105318"/>
            <a:ext cx="3114199" cy="525774"/>
          </a:xfrm>
          <a:prstGeom prst="rect">
            <a:avLst/>
          </a:prstGeom>
          <a:noFill/>
          <a:ln>
            <a:noFill/>
          </a:ln>
        </p:spPr>
      </p:pic>
      <p:sp>
        <p:nvSpPr>
          <p:cNvPr id="61" name="Google Shape;61;p8"/>
          <p:cNvSpPr/>
          <p:nvPr/>
        </p:nvSpPr>
        <p:spPr>
          <a:xfrm rot="-2700000">
            <a:off x="-2668861" y="334923"/>
            <a:ext cx="9470423" cy="3068702"/>
          </a:xfrm>
          <a:prstGeom prst="trapezoid">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sp>
        <p:nvSpPr>
          <p:cNvPr id="67" name="Google Shape;67;p9"/>
          <p:cNvSpPr txBox="1"/>
          <p:nvPr>
            <p:ph idx="1" type="body"/>
          </p:nvPr>
        </p:nvSpPr>
        <p:spPr>
          <a:xfrm>
            <a:off x="362550" y="1241450"/>
            <a:ext cx="11466900" cy="47682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Clr>
                <a:schemeClr val="dk1"/>
              </a:buClr>
              <a:buSzPts val="2800"/>
              <a:buNone/>
            </a:pPr>
            <a:r>
              <a:rPr b="1" lang="en-US" sz="2800"/>
              <a:t>Problem Statement</a:t>
            </a:r>
            <a:endParaRPr b="1"/>
          </a:p>
          <a:p>
            <a:pPr indent="0" lvl="0" marL="342900" rtl="0" algn="l">
              <a:spcBef>
                <a:spcPts val="600"/>
              </a:spcBef>
              <a:spcAft>
                <a:spcPts val="0"/>
              </a:spcAft>
              <a:buNone/>
            </a:pPr>
            <a:r>
              <a:rPr lang="en-US" sz="2400"/>
              <a:t>TMEIC’s high-power VFDs rely on deionized-water cooling to protect inverter IGBTs from damaging heat. Using a full-scale cooling system for customer training is costly, cumbersome, and impractical, yet trainees still need realistic operating and troubleshooting scenarios.</a:t>
            </a:r>
            <a:endParaRPr sz="2400"/>
          </a:p>
          <a:p>
            <a:pPr indent="0" lvl="0" marL="342900" rtl="0" algn="l">
              <a:spcBef>
                <a:spcPts val="600"/>
              </a:spcBef>
              <a:spcAft>
                <a:spcPts val="0"/>
              </a:spcAft>
              <a:buNone/>
            </a:pPr>
            <a:r>
              <a:t/>
            </a:r>
            <a:endParaRPr sz="2400"/>
          </a:p>
          <a:p>
            <a:pPr indent="0" lvl="0" marL="0" rtl="0" algn="ctr">
              <a:lnSpc>
                <a:spcPct val="110000"/>
              </a:lnSpc>
              <a:spcBef>
                <a:spcPts val="600"/>
              </a:spcBef>
              <a:spcAft>
                <a:spcPts val="0"/>
              </a:spcAft>
              <a:buClr>
                <a:schemeClr val="dk1"/>
              </a:buClr>
              <a:buSzPts val="2800"/>
              <a:buNone/>
            </a:pPr>
            <a:r>
              <a:rPr b="1" lang="en-US" sz="2800"/>
              <a:t>Our Solution</a:t>
            </a:r>
            <a:endParaRPr b="1"/>
          </a:p>
          <a:p>
            <a:pPr indent="0" lvl="0" marL="342900" rtl="0" algn="l">
              <a:spcBef>
                <a:spcPts val="600"/>
              </a:spcBef>
              <a:spcAft>
                <a:spcPts val="0"/>
              </a:spcAft>
              <a:buNone/>
            </a:pPr>
            <a:r>
              <a:rPr lang="en-US" sz="2400"/>
              <a:t>We are designing and building a compact, temperature-controlled DI water cooling skid for TMEIC’s training facility. It will reproduce the behavior of the full-scale system, enabling accurate hands-on testing, diagnostics, and troubleshooting at a fraction of the scale, cost, and complexity.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0"/>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pic>
        <p:nvPicPr>
          <p:cNvPr id="73" name="Google Shape;73;p10"/>
          <p:cNvPicPr preferRelativeResize="0"/>
          <p:nvPr/>
        </p:nvPicPr>
        <p:blipFill>
          <a:blip r:embed="rId3">
            <a:alphaModFix/>
          </a:blip>
          <a:stretch>
            <a:fillRect/>
          </a:stretch>
        </p:blipFill>
        <p:spPr>
          <a:xfrm>
            <a:off x="1582463" y="1035375"/>
            <a:ext cx="9027073" cy="5694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pic>
        <p:nvPicPr>
          <p:cNvPr id="79" name="Google Shape;79;p11"/>
          <p:cNvPicPr preferRelativeResize="0"/>
          <p:nvPr/>
        </p:nvPicPr>
        <p:blipFill>
          <a:blip r:embed="rId3">
            <a:alphaModFix/>
          </a:blip>
          <a:stretch>
            <a:fillRect/>
          </a:stretch>
        </p:blipFill>
        <p:spPr>
          <a:xfrm>
            <a:off x="1582463" y="1035375"/>
            <a:ext cx="9027073" cy="5694000"/>
          </a:xfrm>
          <a:prstGeom prst="rect">
            <a:avLst/>
          </a:prstGeom>
          <a:noFill/>
          <a:ln>
            <a:noFill/>
          </a:ln>
        </p:spPr>
      </p:pic>
      <p:sp>
        <p:nvSpPr>
          <p:cNvPr id="80" name="Google Shape;80;p11"/>
          <p:cNvSpPr/>
          <p:nvPr/>
        </p:nvSpPr>
        <p:spPr>
          <a:xfrm>
            <a:off x="3887525" y="2262750"/>
            <a:ext cx="209400" cy="209400"/>
          </a:xfrm>
          <a:prstGeom prst="ellipse">
            <a:avLst/>
          </a:prstGeom>
          <a:solidFill>
            <a:srgbClr val="00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1"/>
          <p:cNvSpPr/>
          <p:nvPr/>
        </p:nvSpPr>
        <p:spPr>
          <a:xfrm>
            <a:off x="4605225" y="3628350"/>
            <a:ext cx="209400" cy="2094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1"/>
          <p:cNvSpPr/>
          <p:nvPr/>
        </p:nvSpPr>
        <p:spPr>
          <a:xfrm>
            <a:off x="4535450" y="5273075"/>
            <a:ext cx="209400" cy="2094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1"/>
          <p:cNvSpPr/>
          <p:nvPr/>
        </p:nvSpPr>
        <p:spPr>
          <a:xfrm>
            <a:off x="4196525" y="6319700"/>
            <a:ext cx="209400" cy="2094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1"/>
          <p:cNvSpPr/>
          <p:nvPr/>
        </p:nvSpPr>
        <p:spPr>
          <a:xfrm>
            <a:off x="2083300" y="5741550"/>
            <a:ext cx="209400" cy="209400"/>
          </a:xfrm>
          <a:prstGeom prst="ellipse">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1"/>
          <p:cNvSpPr/>
          <p:nvPr/>
        </p:nvSpPr>
        <p:spPr>
          <a:xfrm>
            <a:off x="7775025" y="6439325"/>
            <a:ext cx="209400" cy="2094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1"/>
          <p:cNvSpPr/>
          <p:nvPr/>
        </p:nvSpPr>
        <p:spPr>
          <a:xfrm>
            <a:off x="7505875" y="2711275"/>
            <a:ext cx="209400" cy="2094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1"/>
          <p:cNvSpPr/>
          <p:nvPr/>
        </p:nvSpPr>
        <p:spPr>
          <a:xfrm>
            <a:off x="6838025" y="1714450"/>
            <a:ext cx="209400" cy="209400"/>
          </a:xfrm>
          <a:prstGeom prst="ellipse">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2"/>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pic>
        <p:nvPicPr>
          <p:cNvPr id="93" name="Google Shape;93;p12"/>
          <p:cNvPicPr preferRelativeResize="0"/>
          <p:nvPr/>
        </p:nvPicPr>
        <p:blipFill rotWithShape="1">
          <a:blip r:embed="rId3">
            <a:alphaModFix/>
          </a:blip>
          <a:srcRect b="0" l="0" r="0" t="0"/>
          <a:stretch/>
        </p:blipFill>
        <p:spPr>
          <a:xfrm>
            <a:off x="3418350" y="1135200"/>
            <a:ext cx="5355300" cy="5567700"/>
          </a:xfrm>
          <a:prstGeom prst="roundRect">
            <a:avLst>
              <a:gd fmla="val 8945" name="adj"/>
            </a:avLst>
          </a:prstGeom>
          <a:noFill/>
          <a:ln cap="flat" cmpd="sng" w="9525">
            <a:solidFill>
              <a:srgbClr val="500302"/>
            </a:solidFill>
            <a:prstDash val="solid"/>
            <a:round/>
            <a:headEnd len="sm" w="sm" type="none"/>
            <a:tailEnd len="sm" w="sm" type="none"/>
          </a:ln>
        </p:spPr>
      </p:pic>
      <p:sp>
        <p:nvSpPr>
          <p:cNvPr id="94" name="Google Shape;94;p12"/>
          <p:cNvSpPr/>
          <p:nvPr/>
        </p:nvSpPr>
        <p:spPr>
          <a:xfrm>
            <a:off x="5053775" y="1744400"/>
            <a:ext cx="209400" cy="209400"/>
          </a:xfrm>
          <a:prstGeom prst="ellipse">
            <a:avLst/>
          </a:prstGeom>
          <a:solidFill>
            <a:srgbClr val="00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2"/>
          <p:cNvSpPr/>
          <p:nvPr/>
        </p:nvSpPr>
        <p:spPr>
          <a:xfrm>
            <a:off x="5322925" y="2990400"/>
            <a:ext cx="209400" cy="2094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2"/>
          <p:cNvSpPr/>
          <p:nvPr/>
        </p:nvSpPr>
        <p:spPr>
          <a:xfrm>
            <a:off x="4894300" y="3159850"/>
            <a:ext cx="209400" cy="2094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2"/>
          <p:cNvSpPr/>
          <p:nvPr/>
        </p:nvSpPr>
        <p:spPr>
          <a:xfrm>
            <a:off x="4256325" y="2721250"/>
            <a:ext cx="209400" cy="209400"/>
          </a:xfrm>
          <a:prstGeom prst="ellipse">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2"/>
          <p:cNvSpPr/>
          <p:nvPr/>
        </p:nvSpPr>
        <p:spPr>
          <a:xfrm>
            <a:off x="4176600" y="3080100"/>
            <a:ext cx="209400" cy="2094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2"/>
          <p:cNvSpPr/>
          <p:nvPr/>
        </p:nvSpPr>
        <p:spPr>
          <a:xfrm>
            <a:off x="6618750" y="3159850"/>
            <a:ext cx="209400" cy="209400"/>
          </a:xfrm>
          <a:prstGeom prst="ellipse">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2"/>
          <p:cNvSpPr/>
          <p:nvPr/>
        </p:nvSpPr>
        <p:spPr>
          <a:xfrm>
            <a:off x="7047350" y="3080100"/>
            <a:ext cx="209400" cy="209400"/>
          </a:xfrm>
          <a:prstGeom prst="ellipse">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2"/>
          <p:cNvSpPr/>
          <p:nvPr/>
        </p:nvSpPr>
        <p:spPr>
          <a:xfrm>
            <a:off x="5651850" y="3698125"/>
            <a:ext cx="209400" cy="2094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type="title"/>
          </p:nvPr>
        </p:nvSpPr>
        <p:spPr>
          <a:xfrm>
            <a:off x="6654875" y="0"/>
            <a:ext cx="45027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System Overview </a:t>
            </a:r>
            <a:endParaRPr/>
          </a:p>
        </p:txBody>
      </p:sp>
      <p:pic>
        <p:nvPicPr>
          <p:cNvPr id="107" name="Google Shape;107;p13"/>
          <p:cNvPicPr preferRelativeResize="0"/>
          <p:nvPr/>
        </p:nvPicPr>
        <p:blipFill>
          <a:blip r:embed="rId3">
            <a:alphaModFix/>
          </a:blip>
          <a:stretch>
            <a:fillRect/>
          </a:stretch>
        </p:blipFill>
        <p:spPr>
          <a:xfrm>
            <a:off x="1014400" y="1065650"/>
            <a:ext cx="10163199" cy="4726700"/>
          </a:xfrm>
          <a:prstGeom prst="rect">
            <a:avLst/>
          </a:prstGeom>
          <a:noFill/>
          <a:ln cap="flat" cmpd="sng" w="12700">
            <a:solidFill>
              <a:schemeClr val="dk1"/>
            </a:solidFill>
            <a:prstDash val="solid"/>
            <a:miter lim="8000"/>
            <a:headEnd len="sm" w="sm" type="none"/>
            <a:tailEnd len="sm" w="sm" type="none"/>
          </a:ln>
        </p:spPr>
      </p:pic>
      <p:sp>
        <p:nvSpPr>
          <p:cNvPr id="108" name="Google Shape;108;p13"/>
          <p:cNvSpPr txBox="1"/>
          <p:nvPr/>
        </p:nvSpPr>
        <p:spPr>
          <a:xfrm>
            <a:off x="1258100" y="1250775"/>
            <a:ext cx="3910500" cy="15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9BBB59"/>
                </a:solidFill>
              </a:rPr>
              <a:t>Ethan Henderson</a:t>
            </a:r>
            <a:endParaRPr sz="3200">
              <a:solidFill>
                <a:srgbClr val="9BBB59"/>
              </a:solidFill>
            </a:endParaRPr>
          </a:p>
          <a:p>
            <a:pPr indent="0" lvl="0" marL="0" rtl="0" algn="l">
              <a:spcBef>
                <a:spcPts val="0"/>
              </a:spcBef>
              <a:spcAft>
                <a:spcPts val="0"/>
              </a:spcAft>
              <a:buNone/>
            </a:pPr>
            <a:r>
              <a:rPr lang="en-US" sz="3200">
                <a:solidFill>
                  <a:srgbClr val="4BACC6"/>
                </a:solidFill>
              </a:rPr>
              <a:t>Robert Parker</a:t>
            </a:r>
            <a:endParaRPr sz="3200">
              <a:solidFill>
                <a:srgbClr val="4BACC6"/>
              </a:solidFill>
            </a:endParaRPr>
          </a:p>
          <a:p>
            <a:pPr indent="0" lvl="0" marL="0" rtl="0" algn="l">
              <a:spcBef>
                <a:spcPts val="0"/>
              </a:spcBef>
              <a:spcAft>
                <a:spcPts val="0"/>
              </a:spcAft>
              <a:buNone/>
            </a:pPr>
            <a:r>
              <a:rPr lang="en-US" sz="3200">
                <a:solidFill>
                  <a:srgbClr val="C0504D"/>
                </a:solidFill>
              </a:rPr>
              <a:t>Noah Ovikian</a:t>
            </a:r>
            <a:endParaRPr sz="3200">
              <a:solidFill>
                <a:srgbClr val="C0504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6517400" y="0"/>
            <a:ext cx="4944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Phase II &amp; III Timeline </a:t>
            </a:r>
            <a:endParaRPr/>
          </a:p>
        </p:txBody>
      </p:sp>
      <p:cxnSp>
        <p:nvCxnSpPr>
          <p:cNvPr id="114" name="Google Shape;114;p14"/>
          <p:cNvCxnSpPr/>
          <p:nvPr/>
        </p:nvCxnSpPr>
        <p:spPr>
          <a:xfrm>
            <a:off x="549450" y="3413775"/>
            <a:ext cx="11010000" cy="0"/>
          </a:xfrm>
          <a:prstGeom prst="straightConnector1">
            <a:avLst/>
          </a:prstGeom>
          <a:noFill/>
          <a:ln cap="flat" cmpd="sng" w="76200">
            <a:solidFill>
              <a:srgbClr val="D9D9D9"/>
            </a:solidFill>
            <a:prstDash val="solid"/>
            <a:round/>
            <a:headEnd len="med" w="med" type="none"/>
            <a:tailEnd len="med" w="med" type="none"/>
          </a:ln>
        </p:spPr>
      </p:cxnSp>
      <p:cxnSp>
        <p:nvCxnSpPr>
          <p:cNvPr id="115" name="Google Shape;115;p14"/>
          <p:cNvCxnSpPr/>
          <p:nvPr/>
        </p:nvCxnSpPr>
        <p:spPr>
          <a:xfrm>
            <a:off x="549450"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116" name="Google Shape;116;p14"/>
          <p:cNvCxnSpPr/>
          <p:nvPr/>
        </p:nvCxnSpPr>
        <p:spPr>
          <a:xfrm>
            <a:off x="2695225"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117" name="Google Shape;117;p14"/>
          <p:cNvCxnSpPr/>
          <p:nvPr/>
        </p:nvCxnSpPr>
        <p:spPr>
          <a:xfrm>
            <a:off x="6901625"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118" name="Google Shape;118;p14"/>
          <p:cNvCxnSpPr/>
          <p:nvPr/>
        </p:nvCxnSpPr>
        <p:spPr>
          <a:xfrm>
            <a:off x="11249600" y="3274275"/>
            <a:ext cx="0" cy="279000"/>
          </a:xfrm>
          <a:prstGeom prst="straightConnector1">
            <a:avLst/>
          </a:prstGeom>
          <a:noFill/>
          <a:ln cap="flat" cmpd="sng" w="38100">
            <a:solidFill>
              <a:srgbClr val="434343"/>
            </a:solidFill>
            <a:prstDash val="solid"/>
            <a:round/>
            <a:headEnd len="med" w="med" type="none"/>
            <a:tailEnd len="med" w="med" type="none"/>
          </a:ln>
        </p:spPr>
      </p:cxnSp>
      <p:sp>
        <p:nvSpPr>
          <p:cNvPr id="119" name="Google Shape;119;p14"/>
          <p:cNvSpPr/>
          <p:nvPr/>
        </p:nvSpPr>
        <p:spPr>
          <a:xfrm>
            <a:off x="66775" y="1704375"/>
            <a:ext cx="2121900" cy="15699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4"/>
          <p:cNvSpPr txBox="1"/>
          <p:nvPr/>
        </p:nvSpPr>
        <p:spPr>
          <a:xfrm>
            <a:off x="187975" y="1704375"/>
            <a:ext cx="1859100" cy="1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6AA84F"/>
                </a:solidFill>
              </a:rPr>
              <a:t>OCT 5</a:t>
            </a:r>
            <a:endParaRPr b="1" sz="1000">
              <a:solidFill>
                <a:srgbClr val="6AA84F"/>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 Test Complete</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t/>
            </a:r>
            <a:endParaRPr sz="1000">
              <a:solidFill>
                <a:srgbClr val="888888"/>
              </a:solidFill>
            </a:endParaRPr>
          </a:p>
        </p:txBody>
      </p:sp>
      <p:sp>
        <p:nvSpPr>
          <p:cNvPr id="121" name="Google Shape;121;p14"/>
          <p:cNvSpPr/>
          <p:nvPr/>
        </p:nvSpPr>
        <p:spPr>
          <a:xfrm>
            <a:off x="3736088" y="1739475"/>
            <a:ext cx="2121900" cy="15348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4"/>
          <p:cNvSpPr txBox="1"/>
          <p:nvPr/>
        </p:nvSpPr>
        <p:spPr>
          <a:xfrm>
            <a:off x="3857300" y="1739475"/>
            <a:ext cx="1859100" cy="15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6AA84F"/>
                </a:solidFill>
              </a:rPr>
              <a:t>OCT 12</a:t>
            </a:r>
            <a:endParaRPr b="1" sz="1000">
              <a:solidFill>
                <a:srgbClr val="6AA84F"/>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II Skid Construction</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Clr>
                <a:schemeClr val="dk1"/>
              </a:buClr>
              <a:buSzPts val="1100"/>
              <a:buFont typeface="Arial"/>
              <a:buNone/>
            </a:pPr>
            <a:r>
              <a:rPr lang="en-US" sz="1000">
                <a:solidFill>
                  <a:srgbClr val="888888"/>
                </a:solidFill>
              </a:rPr>
              <a:t>Resin </a:t>
            </a:r>
            <a:r>
              <a:rPr lang="en-US" sz="1000">
                <a:solidFill>
                  <a:srgbClr val="888888"/>
                </a:solidFill>
              </a:rPr>
              <a:t>filtration</a:t>
            </a:r>
            <a:r>
              <a:rPr lang="en-US" sz="1000">
                <a:solidFill>
                  <a:srgbClr val="888888"/>
                </a:solidFill>
              </a:rPr>
              <a:t> loop</a:t>
            </a:r>
            <a:endParaRPr sz="1000">
              <a:solidFill>
                <a:srgbClr val="888888"/>
              </a:solidFill>
            </a:endParaRPr>
          </a:p>
        </p:txBody>
      </p:sp>
      <p:sp>
        <p:nvSpPr>
          <p:cNvPr id="123" name="Google Shape;123;p14"/>
          <p:cNvSpPr txBox="1"/>
          <p:nvPr/>
        </p:nvSpPr>
        <p:spPr>
          <a:xfrm>
            <a:off x="210300" y="3553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5</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124" name="Google Shape;124;p14"/>
          <p:cNvSpPr txBox="1"/>
          <p:nvPr/>
        </p:nvSpPr>
        <p:spPr>
          <a:xfrm>
            <a:off x="2356075" y="2995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7</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125" name="Google Shape;125;p14"/>
          <p:cNvSpPr txBox="1"/>
          <p:nvPr/>
        </p:nvSpPr>
        <p:spPr>
          <a:xfrm>
            <a:off x="6555675" y="2995272"/>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15</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126" name="Google Shape;126;p14"/>
          <p:cNvSpPr/>
          <p:nvPr/>
        </p:nvSpPr>
        <p:spPr>
          <a:xfrm>
            <a:off x="1634275" y="3553275"/>
            <a:ext cx="2121900" cy="16158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4"/>
          <p:cNvSpPr txBox="1"/>
          <p:nvPr/>
        </p:nvSpPr>
        <p:spPr>
          <a:xfrm>
            <a:off x="1755475" y="3553275"/>
            <a:ext cx="1859100" cy="16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1C232"/>
                </a:solidFill>
              </a:rPr>
              <a:t>OCT 7</a:t>
            </a:r>
            <a:endParaRPr b="1" sz="1000">
              <a:solidFill>
                <a:srgbClr val="F1C232"/>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III Construction &amp; Testing Start</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lang="en-US" sz="1000">
                <a:solidFill>
                  <a:srgbClr val="888888"/>
                </a:solidFill>
              </a:rPr>
              <a:t>Tested HX with and without fan assist</a:t>
            </a:r>
            <a:endParaRPr sz="1000">
              <a:solidFill>
                <a:srgbClr val="888888"/>
              </a:solidFill>
            </a:endParaRPr>
          </a:p>
        </p:txBody>
      </p:sp>
      <p:sp>
        <p:nvSpPr>
          <p:cNvPr id="128" name="Google Shape;128;p14"/>
          <p:cNvSpPr/>
          <p:nvPr/>
        </p:nvSpPr>
        <p:spPr>
          <a:xfrm>
            <a:off x="5840675" y="3553275"/>
            <a:ext cx="2121900" cy="14151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4"/>
          <p:cNvSpPr txBox="1"/>
          <p:nvPr/>
        </p:nvSpPr>
        <p:spPr>
          <a:xfrm>
            <a:off x="5961875" y="3553275"/>
            <a:ext cx="1859100" cy="14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CC0000"/>
                </a:solidFill>
              </a:rPr>
              <a:t>OCT 15</a:t>
            </a:r>
            <a:endParaRPr b="1" sz="1000">
              <a:solidFill>
                <a:srgbClr val="CC0000"/>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II Test Complete</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lang="en-US" sz="1000">
                <a:solidFill>
                  <a:srgbClr val="888888"/>
                </a:solidFill>
              </a:rPr>
              <a:t>Resin loop head loss and conductivity validation</a:t>
            </a:r>
            <a:endParaRPr sz="1000">
              <a:solidFill>
                <a:srgbClr val="888888"/>
              </a:solidFill>
            </a:endParaRPr>
          </a:p>
          <a:p>
            <a:pPr indent="0" lvl="0" marL="0" rtl="0" algn="l">
              <a:spcBef>
                <a:spcPts val="0"/>
              </a:spcBef>
              <a:spcAft>
                <a:spcPts val="0"/>
              </a:spcAft>
              <a:buNone/>
            </a:pPr>
            <a:r>
              <a:t/>
            </a:r>
            <a:endParaRPr b="1" sz="1000">
              <a:solidFill>
                <a:srgbClr val="888888"/>
              </a:solidFill>
            </a:endParaRPr>
          </a:p>
        </p:txBody>
      </p:sp>
      <p:sp>
        <p:nvSpPr>
          <p:cNvPr id="130" name="Google Shape;130;p14"/>
          <p:cNvSpPr/>
          <p:nvPr/>
        </p:nvSpPr>
        <p:spPr>
          <a:xfrm>
            <a:off x="10188650" y="1739475"/>
            <a:ext cx="1859100" cy="15348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4"/>
          <p:cNvSpPr txBox="1"/>
          <p:nvPr/>
        </p:nvSpPr>
        <p:spPr>
          <a:xfrm>
            <a:off x="10244700" y="1739475"/>
            <a:ext cx="1803000" cy="15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rPr>
              <a:t>OCT 19</a:t>
            </a:r>
            <a:endParaRPr b="1" sz="10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Full Skid Assembly Start</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0" lvl="0" marL="0" rtl="0" algn="l">
              <a:spcBef>
                <a:spcPts val="0"/>
              </a:spcBef>
              <a:spcAft>
                <a:spcPts val="0"/>
              </a:spcAft>
              <a:buClr>
                <a:schemeClr val="dk1"/>
              </a:buClr>
              <a:buSzPts val="1100"/>
              <a:buFont typeface="Arial"/>
              <a:buNone/>
            </a:pPr>
            <a:r>
              <a:rPr lang="en-US" sz="1000">
                <a:solidFill>
                  <a:srgbClr val="888888"/>
                </a:solidFill>
              </a:rPr>
              <a:t>Add heating and get proper piping installed</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t/>
            </a:r>
            <a:endParaRPr sz="1000">
              <a:solidFill>
                <a:srgbClr val="888888"/>
              </a:solidFill>
            </a:endParaRPr>
          </a:p>
        </p:txBody>
      </p:sp>
      <p:sp>
        <p:nvSpPr>
          <p:cNvPr id="132" name="Google Shape;132;p14"/>
          <p:cNvSpPr txBox="1"/>
          <p:nvPr/>
        </p:nvSpPr>
        <p:spPr>
          <a:xfrm>
            <a:off x="10910450" y="3553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19</a:t>
            </a:r>
            <a:endParaRPr sz="1000">
              <a:solidFill>
                <a:srgbClr val="888888"/>
              </a:solidFill>
            </a:endParaRPr>
          </a:p>
        </p:txBody>
      </p:sp>
      <p:sp>
        <p:nvSpPr>
          <p:cNvPr id="133" name="Google Shape;133;p14"/>
          <p:cNvSpPr/>
          <p:nvPr/>
        </p:nvSpPr>
        <p:spPr>
          <a:xfrm>
            <a:off x="2822938" y="6239000"/>
            <a:ext cx="211800" cy="211800"/>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4"/>
          <p:cNvSpPr txBox="1"/>
          <p:nvPr/>
        </p:nvSpPr>
        <p:spPr>
          <a:xfrm>
            <a:off x="3034738" y="6152900"/>
            <a:ext cx="11244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Complete</a:t>
            </a:r>
            <a:endParaRPr sz="1600">
              <a:solidFill>
                <a:schemeClr val="dk1"/>
              </a:solidFill>
            </a:endParaRPr>
          </a:p>
        </p:txBody>
      </p:sp>
      <p:sp>
        <p:nvSpPr>
          <p:cNvPr id="135" name="Google Shape;135;p14"/>
          <p:cNvSpPr/>
          <p:nvPr/>
        </p:nvSpPr>
        <p:spPr>
          <a:xfrm>
            <a:off x="4306013" y="6239000"/>
            <a:ext cx="211800" cy="211800"/>
          </a:xfrm>
          <a:prstGeom prst="ellipse">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4"/>
          <p:cNvSpPr txBox="1"/>
          <p:nvPr/>
        </p:nvSpPr>
        <p:spPr>
          <a:xfrm>
            <a:off x="4517813" y="6152900"/>
            <a:ext cx="13125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In Progress</a:t>
            </a:r>
            <a:endParaRPr sz="1600">
              <a:solidFill>
                <a:schemeClr val="dk1"/>
              </a:solidFill>
            </a:endParaRPr>
          </a:p>
        </p:txBody>
      </p:sp>
      <p:sp>
        <p:nvSpPr>
          <p:cNvPr id="137" name="Google Shape;137;p14"/>
          <p:cNvSpPr/>
          <p:nvPr/>
        </p:nvSpPr>
        <p:spPr>
          <a:xfrm>
            <a:off x="5893850" y="6239000"/>
            <a:ext cx="211800" cy="211800"/>
          </a:xfrm>
          <a:prstGeom prst="ellipse">
            <a:avLst/>
          </a:prstGeom>
          <a:solidFill>
            <a:srgbClr val="99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4"/>
          <p:cNvSpPr txBox="1"/>
          <p:nvPr/>
        </p:nvSpPr>
        <p:spPr>
          <a:xfrm>
            <a:off x="6105663" y="6152900"/>
            <a:ext cx="18030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Behind Schedule</a:t>
            </a:r>
            <a:endParaRPr sz="1600">
              <a:solidFill>
                <a:schemeClr val="dk1"/>
              </a:solidFill>
            </a:endParaRPr>
          </a:p>
        </p:txBody>
      </p:sp>
      <p:sp>
        <p:nvSpPr>
          <p:cNvPr id="139" name="Google Shape;139;p14"/>
          <p:cNvSpPr/>
          <p:nvPr/>
        </p:nvSpPr>
        <p:spPr>
          <a:xfrm>
            <a:off x="7908650" y="6239000"/>
            <a:ext cx="211800" cy="2118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4"/>
          <p:cNvSpPr txBox="1"/>
          <p:nvPr/>
        </p:nvSpPr>
        <p:spPr>
          <a:xfrm>
            <a:off x="8120464" y="6152900"/>
            <a:ext cx="12486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Not Started</a:t>
            </a:r>
            <a:endParaRPr sz="1600">
              <a:solidFill>
                <a:schemeClr val="dk1"/>
              </a:solidFill>
            </a:endParaRPr>
          </a:p>
        </p:txBody>
      </p:sp>
      <p:sp>
        <p:nvSpPr>
          <p:cNvPr id="141" name="Google Shape;141;p14"/>
          <p:cNvSpPr txBox="1"/>
          <p:nvPr/>
        </p:nvSpPr>
        <p:spPr>
          <a:xfrm>
            <a:off x="10146900" y="6465600"/>
            <a:ext cx="2045100" cy="3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rPr>
              <a:t>*Contains AI generated content*</a:t>
            </a:r>
            <a:endParaRPr sz="1000">
              <a:solidFill>
                <a:schemeClr val="dk1"/>
              </a:solidFill>
            </a:endParaRPr>
          </a:p>
        </p:txBody>
      </p:sp>
      <p:cxnSp>
        <p:nvCxnSpPr>
          <p:cNvPr id="142" name="Google Shape;142;p14"/>
          <p:cNvCxnSpPr/>
          <p:nvPr/>
        </p:nvCxnSpPr>
        <p:spPr>
          <a:xfrm>
            <a:off x="4798825" y="3274275"/>
            <a:ext cx="0" cy="279000"/>
          </a:xfrm>
          <a:prstGeom prst="straightConnector1">
            <a:avLst/>
          </a:prstGeom>
          <a:noFill/>
          <a:ln cap="flat" cmpd="sng" w="38100">
            <a:solidFill>
              <a:srgbClr val="434343"/>
            </a:solidFill>
            <a:prstDash val="solid"/>
            <a:round/>
            <a:headEnd len="med" w="med" type="none"/>
            <a:tailEnd len="med" w="med" type="none"/>
          </a:ln>
        </p:spPr>
      </p:cxnSp>
      <p:sp>
        <p:nvSpPr>
          <p:cNvPr id="143" name="Google Shape;143;p14"/>
          <p:cNvSpPr txBox="1"/>
          <p:nvPr/>
        </p:nvSpPr>
        <p:spPr>
          <a:xfrm>
            <a:off x="4459275" y="3553272"/>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12</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149" name="Google Shape;149;p15"/>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Manufacturer Pump Curves reflect controlled tested conditions. Our pump curve shows the effect the skid construction has on the operational capability of the pump which is the intent of the Phase I Test.</a:t>
            </a:r>
            <a:endParaRPr sz="1700">
              <a:solidFill>
                <a:schemeClr val="dk1"/>
              </a:solidFill>
            </a:endParaRPr>
          </a:p>
        </p:txBody>
      </p:sp>
      <p:pic>
        <p:nvPicPr>
          <p:cNvPr id="150" name="Google Shape;150;p15"/>
          <p:cNvPicPr preferRelativeResize="0"/>
          <p:nvPr/>
        </p:nvPicPr>
        <p:blipFill>
          <a:blip r:embed="rId3">
            <a:alphaModFix/>
          </a:blip>
          <a:stretch>
            <a:fillRect/>
          </a:stretch>
        </p:blipFill>
        <p:spPr>
          <a:xfrm>
            <a:off x="2146675" y="1915725"/>
            <a:ext cx="8206700" cy="4826700"/>
          </a:xfrm>
          <a:prstGeom prst="rect">
            <a:avLst/>
          </a:prstGeom>
          <a:noFill/>
          <a:ln>
            <a:noFill/>
          </a:ln>
        </p:spPr>
      </p:pic>
      <p:sp>
        <p:nvSpPr>
          <p:cNvPr id="151" name="Google Shape;151;p15"/>
          <p:cNvSpPr txBox="1"/>
          <p:nvPr/>
        </p:nvSpPr>
        <p:spPr>
          <a:xfrm>
            <a:off x="4922975" y="1958514"/>
            <a:ext cx="2654100" cy="331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494949"/>
                </a:solidFill>
              </a:rPr>
              <a:t>Phase I Test Results</a:t>
            </a:r>
            <a:endParaRPr sz="2000">
              <a:solidFill>
                <a:srgbClr val="49494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157" name="Google Shape;157;p16"/>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Manufacturer Pump Curves reflect controlled tested conditions. Our pump curve shows the effect the skid construction has on the operational capability of the pump which is the intent of the Phase I Test.</a:t>
            </a:r>
            <a:endParaRPr sz="1700">
              <a:solidFill>
                <a:schemeClr val="dk1"/>
              </a:solidFill>
            </a:endParaRPr>
          </a:p>
        </p:txBody>
      </p:sp>
      <p:pic>
        <p:nvPicPr>
          <p:cNvPr id="158" name="Google Shape;158;p16"/>
          <p:cNvPicPr preferRelativeResize="0"/>
          <p:nvPr/>
        </p:nvPicPr>
        <p:blipFill rotWithShape="1">
          <a:blip r:embed="rId3">
            <a:alphaModFix/>
          </a:blip>
          <a:srcRect b="0" l="0" r="0" t="0"/>
          <a:stretch/>
        </p:blipFill>
        <p:spPr>
          <a:xfrm>
            <a:off x="896038" y="2086025"/>
            <a:ext cx="5948001" cy="4461001"/>
          </a:xfrm>
          <a:prstGeom prst="rect">
            <a:avLst/>
          </a:prstGeom>
          <a:noFill/>
          <a:ln cap="flat" cmpd="sng" w="9525">
            <a:solidFill>
              <a:srgbClr val="000000"/>
            </a:solidFill>
            <a:prstDash val="solid"/>
            <a:round/>
            <a:headEnd len="sm" w="sm" type="none"/>
            <a:tailEnd len="sm" w="sm" type="none"/>
          </a:ln>
        </p:spPr>
      </p:pic>
      <p:cxnSp>
        <p:nvCxnSpPr>
          <p:cNvPr id="159" name="Google Shape;159;p16"/>
          <p:cNvCxnSpPr/>
          <p:nvPr/>
        </p:nvCxnSpPr>
        <p:spPr>
          <a:xfrm flipH="1">
            <a:off x="6538238" y="2828925"/>
            <a:ext cx="1564500" cy="1189500"/>
          </a:xfrm>
          <a:prstGeom prst="straightConnector1">
            <a:avLst/>
          </a:prstGeom>
          <a:noFill/>
          <a:ln cap="flat" cmpd="sng" w="28575">
            <a:solidFill>
              <a:srgbClr val="FF00FF"/>
            </a:solidFill>
            <a:prstDash val="solid"/>
            <a:round/>
            <a:headEnd len="med" w="med" type="none"/>
            <a:tailEnd len="med" w="med" type="triangle"/>
          </a:ln>
        </p:spPr>
      </p:cxnSp>
      <p:cxnSp>
        <p:nvCxnSpPr>
          <p:cNvPr id="160" name="Google Shape;160;p16"/>
          <p:cNvCxnSpPr/>
          <p:nvPr/>
        </p:nvCxnSpPr>
        <p:spPr>
          <a:xfrm rot="10800000">
            <a:off x="4534338" y="4425425"/>
            <a:ext cx="3439800" cy="1350300"/>
          </a:xfrm>
          <a:prstGeom prst="straightConnector1">
            <a:avLst/>
          </a:prstGeom>
          <a:noFill/>
          <a:ln cap="flat" cmpd="sng" w="28575">
            <a:solidFill>
              <a:srgbClr val="FF00FF"/>
            </a:solidFill>
            <a:prstDash val="solid"/>
            <a:round/>
            <a:headEnd len="med" w="med" type="none"/>
            <a:tailEnd len="med" w="med" type="triangle"/>
          </a:ln>
        </p:spPr>
      </p:cxnSp>
      <p:cxnSp>
        <p:nvCxnSpPr>
          <p:cNvPr id="161" name="Google Shape;161;p16"/>
          <p:cNvCxnSpPr/>
          <p:nvPr/>
        </p:nvCxnSpPr>
        <p:spPr>
          <a:xfrm rot="10800000">
            <a:off x="4952213" y="4296925"/>
            <a:ext cx="3332700" cy="728700"/>
          </a:xfrm>
          <a:prstGeom prst="straightConnector1">
            <a:avLst/>
          </a:prstGeom>
          <a:noFill/>
          <a:ln cap="flat" cmpd="sng" w="28575">
            <a:solidFill>
              <a:srgbClr val="FF00FF"/>
            </a:solidFill>
            <a:prstDash val="solid"/>
            <a:round/>
            <a:headEnd len="med" w="med" type="none"/>
            <a:tailEnd len="med" w="med" type="triangle"/>
          </a:ln>
        </p:spPr>
      </p:cxnSp>
      <p:cxnSp>
        <p:nvCxnSpPr>
          <p:cNvPr id="162" name="Google Shape;162;p16"/>
          <p:cNvCxnSpPr/>
          <p:nvPr/>
        </p:nvCxnSpPr>
        <p:spPr>
          <a:xfrm rot="10800000">
            <a:off x="5573838" y="4296825"/>
            <a:ext cx="3429000" cy="0"/>
          </a:xfrm>
          <a:prstGeom prst="straightConnector1">
            <a:avLst/>
          </a:prstGeom>
          <a:noFill/>
          <a:ln cap="flat" cmpd="sng" w="28575">
            <a:solidFill>
              <a:srgbClr val="FF00FF"/>
            </a:solidFill>
            <a:prstDash val="solid"/>
            <a:round/>
            <a:headEnd len="med" w="med" type="none"/>
            <a:tailEnd len="med" w="med" type="triangle"/>
          </a:ln>
        </p:spPr>
      </p:cxnSp>
      <p:cxnSp>
        <p:nvCxnSpPr>
          <p:cNvPr id="163" name="Google Shape;163;p16"/>
          <p:cNvCxnSpPr/>
          <p:nvPr/>
        </p:nvCxnSpPr>
        <p:spPr>
          <a:xfrm rot="10800000">
            <a:off x="2734238" y="6022125"/>
            <a:ext cx="4414800" cy="503700"/>
          </a:xfrm>
          <a:prstGeom prst="straightConnector1">
            <a:avLst/>
          </a:prstGeom>
          <a:noFill/>
          <a:ln cap="flat" cmpd="sng" w="28575">
            <a:solidFill>
              <a:srgbClr val="FF00FF"/>
            </a:solidFill>
            <a:prstDash val="solid"/>
            <a:round/>
            <a:headEnd len="med" w="med" type="none"/>
            <a:tailEnd len="med" w="med" type="triangle"/>
          </a:ln>
        </p:spPr>
      </p:cxnSp>
      <p:sp>
        <p:nvSpPr>
          <p:cNvPr id="164" name="Google Shape;164;p16"/>
          <p:cNvSpPr txBox="1"/>
          <p:nvPr/>
        </p:nvSpPr>
        <p:spPr>
          <a:xfrm>
            <a:off x="8102738" y="2539625"/>
            <a:ext cx="846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Pump</a:t>
            </a:r>
            <a:endParaRPr sz="2000">
              <a:solidFill>
                <a:srgbClr val="FF00FF"/>
              </a:solidFill>
            </a:endParaRPr>
          </a:p>
        </p:txBody>
      </p:sp>
      <p:sp>
        <p:nvSpPr>
          <p:cNvPr id="165" name="Google Shape;165;p16"/>
          <p:cNvSpPr txBox="1"/>
          <p:nvPr/>
        </p:nvSpPr>
        <p:spPr>
          <a:xfrm>
            <a:off x="9206463" y="4077225"/>
            <a:ext cx="20895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Pressure Gauge</a:t>
            </a:r>
            <a:endParaRPr sz="2000">
              <a:solidFill>
                <a:srgbClr val="FF00FF"/>
              </a:solidFill>
            </a:endParaRPr>
          </a:p>
        </p:txBody>
      </p:sp>
      <p:sp>
        <p:nvSpPr>
          <p:cNvPr id="166" name="Google Shape;166;p16"/>
          <p:cNvSpPr txBox="1"/>
          <p:nvPr/>
        </p:nvSpPr>
        <p:spPr>
          <a:xfrm>
            <a:off x="8284913" y="4864900"/>
            <a:ext cx="23574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Control Valve</a:t>
            </a:r>
            <a:endParaRPr sz="2000">
              <a:solidFill>
                <a:srgbClr val="FF00FF"/>
              </a:solidFill>
            </a:endParaRPr>
          </a:p>
        </p:txBody>
      </p:sp>
      <p:sp>
        <p:nvSpPr>
          <p:cNvPr id="167" name="Google Shape;167;p16"/>
          <p:cNvSpPr txBox="1"/>
          <p:nvPr/>
        </p:nvSpPr>
        <p:spPr>
          <a:xfrm>
            <a:off x="7974138" y="5582925"/>
            <a:ext cx="15645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Meter</a:t>
            </a:r>
            <a:endParaRPr sz="2000">
              <a:solidFill>
                <a:srgbClr val="FF00FF"/>
              </a:solidFill>
            </a:endParaRPr>
          </a:p>
        </p:txBody>
      </p:sp>
      <p:cxnSp>
        <p:nvCxnSpPr>
          <p:cNvPr id="168" name="Google Shape;168;p16"/>
          <p:cNvCxnSpPr/>
          <p:nvPr/>
        </p:nvCxnSpPr>
        <p:spPr>
          <a:xfrm rot="10800000">
            <a:off x="2391338" y="2207525"/>
            <a:ext cx="5443500" cy="0"/>
          </a:xfrm>
          <a:prstGeom prst="straightConnector1">
            <a:avLst/>
          </a:prstGeom>
          <a:noFill/>
          <a:ln cap="flat" cmpd="sng" w="28575">
            <a:solidFill>
              <a:srgbClr val="FF00FF"/>
            </a:solidFill>
            <a:prstDash val="solid"/>
            <a:round/>
            <a:headEnd len="med" w="med" type="none"/>
            <a:tailEnd len="med" w="med" type="triangle"/>
          </a:ln>
        </p:spPr>
      </p:cxnSp>
      <p:sp>
        <p:nvSpPr>
          <p:cNvPr id="169" name="Google Shape;169;p16"/>
          <p:cNvSpPr txBox="1"/>
          <p:nvPr/>
        </p:nvSpPr>
        <p:spPr>
          <a:xfrm>
            <a:off x="7834838" y="1982725"/>
            <a:ext cx="2196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Water </a:t>
            </a:r>
            <a:r>
              <a:rPr lang="en-US" sz="2000">
                <a:solidFill>
                  <a:srgbClr val="FF00FF"/>
                </a:solidFill>
              </a:rPr>
              <a:t>Reservoir</a:t>
            </a:r>
            <a:endParaRPr sz="2000">
              <a:solidFill>
                <a:srgbClr val="FF00FF"/>
              </a:solidFill>
            </a:endParaRPr>
          </a:p>
        </p:txBody>
      </p:sp>
      <p:sp>
        <p:nvSpPr>
          <p:cNvPr id="170" name="Google Shape;170;p16"/>
          <p:cNvSpPr txBox="1"/>
          <p:nvPr/>
        </p:nvSpPr>
        <p:spPr>
          <a:xfrm>
            <a:off x="7149038" y="6300950"/>
            <a:ext cx="20895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Pressure Gauge</a:t>
            </a:r>
            <a:endParaRPr sz="2000">
              <a:solidFill>
                <a:srgbClr val="FF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176" name="Google Shape;176;p17"/>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The Resin Filter will achieve our desired metric of ≤ 1μS/cm^2 and the behavior is fairly consistent with multiple water volumes. This test was for the Resin Filter alone using lab-provided conductivity measurements. An additional test is needed to verify </a:t>
            </a:r>
            <a:r>
              <a:rPr i="1" lang="en-US" sz="1700">
                <a:solidFill>
                  <a:schemeClr val="dk1"/>
                </a:solidFill>
              </a:rPr>
              <a:t>our</a:t>
            </a:r>
            <a:r>
              <a:rPr lang="en-US" sz="1700">
                <a:solidFill>
                  <a:schemeClr val="dk1"/>
                </a:solidFill>
              </a:rPr>
              <a:t> conductivity probe (target Thursday Oct. 15)</a:t>
            </a:r>
            <a:endParaRPr sz="1700">
              <a:solidFill>
                <a:schemeClr val="dk1"/>
              </a:solidFill>
            </a:endParaRPr>
          </a:p>
        </p:txBody>
      </p:sp>
      <p:pic>
        <p:nvPicPr>
          <p:cNvPr id="177" name="Google Shape;177;p17"/>
          <p:cNvPicPr preferRelativeResize="0"/>
          <p:nvPr/>
        </p:nvPicPr>
        <p:blipFill rotWithShape="1">
          <a:blip r:embed="rId3">
            <a:alphaModFix/>
          </a:blip>
          <a:srcRect b="0" l="0" r="0" t="0"/>
          <a:stretch/>
        </p:blipFill>
        <p:spPr>
          <a:xfrm>
            <a:off x="2512325" y="2043150"/>
            <a:ext cx="7261111" cy="4771975"/>
          </a:xfrm>
          <a:prstGeom prst="rect">
            <a:avLst/>
          </a:prstGeom>
          <a:noFill/>
          <a:ln>
            <a:noFill/>
          </a:ln>
        </p:spPr>
      </p:pic>
      <p:sp>
        <p:nvSpPr>
          <p:cNvPr id="178" name="Google Shape;178;p17"/>
          <p:cNvSpPr txBox="1"/>
          <p:nvPr/>
        </p:nvSpPr>
        <p:spPr>
          <a:xfrm>
            <a:off x="4168475" y="2086025"/>
            <a:ext cx="4163100" cy="3318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rgbClr val="494949"/>
                </a:solidFill>
              </a:rPr>
              <a:t>Phase II Resin Filter Test Results</a:t>
            </a:r>
            <a:endParaRPr sz="2000">
              <a:solidFill>
                <a:srgbClr val="49494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184" name="Google Shape;184;p18"/>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The Resin Filter will achieve our desired metric of ≤ 1μS/cm^2 and the behavior is fairly consistent with multiple water volumes. This test was for the Resin Filter alone using lab-provided conductivity measurements. An additional test is needed to verify </a:t>
            </a:r>
            <a:r>
              <a:rPr i="1" lang="en-US" sz="1700">
                <a:solidFill>
                  <a:schemeClr val="dk1"/>
                </a:solidFill>
              </a:rPr>
              <a:t>our</a:t>
            </a:r>
            <a:r>
              <a:rPr lang="en-US" sz="1700">
                <a:solidFill>
                  <a:schemeClr val="dk1"/>
                </a:solidFill>
              </a:rPr>
              <a:t> conductivity probe (target Thursday Oct. 15)</a:t>
            </a:r>
            <a:endParaRPr sz="1700">
              <a:solidFill>
                <a:schemeClr val="dk1"/>
              </a:solidFill>
            </a:endParaRPr>
          </a:p>
        </p:txBody>
      </p:sp>
      <p:pic>
        <p:nvPicPr>
          <p:cNvPr id="185" name="Google Shape;185;p18" title="Resin Conductivity Filtration Schematic.png"/>
          <p:cNvPicPr preferRelativeResize="0"/>
          <p:nvPr/>
        </p:nvPicPr>
        <p:blipFill rotWithShape="1">
          <a:blip r:embed="rId3">
            <a:alphaModFix/>
          </a:blip>
          <a:srcRect b="0" l="0" r="0" t="0"/>
          <a:stretch/>
        </p:blipFill>
        <p:spPr>
          <a:xfrm>
            <a:off x="1096475" y="2086025"/>
            <a:ext cx="4298460" cy="4398976"/>
          </a:xfrm>
          <a:prstGeom prst="rect">
            <a:avLst/>
          </a:prstGeom>
          <a:noFill/>
          <a:ln>
            <a:noFill/>
          </a:ln>
        </p:spPr>
      </p:pic>
      <p:pic>
        <p:nvPicPr>
          <p:cNvPr id="186" name="Google Shape;186;p18" title="IMG_4496.HEIC"/>
          <p:cNvPicPr preferRelativeResize="0"/>
          <p:nvPr/>
        </p:nvPicPr>
        <p:blipFill rotWithShape="1">
          <a:blip r:embed="rId4">
            <a:alphaModFix/>
          </a:blip>
          <a:srcRect b="0" l="0" r="0" t="0"/>
          <a:stretch/>
        </p:blipFill>
        <p:spPr>
          <a:xfrm>
            <a:off x="5820701" y="2086025"/>
            <a:ext cx="6095073" cy="4571324"/>
          </a:xfrm>
          <a:prstGeom prst="rect">
            <a:avLst/>
          </a:prstGeom>
          <a:noFill/>
          <a:ln cap="flat" cmpd="sng" w="9525">
            <a:solidFill>
              <a:srgbClr val="000000"/>
            </a:solidFill>
            <a:prstDash val="solid"/>
            <a:round/>
            <a:headEnd len="sm" w="sm" type="none"/>
            <a:tailEnd len="sm" w="sm" type="none"/>
          </a:ln>
        </p:spPr>
      </p:pic>
      <p:cxnSp>
        <p:nvCxnSpPr>
          <p:cNvPr id="187" name="Google Shape;187;p18"/>
          <p:cNvCxnSpPr/>
          <p:nvPr/>
        </p:nvCxnSpPr>
        <p:spPr>
          <a:xfrm>
            <a:off x="4018350" y="5582850"/>
            <a:ext cx="4832700" cy="182100"/>
          </a:xfrm>
          <a:prstGeom prst="straightConnector1">
            <a:avLst/>
          </a:prstGeom>
          <a:noFill/>
          <a:ln cap="flat" cmpd="sng" w="28575">
            <a:solidFill>
              <a:srgbClr val="FF00FF"/>
            </a:solidFill>
            <a:prstDash val="solid"/>
            <a:round/>
            <a:headEnd len="med" w="med" type="none"/>
            <a:tailEnd len="med" w="med" type="triangle"/>
          </a:ln>
        </p:spPr>
      </p:cxnSp>
      <p:cxnSp>
        <p:nvCxnSpPr>
          <p:cNvPr id="188" name="Google Shape;188;p18"/>
          <p:cNvCxnSpPr/>
          <p:nvPr/>
        </p:nvCxnSpPr>
        <p:spPr>
          <a:xfrm>
            <a:off x="4468425" y="4280638"/>
            <a:ext cx="3782700" cy="766500"/>
          </a:xfrm>
          <a:prstGeom prst="straightConnector1">
            <a:avLst/>
          </a:prstGeom>
          <a:noFill/>
          <a:ln cap="flat" cmpd="sng" w="28575">
            <a:solidFill>
              <a:srgbClr val="FF00FF"/>
            </a:solidFill>
            <a:prstDash val="solid"/>
            <a:round/>
            <a:headEnd len="med" w="med" type="none"/>
            <a:tailEnd len="med" w="med" type="triangle"/>
          </a:ln>
        </p:spPr>
      </p:cxnSp>
      <p:cxnSp>
        <p:nvCxnSpPr>
          <p:cNvPr id="189" name="Google Shape;189;p18"/>
          <p:cNvCxnSpPr/>
          <p:nvPr/>
        </p:nvCxnSpPr>
        <p:spPr>
          <a:xfrm>
            <a:off x="3600450" y="3451175"/>
            <a:ext cx="5122200" cy="1135200"/>
          </a:xfrm>
          <a:prstGeom prst="straightConnector1">
            <a:avLst/>
          </a:prstGeom>
          <a:noFill/>
          <a:ln cap="flat" cmpd="sng" w="28575">
            <a:solidFill>
              <a:srgbClr val="FF00FF"/>
            </a:solidFill>
            <a:prstDash val="solid"/>
            <a:round/>
            <a:headEnd len="med" w="med" type="none"/>
            <a:tailEnd len="med" w="med" type="triangle"/>
          </a:ln>
        </p:spPr>
      </p:cxnSp>
      <p:cxnSp>
        <p:nvCxnSpPr>
          <p:cNvPr id="190" name="Google Shape;190;p18"/>
          <p:cNvCxnSpPr/>
          <p:nvPr/>
        </p:nvCxnSpPr>
        <p:spPr>
          <a:xfrm>
            <a:off x="3000375" y="4994225"/>
            <a:ext cx="5990100" cy="51360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196" name="Google Shape;196;p19"/>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The Heat Exchanger performed as expected and the addition of fans adds desired confidence in its ability to cool the water down. The expectation is the Heat Exchanger cools down the water much faster than the heaters heat it up. So far, that behavior remains consistent.</a:t>
            </a:r>
            <a:endParaRPr sz="1700">
              <a:solidFill>
                <a:schemeClr val="dk1"/>
              </a:solidFill>
            </a:endParaRPr>
          </a:p>
        </p:txBody>
      </p:sp>
      <p:pic>
        <p:nvPicPr>
          <p:cNvPr id="197" name="Google Shape;197;p19"/>
          <p:cNvPicPr preferRelativeResize="0"/>
          <p:nvPr/>
        </p:nvPicPr>
        <p:blipFill>
          <a:blip r:embed="rId3">
            <a:alphaModFix/>
          </a:blip>
          <a:stretch>
            <a:fillRect/>
          </a:stretch>
        </p:blipFill>
        <p:spPr>
          <a:xfrm>
            <a:off x="2115713" y="2140450"/>
            <a:ext cx="8268626" cy="4611350"/>
          </a:xfrm>
          <a:prstGeom prst="rect">
            <a:avLst/>
          </a:prstGeom>
          <a:noFill/>
          <a:ln>
            <a:noFill/>
          </a:ln>
        </p:spPr>
      </p:pic>
      <p:sp>
        <p:nvSpPr>
          <p:cNvPr id="198" name="Google Shape;198;p19"/>
          <p:cNvSpPr txBox="1"/>
          <p:nvPr/>
        </p:nvSpPr>
        <p:spPr>
          <a:xfrm>
            <a:off x="3908838" y="2172571"/>
            <a:ext cx="4682400" cy="3318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rgbClr val="494949"/>
                </a:solidFill>
              </a:rPr>
              <a:t>Phase III Heat Exchanger Test Results</a:t>
            </a:r>
            <a:endParaRPr sz="2000">
              <a:solidFill>
                <a:srgbClr val="49494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5881125" y="0"/>
            <a:ext cx="6310800" cy="914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en-US"/>
              <a:t>Phase I, II, and III Test Results</a:t>
            </a:r>
            <a:endParaRPr/>
          </a:p>
        </p:txBody>
      </p:sp>
      <p:sp>
        <p:nvSpPr>
          <p:cNvPr id="204" name="Google Shape;204;p20"/>
          <p:cNvSpPr txBox="1"/>
          <p:nvPr/>
        </p:nvSpPr>
        <p:spPr>
          <a:xfrm>
            <a:off x="1096475" y="1116425"/>
            <a:ext cx="10307100" cy="96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chemeClr val="dk1"/>
                </a:solidFill>
              </a:rPr>
              <a:t>The Heat Exchanger performed as expected and the addition of fans adds desired confidence in its ability to cool the water down. The expectation is the Heat Exchanger cools down the water much faster than the heaters heat it up. So far, that behavior remains consistent.</a:t>
            </a:r>
            <a:endParaRPr sz="1700">
              <a:solidFill>
                <a:schemeClr val="dk1"/>
              </a:solidFill>
            </a:endParaRPr>
          </a:p>
        </p:txBody>
      </p:sp>
      <p:pic>
        <p:nvPicPr>
          <p:cNvPr id="205" name="Google Shape;205;p20"/>
          <p:cNvPicPr preferRelativeResize="0"/>
          <p:nvPr/>
        </p:nvPicPr>
        <p:blipFill>
          <a:blip r:embed="rId3">
            <a:alphaModFix/>
          </a:blip>
          <a:stretch>
            <a:fillRect/>
          </a:stretch>
        </p:blipFill>
        <p:spPr>
          <a:xfrm>
            <a:off x="465238" y="2024125"/>
            <a:ext cx="3350377" cy="4467170"/>
          </a:xfrm>
          <a:prstGeom prst="rect">
            <a:avLst/>
          </a:prstGeom>
          <a:noFill/>
          <a:ln cap="flat" cmpd="sng" w="9525">
            <a:solidFill>
              <a:schemeClr val="dk1"/>
            </a:solidFill>
            <a:prstDash val="solid"/>
            <a:round/>
            <a:headEnd len="sm" w="sm" type="none"/>
            <a:tailEnd len="sm" w="sm" type="none"/>
          </a:ln>
        </p:spPr>
      </p:pic>
      <p:cxnSp>
        <p:nvCxnSpPr>
          <p:cNvPr id="206" name="Google Shape;206;p20"/>
          <p:cNvCxnSpPr/>
          <p:nvPr/>
        </p:nvCxnSpPr>
        <p:spPr>
          <a:xfrm rot="10800000">
            <a:off x="2275638" y="2143225"/>
            <a:ext cx="2505600" cy="0"/>
          </a:xfrm>
          <a:prstGeom prst="straightConnector1">
            <a:avLst/>
          </a:prstGeom>
          <a:noFill/>
          <a:ln cap="flat" cmpd="sng" w="28575">
            <a:solidFill>
              <a:srgbClr val="FF00FF"/>
            </a:solidFill>
            <a:prstDash val="solid"/>
            <a:round/>
            <a:headEnd len="med" w="med" type="none"/>
            <a:tailEnd len="med" w="med" type="triangle"/>
          </a:ln>
        </p:spPr>
      </p:cxnSp>
      <p:sp>
        <p:nvSpPr>
          <p:cNvPr id="207" name="Google Shape;207;p20"/>
          <p:cNvSpPr txBox="1"/>
          <p:nvPr/>
        </p:nvSpPr>
        <p:spPr>
          <a:xfrm>
            <a:off x="4781225" y="1923625"/>
            <a:ext cx="2196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Water Reservoir</a:t>
            </a:r>
            <a:endParaRPr sz="2000">
              <a:solidFill>
                <a:srgbClr val="FF00FF"/>
              </a:solidFill>
            </a:endParaRPr>
          </a:p>
        </p:txBody>
      </p:sp>
      <p:cxnSp>
        <p:nvCxnSpPr>
          <p:cNvPr id="208" name="Google Shape;208;p20"/>
          <p:cNvCxnSpPr/>
          <p:nvPr/>
        </p:nvCxnSpPr>
        <p:spPr>
          <a:xfrm rot="10800000">
            <a:off x="3561513" y="4843575"/>
            <a:ext cx="2505600" cy="0"/>
          </a:xfrm>
          <a:prstGeom prst="straightConnector1">
            <a:avLst/>
          </a:prstGeom>
          <a:noFill/>
          <a:ln cap="flat" cmpd="sng" w="28575">
            <a:solidFill>
              <a:srgbClr val="FF00FF"/>
            </a:solidFill>
            <a:prstDash val="solid"/>
            <a:round/>
            <a:headEnd len="med" w="med" type="none"/>
            <a:tailEnd len="med" w="med" type="triangle"/>
          </a:ln>
        </p:spPr>
      </p:cxnSp>
      <p:sp>
        <p:nvSpPr>
          <p:cNvPr id="209" name="Google Shape;209;p20"/>
          <p:cNvSpPr txBox="1"/>
          <p:nvPr/>
        </p:nvSpPr>
        <p:spPr>
          <a:xfrm>
            <a:off x="6067114" y="4623975"/>
            <a:ext cx="9645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Pump</a:t>
            </a:r>
            <a:endParaRPr sz="2000">
              <a:solidFill>
                <a:srgbClr val="FF00FF"/>
              </a:solidFill>
            </a:endParaRPr>
          </a:p>
        </p:txBody>
      </p:sp>
      <p:cxnSp>
        <p:nvCxnSpPr>
          <p:cNvPr id="210" name="Google Shape;210;p20"/>
          <p:cNvCxnSpPr/>
          <p:nvPr/>
        </p:nvCxnSpPr>
        <p:spPr>
          <a:xfrm rot="10800000">
            <a:off x="2918563" y="4125625"/>
            <a:ext cx="3116400" cy="0"/>
          </a:xfrm>
          <a:prstGeom prst="straightConnector1">
            <a:avLst/>
          </a:prstGeom>
          <a:noFill/>
          <a:ln cap="flat" cmpd="sng" w="28575">
            <a:solidFill>
              <a:srgbClr val="FF00FF"/>
            </a:solidFill>
            <a:prstDash val="solid"/>
            <a:round/>
            <a:headEnd len="med" w="med" type="none"/>
            <a:tailEnd len="med" w="med" type="triangle"/>
          </a:ln>
        </p:spPr>
      </p:cxnSp>
      <p:sp>
        <p:nvSpPr>
          <p:cNvPr id="211" name="Google Shape;211;p20"/>
          <p:cNvSpPr txBox="1"/>
          <p:nvPr/>
        </p:nvSpPr>
        <p:spPr>
          <a:xfrm>
            <a:off x="6067113" y="3906025"/>
            <a:ext cx="24111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Control Valve</a:t>
            </a:r>
            <a:endParaRPr sz="2000">
              <a:solidFill>
                <a:srgbClr val="FF00FF"/>
              </a:solidFill>
            </a:endParaRPr>
          </a:p>
        </p:txBody>
      </p:sp>
      <p:cxnSp>
        <p:nvCxnSpPr>
          <p:cNvPr id="212" name="Google Shape;212;p20"/>
          <p:cNvCxnSpPr/>
          <p:nvPr/>
        </p:nvCxnSpPr>
        <p:spPr>
          <a:xfrm flipH="1">
            <a:off x="1866688" y="3461150"/>
            <a:ext cx="3418200" cy="444900"/>
          </a:xfrm>
          <a:prstGeom prst="straightConnector1">
            <a:avLst/>
          </a:prstGeom>
          <a:noFill/>
          <a:ln cap="flat" cmpd="sng" w="28575">
            <a:solidFill>
              <a:srgbClr val="FF00FF"/>
            </a:solidFill>
            <a:prstDash val="solid"/>
            <a:round/>
            <a:headEnd len="med" w="med" type="none"/>
            <a:tailEnd len="med" w="med" type="triangle"/>
          </a:ln>
        </p:spPr>
      </p:cxnSp>
      <p:sp>
        <p:nvSpPr>
          <p:cNvPr id="213" name="Google Shape;213;p20"/>
          <p:cNvSpPr txBox="1"/>
          <p:nvPr/>
        </p:nvSpPr>
        <p:spPr>
          <a:xfrm>
            <a:off x="5284888" y="3273800"/>
            <a:ext cx="24111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Pressure Gauge</a:t>
            </a:r>
            <a:endParaRPr sz="2000">
              <a:solidFill>
                <a:srgbClr val="FF00FF"/>
              </a:solidFill>
            </a:endParaRPr>
          </a:p>
        </p:txBody>
      </p:sp>
      <p:cxnSp>
        <p:nvCxnSpPr>
          <p:cNvPr id="214" name="Google Shape;214;p20"/>
          <p:cNvCxnSpPr/>
          <p:nvPr/>
        </p:nvCxnSpPr>
        <p:spPr>
          <a:xfrm rot="10800000">
            <a:off x="1782613" y="5872275"/>
            <a:ext cx="4273800" cy="0"/>
          </a:xfrm>
          <a:prstGeom prst="straightConnector1">
            <a:avLst/>
          </a:prstGeom>
          <a:noFill/>
          <a:ln cap="flat" cmpd="sng" w="28575">
            <a:solidFill>
              <a:srgbClr val="FF00FF"/>
            </a:solidFill>
            <a:prstDash val="solid"/>
            <a:round/>
            <a:headEnd len="med" w="med" type="none"/>
            <a:tailEnd len="med" w="med" type="triangle"/>
          </a:ln>
        </p:spPr>
      </p:cxnSp>
      <p:sp>
        <p:nvSpPr>
          <p:cNvPr id="215" name="Google Shape;215;p20"/>
          <p:cNvSpPr txBox="1"/>
          <p:nvPr/>
        </p:nvSpPr>
        <p:spPr>
          <a:xfrm>
            <a:off x="6067112" y="5652675"/>
            <a:ext cx="2046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Heat Exchanger</a:t>
            </a:r>
            <a:endParaRPr sz="2000">
              <a:solidFill>
                <a:srgbClr val="FF00FF"/>
              </a:solidFill>
            </a:endParaRPr>
          </a:p>
        </p:txBody>
      </p:sp>
      <p:pic>
        <p:nvPicPr>
          <p:cNvPr id="216" name="Google Shape;216;p20" title="IMG_9468.jpg"/>
          <p:cNvPicPr preferRelativeResize="0"/>
          <p:nvPr/>
        </p:nvPicPr>
        <p:blipFill rotWithShape="1">
          <a:blip r:embed="rId4">
            <a:alphaModFix/>
          </a:blip>
          <a:srcRect b="0" l="0" r="0" t="0"/>
          <a:stretch/>
        </p:blipFill>
        <p:spPr>
          <a:xfrm rot="5400000">
            <a:off x="8916388" y="2501552"/>
            <a:ext cx="2436127" cy="3248148"/>
          </a:xfrm>
          <a:prstGeom prst="rect">
            <a:avLst/>
          </a:prstGeom>
          <a:noFill/>
          <a:ln cap="flat" cmpd="sng" w="9525">
            <a:solidFill>
              <a:srgbClr val="000000"/>
            </a:solidFill>
            <a:prstDash val="solid"/>
            <a:round/>
            <a:headEnd len="sm" w="sm" type="none"/>
            <a:tailEnd len="sm" w="sm" type="none"/>
          </a:ln>
        </p:spPr>
      </p:pic>
      <p:cxnSp>
        <p:nvCxnSpPr>
          <p:cNvPr id="217" name="Google Shape;217;p20"/>
          <p:cNvCxnSpPr/>
          <p:nvPr/>
        </p:nvCxnSpPr>
        <p:spPr>
          <a:xfrm flipH="1">
            <a:off x="1935200" y="2967800"/>
            <a:ext cx="3248400" cy="240900"/>
          </a:xfrm>
          <a:prstGeom prst="straightConnector1">
            <a:avLst/>
          </a:prstGeom>
          <a:noFill/>
          <a:ln cap="flat" cmpd="sng" w="28575">
            <a:solidFill>
              <a:srgbClr val="FF00FF"/>
            </a:solidFill>
            <a:prstDash val="solid"/>
            <a:round/>
            <a:headEnd len="med" w="med" type="none"/>
            <a:tailEnd len="med" w="med" type="triangle"/>
          </a:ln>
        </p:spPr>
      </p:cxnSp>
      <p:sp>
        <p:nvSpPr>
          <p:cNvPr id="218" name="Google Shape;218;p20"/>
          <p:cNvSpPr txBox="1"/>
          <p:nvPr/>
        </p:nvSpPr>
        <p:spPr>
          <a:xfrm>
            <a:off x="5183602" y="2776425"/>
            <a:ext cx="7620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RTD</a:t>
            </a:r>
            <a:endParaRPr sz="2000">
              <a:solidFill>
                <a:srgbClr val="FF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ph type="title"/>
          </p:nvPr>
        </p:nvSpPr>
        <p:spPr>
          <a:xfrm>
            <a:off x="7133625" y="0"/>
            <a:ext cx="37122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Execution Plan</a:t>
            </a:r>
            <a:endParaRPr/>
          </a:p>
        </p:txBody>
      </p:sp>
      <p:pic>
        <p:nvPicPr>
          <p:cNvPr id="224" name="Google Shape;224;p21"/>
          <p:cNvPicPr preferRelativeResize="0"/>
          <p:nvPr/>
        </p:nvPicPr>
        <p:blipFill>
          <a:blip r:embed="rId3">
            <a:alphaModFix/>
          </a:blip>
          <a:stretch>
            <a:fillRect/>
          </a:stretch>
        </p:blipFill>
        <p:spPr>
          <a:xfrm>
            <a:off x="152400" y="1066800"/>
            <a:ext cx="11887200" cy="53616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aphicFrame>
        <p:nvGraphicFramePr>
          <p:cNvPr id="229" name="Google Shape;229;p22"/>
          <p:cNvGraphicFramePr/>
          <p:nvPr/>
        </p:nvGraphicFramePr>
        <p:xfrm>
          <a:off x="609600" y="1785643"/>
          <a:ext cx="3000000" cy="3000000"/>
        </p:xfrm>
        <a:graphic>
          <a:graphicData uri="http://schemas.openxmlformats.org/drawingml/2006/table">
            <a:tbl>
              <a:tblPr>
                <a:noFill/>
                <a:tableStyleId>{DACDDDD7-9C0F-4722-96EE-246439F23AC9}</a:tableStyleId>
              </a:tblPr>
              <a:tblGrid>
                <a:gridCol w="5494025"/>
                <a:gridCol w="5478775"/>
              </a:tblGrid>
              <a:tr h="929150">
                <a:tc>
                  <a:txBody>
                    <a:bodyPr/>
                    <a:lstStyle/>
                    <a:p>
                      <a:pPr indent="0" lvl="0" marL="0" marR="0" rtl="0" algn="ctr">
                        <a:lnSpc>
                          <a:spcPct val="100000"/>
                        </a:lnSpc>
                        <a:spcBef>
                          <a:spcPts val="0"/>
                        </a:spcBef>
                        <a:spcAft>
                          <a:spcPts val="0"/>
                        </a:spcAft>
                        <a:buClr>
                          <a:schemeClr val="dk1"/>
                        </a:buClr>
                        <a:buSzPts val="1800"/>
                        <a:buFont typeface="Arial"/>
                        <a:buNone/>
                      </a:pPr>
                      <a:r>
                        <a:rPr lang="en-US" sz="1800">
                          <a:solidFill>
                            <a:schemeClr val="dk1"/>
                          </a:solidFill>
                        </a:rPr>
                        <a:t>Accomplishments (9/30 - 10/14) </a:t>
                      </a:r>
                      <a:r>
                        <a:rPr lang="en-US" sz="1800" u="none" cap="none" strike="noStrike"/>
                        <a:t>                        </a:t>
                      </a:r>
                      <a:endParaRPr sz="1800" u="none" cap="none" strike="noStrike">
                        <a:solidFill>
                          <a:srgbClr val="C00000"/>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rtl="0" algn="ctr">
                        <a:spcBef>
                          <a:spcPts val="0"/>
                        </a:spcBef>
                        <a:spcAft>
                          <a:spcPts val="0"/>
                        </a:spcAft>
                        <a:buClr>
                          <a:schemeClr val="dk1"/>
                        </a:buClr>
                        <a:buSzPts val="1800"/>
                        <a:buFont typeface="Arial"/>
                        <a:buNone/>
                      </a:pPr>
                      <a:r>
                        <a:rPr lang="en-US" sz="1800">
                          <a:solidFill>
                            <a:schemeClr val="dk1"/>
                          </a:solidFill>
                        </a:rPr>
                        <a:t>In Progress (10/14 - 10/28)</a:t>
                      </a:r>
                      <a:endParaRPr sz="1800" u="none" cap="none" strike="noStrike">
                        <a:solidFill>
                          <a:schemeClr val="dk1"/>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3923150">
                <a:tc>
                  <a:txBody>
                    <a:bodyPr/>
                    <a:lstStyle/>
                    <a:p>
                      <a:pPr indent="-317500" lvl="0" marL="457200" rtl="0" algn="l">
                        <a:spcBef>
                          <a:spcPts val="0"/>
                        </a:spcBef>
                        <a:spcAft>
                          <a:spcPts val="0"/>
                        </a:spcAft>
                        <a:buClr>
                          <a:schemeClr val="dk2"/>
                        </a:buClr>
                        <a:buSzPts val="1400"/>
                        <a:buChar char="●"/>
                      </a:pPr>
                      <a:r>
                        <a:rPr lang="en-US">
                          <a:solidFill>
                            <a:schemeClr val="dk2"/>
                          </a:solidFill>
                        </a:rPr>
                        <a:t>Worked with MEEN TL to establish new testing and construction strategy</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1"/>
                        </a:buClr>
                        <a:buSzPts val="1400"/>
                        <a:buChar char="●"/>
                      </a:pPr>
                      <a:r>
                        <a:rPr lang="en-US">
                          <a:solidFill>
                            <a:schemeClr val="dk1"/>
                          </a:solidFill>
                        </a:rPr>
                        <a:t>Wired complete skid on temporary mount and tested individual loads on complete system</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Started CAD model to determine organization and spacing for mounting into PLC box</a:t>
                      </a:r>
                      <a:endParaRPr>
                        <a:solidFill>
                          <a:schemeClr val="dk1"/>
                        </a:solidFill>
                      </a:endParaRPr>
                    </a:p>
                    <a:p>
                      <a:pPr indent="-317500" lvl="1" marL="914400" rtl="0" algn="l">
                        <a:spcBef>
                          <a:spcPts val="0"/>
                        </a:spcBef>
                        <a:spcAft>
                          <a:spcPts val="0"/>
                        </a:spcAft>
                        <a:buClr>
                          <a:schemeClr val="dk1"/>
                        </a:buClr>
                        <a:buSzPts val="1400"/>
                        <a:buChar char="○"/>
                      </a:pPr>
                      <a:r>
                        <a:rPr lang="en-US">
                          <a:solidFill>
                            <a:schemeClr val="dk1"/>
                          </a:solidFill>
                        </a:rPr>
                        <a:t>Putting a pause on final wiring diagram amidst potential minor redesigns following spacing and organization</a:t>
                      </a:r>
                      <a:endParaRPr>
                        <a:solidFill>
                          <a:schemeClr val="dk1"/>
                        </a:solidFill>
                      </a:endParaRPr>
                    </a:p>
                    <a:p>
                      <a:pPr indent="-317500" lvl="2" marL="1371600" rtl="0" algn="l">
                        <a:spcBef>
                          <a:spcPts val="0"/>
                        </a:spcBef>
                        <a:spcAft>
                          <a:spcPts val="0"/>
                        </a:spcAft>
                        <a:buClr>
                          <a:schemeClr val="dk1"/>
                        </a:buClr>
                        <a:buSzPts val="1400"/>
                        <a:buChar char="■"/>
                      </a:pPr>
                      <a:r>
                        <a:rPr lang="en-US">
                          <a:solidFill>
                            <a:schemeClr val="dk1"/>
                          </a:solidFill>
                        </a:rPr>
                        <a:t>Assessed AC and DC load distribution, but is still subject to change for mounting logistics</a:t>
                      </a:r>
                      <a:endParaRPr>
                        <a:solidFill>
                          <a:schemeClr val="dk1"/>
                        </a:solidFill>
                      </a:endParaRPr>
                    </a:p>
                    <a:p>
                      <a:pPr indent="-171450" lvl="0" marL="28575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17500" lvl="0" marL="457200" rtl="0" algn="l">
                        <a:spcBef>
                          <a:spcPts val="0"/>
                        </a:spcBef>
                        <a:spcAft>
                          <a:spcPts val="0"/>
                        </a:spcAft>
                        <a:buClr>
                          <a:schemeClr val="dk2"/>
                        </a:buClr>
                        <a:buSzPts val="1400"/>
                        <a:buChar char="●"/>
                      </a:pPr>
                      <a:r>
                        <a:rPr lang="en-US">
                          <a:solidFill>
                            <a:schemeClr val="dk2"/>
                          </a:solidFill>
                        </a:rPr>
                        <a:t>Continue working to provide clarity on project-class requirements and expectations - video &amp; report</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1"/>
                        </a:buClr>
                        <a:buSzPts val="1400"/>
                        <a:buChar char="●"/>
                      </a:pPr>
                      <a:r>
                        <a:rPr lang="en-US">
                          <a:solidFill>
                            <a:schemeClr val="dk1"/>
                          </a:solidFill>
                        </a:rPr>
                        <a:t>Continue to develop CAD model for organization and physical spacing of components</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Schedule downtime with testing to allow for mounting and re-wiring </a:t>
                      </a:r>
                      <a:endParaRPr>
                        <a:solidFill>
                          <a:schemeClr val="dk1"/>
                        </a:solidFill>
                      </a:endParaRPr>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30" name="Google Shape;230;p22"/>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Power | </a:t>
            </a:r>
            <a:r>
              <a:rPr b="1" lang="en-US" sz="3600">
                <a:solidFill>
                  <a:schemeClr val="dk2"/>
                </a:solidFill>
              </a:rPr>
              <a:t>ECEN Team Lead</a:t>
            </a:r>
            <a:endParaRPr b="1" sz="3600">
              <a:solidFill>
                <a:schemeClr val="dk2"/>
              </a:solidFill>
            </a:endParaRPr>
          </a:p>
        </p:txBody>
      </p:sp>
      <p:sp>
        <p:nvSpPr>
          <p:cNvPr id="231" name="Google Shape;231;p22"/>
          <p:cNvSpPr txBox="1"/>
          <p:nvPr/>
        </p:nvSpPr>
        <p:spPr>
          <a:xfrm>
            <a:off x="6936600" y="643925"/>
            <a:ext cx="4734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Ethan Henderson</a:t>
            </a:r>
            <a:endParaRPr i="1" sz="2700">
              <a:solidFill>
                <a:schemeClr val="dk1"/>
              </a:solidFill>
            </a:endParaRPr>
          </a:p>
          <a:p>
            <a:pPr indent="0" lvl="0" marL="0" rtl="0" algn="ctr">
              <a:spcBef>
                <a:spcPts val="0"/>
              </a:spcBef>
              <a:spcAft>
                <a:spcPts val="0"/>
              </a:spcAft>
              <a:buClr>
                <a:schemeClr val="dk1"/>
              </a:buClr>
              <a:buSzPts val="1100"/>
              <a:buFont typeface="Arial"/>
              <a:buNone/>
            </a:pPr>
            <a:r>
              <a:rPr i="1" lang="en-US" sz="2100">
                <a:solidFill>
                  <a:schemeClr val="dk1"/>
                </a:solidFill>
              </a:rPr>
              <a:t>Time Spent: ~10 Hrs</a:t>
            </a:r>
            <a:endParaRPr i="1" sz="2700">
              <a:solidFill>
                <a:schemeClr val="dk1"/>
              </a:solidFill>
            </a:endParaRPr>
          </a:p>
        </p:txBody>
      </p:sp>
      <p:cxnSp>
        <p:nvCxnSpPr>
          <p:cNvPr id="232" name="Google Shape;232;p22"/>
          <p:cNvCxnSpPr/>
          <p:nvPr/>
        </p:nvCxnSpPr>
        <p:spPr>
          <a:xfrm>
            <a:off x="836300" y="3296008"/>
            <a:ext cx="5141100" cy="0"/>
          </a:xfrm>
          <a:prstGeom prst="straightConnector1">
            <a:avLst/>
          </a:prstGeom>
          <a:noFill/>
          <a:ln cap="flat" cmpd="sng" w="28575">
            <a:solidFill>
              <a:schemeClr val="dk1"/>
            </a:solidFill>
            <a:prstDash val="solid"/>
            <a:round/>
            <a:headEnd len="med" w="med" type="none"/>
            <a:tailEnd len="med" w="med" type="none"/>
          </a:ln>
        </p:spPr>
      </p:cxnSp>
      <p:cxnSp>
        <p:nvCxnSpPr>
          <p:cNvPr id="233" name="Google Shape;233;p22"/>
          <p:cNvCxnSpPr/>
          <p:nvPr/>
        </p:nvCxnSpPr>
        <p:spPr>
          <a:xfrm>
            <a:off x="6236198" y="3295994"/>
            <a:ext cx="5141100" cy="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sp>
        <p:nvSpPr>
          <p:cNvPr id="239" name="Google Shape;239;p23"/>
          <p:cNvSpPr txBox="1"/>
          <p:nvPr/>
        </p:nvSpPr>
        <p:spPr>
          <a:xfrm>
            <a:off x="1145175" y="914400"/>
            <a:ext cx="9835200" cy="11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The strategy is to take rectangular </a:t>
            </a:r>
            <a:r>
              <a:rPr lang="en-US" sz="1600">
                <a:solidFill>
                  <a:schemeClr val="dk1"/>
                </a:solidFill>
              </a:rPr>
              <a:t>measurements of every component and use the CAD to put the pieces together to determine best orientation/configuration of components, conduit termination, and wiring.</a:t>
            </a:r>
            <a:endParaRPr sz="1600">
              <a:solidFill>
                <a:schemeClr val="dk1"/>
              </a:solidFill>
            </a:endParaRPr>
          </a:p>
        </p:txBody>
      </p:sp>
      <p:pic>
        <p:nvPicPr>
          <p:cNvPr id="240" name="Google Shape;240;p23"/>
          <p:cNvPicPr preferRelativeResize="0"/>
          <p:nvPr/>
        </p:nvPicPr>
        <p:blipFill>
          <a:blip r:embed="rId3">
            <a:alphaModFix/>
          </a:blip>
          <a:stretch>
            <a:fillRect/>
          </a:stretch>
        </p:blipFill>
        <p:spPr>
          <a:xfrm>
            <a:off x="1819950" y="1690950"/>
            <a:ext cx="8485651" cy="48622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sp>
        <p:nvSpPr>
          <p:cNvPr id="246" name="Google Shape;246;p24"/>
          <p:cNvSpPr txBox="1"/>
          <p:nvPr/>
        </p:nvSpPr>
        <p:spPr>
          <a:xfrm>
            <a:off x="1145175" y="914400"/>
            <a:ext cx="9835200" cy="11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The strategy is to take rectangular measurements of every component and use the CAD to put the pieces together to determine best orientation/configuration of components, conduit termination, and wiring.</a:t>
            </a:r>
            <a:endParaRPr sz="1600">
              <a:solidFill>
                <a:schemeClr val="dk1"/>
              </a:solidFill>
            </a:endParaRPr>
          </a:p>
        </p:txBody>
      </p:sp>
      <p:pic>
        <p:nvPicPr>
          <p:cNvPr id="247" name="Google Shape;247;p24"/>
          <p:cNvPicPr preferRelativeResize="0"/>
          <p:nvPr/>
        </p:nvPicPr>
        <p:blipFill>
          <a:blip r:embed="rId3">
            <a:alphaModFix/>
          </a:blip>
          <a:stretch>
            <a:fillRect/>
          </a:stretch>
        </p:blipFill>
        <p:spPr>
          <a:xfrm>
            <a:off x="1875913" y="1534425"/>
            <a:ext cx="3787974" cy="5153574"/>
          </a:xfrm>
          <a:prstGeom prst="rect">
            <a:avLst/>
          </a:prstGeom>
          <a:noFill/>
          <a:ln>
            <a:noFill/>
          </a:ln>
        </p:spPr>
      </p:pic>
      <p:sp>
        <p:nvSpPr>
          <p:cNvPr id="248" name="Google Shape;248;p24"/>
          <p:cNvSpPr txBox="1"/>
          <p:nvPr/>
        </p:nvSpPr>
        <p:spPr>
          <a:xfrm>
            <a:off x="6286500" y="1794700"/>
            <a:ext cx="5013300" cy="46122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US" sz="1500">
                <a:solidFill>
                  <a:schemeClr val="dk1"/>
                </a:solidFill>
              </a:rPr>
              <a:t>Need to account for spacing of PLCs for cooling purposes - need to consider the same for the power supplies</a:t>
            </a:r>
            <a:endParaRPr sz="1500">
              <a:solidFill>
                <a:schemeClr val="dk1"/>
              </a:solidFill>
            </a:endParaRPr>
          </a:p>
          <a:p>
            <a:pPr indent="-323850" lvl="1" marL="914400" rtl="0" algn="l">
              <a:spcBef>
                <a:spcPts val="0"/>
              </a:spcBef>
              <a:spcAft>
                <a:spcPts val="0"/>
              </a:spcAft>
              <a:buClr>
                <a:schemeClr val="dk1"/>
              </a:buClr>
              <a:buSzPts val="1500"/>
              <a:buChar char="○"/>
            </a:pPr>
            <a:r>
              <a:rPr lang="en-US" sz="1500">
                <a:solidFill>
                  <a:schemeClr val="dk1"/>
                </a:solidFill>
              </a:rPr>
              <a:t>being in an air-conditioned building helps </a:t>
            </a:r>
            <a:r>
              <a:rPr lang="en-US" sz="1500">
                <a:solidFill>
                  <a:schemeClr val="dk1"/>
                </a:solidFill>
              </a:rPr>
              <a:t>alleviate</a:t>
            </a:r>
            <a:r>
              <a:rPr lang="en-US" sz="1500">
                <a:solidFill>
                  <a:schemeClr val="dk1"/>
                </a:solidFill>
              </a:rPr>
              <a:t> some constraints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Wire ducts will need to be 1” and segment the different component “groups” (i.e. incoming AC, PLC, protection, control actuators, etc.)</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Isolation of DIN Rails utilizing signal </a:t>
            </a:r>
            <a:r>
              <a:rPr lang="en-US" sz="1500">
                <a:solidFill>
                  <a:schemeClr val="dk1"/>
                </a:solidFill>
              </a:rPr>
              <a:t>grounds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Special mounting of Main Power Switch (not shown), Heater Switch (not shown) and HMI Screen (not shown) on door of PLC enclosure</a:t>
            </a:r>
            <a:endParaRPr sz="1500">
              <a:solidFill>
                <a:schemeClr val="dk1"/>
              </a:solidFill>
            </a:endParaRPr>
          </a:p>
          <a:p>
            <a:pPr indent="-323850" lvl="1" marL="914400" rtl="0" algn="l">
              <a:spcBef>
                <a:spcPts val="0"/>
              </a:spcBef>
              <a:spcAft>
                <a:spcPts val="0"/>
              </a:spcAft>
              <a:buClr>
                <a:schemeClr val="dk1"/>
              </a:buClr>
              <a:buSzPts val="1500"/>
              <a:buChar char="○"/>
            </a:pPr>
            <a:r>
              <a:rPr lang="en-US" sz="1500">
                <a:solidFill>
                  <a:schemeClr val="dk1"/>
                </a:solidFill>
              </a:rPr>
              <a:t>Additional Conductivity HMI will need to be assessed for spacing after critical components have been installed</a:t>
            </a:r>
            <a:endParaRPr sz="15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graphicFrame>
        <p:nvGraphicFramePr>
          <p:cNvPr id="253" name="Google Shape;253;p25"/>
          <p:cNvGraphicFramePr/>
          <p:nvPr/>
        </p:nvGraphicFramePr>
        <p:xfrm>
          <a:off x="609600" y="2005693"/>
          <a:ext cx="3000000" cy="3000000"/>
        </p:xfrm>
        <a:graphic>
          <a:graphicData uri="http://schemas.openxmlformats.org/drawingml/2006/table">
            <a:tbl>
              <a:tblPr>
                <a:noFill/>
                <a:tableStyleId>{DACDDDD7-9C0F-4722-96EE-246439F23AC9}</a:tableStyleId>
              </a:tblPr>
              <a:tblGrid>
                <a:gridCol w="5494025"/>
                <a:gridCol w="5478775"/>
              </a:tblGrid>
              <a:tr h="1042750">
                <a:tc>
                  <a:txBody>
                    <a:bodyPr/>
                    <a:lstStyle/>
                    <a:p>
                      <a:pPr indent="0" lvl="0" marL="0" marR="0" rtl="0" algn="ctr">
                        <a:lnSpc>
                          <a:spcPct val="100000"/>
                        </a:lnSpc>
                        <a:spcBef>
                          <a:spcPts val="0"/>
                        </a:spcBef>
                        <a:spcAft>
                          <a:spcPts val="0"/>
                        </a:spcAft>
                        <a:buClr>
                          <a:schemeClr val="dk1"/>
                        </a:buClr>
                        <a:buSzPts val="1800"/>
                        <a:buFont typeface="Arial"/>
                        <a:buNone/>
                      </a:pPr>
                      <a:r>
                        <a:rPr lang="en-US" sz="1800">
                          <a:solidFill>
                            <a:schemeClr val="dk1"/>
                          </a:solidFill>
                        </a:rPr>
                        <a:t>Accomplishments (9/30 - 10/14)</a:t>
                      </a:r>
                      <a:r>
                        <a:rPr lang="en-US" sz="1800" u="none" cap="none" strike="noStrike"/>
                        <a:t>    </a:t>
                      </a:r>
                      <a:endParaRPr sz="1800"/>
                    </a:p>
                    <a:p>
                      <a:pPr indent="0" lvl="0" marL="0" marR="0" rtl="0" algn="ctr">
                        <a:lnSpc>
                          <a:spcPct val="100000"/>
                        </a:lnSpc>
                        <a:spcBef>
                          <a:spcPts val="0"/>
                        </a:spcBef>
                        <a:spcAft>
                          <a:spcPts val="0"/>
                        </a:spcAft>
                        <a:buClr>
                          <a:schemeClr val="dk1"/>
                        </a:buClr>
                        <a:buSzPts val="1800"/>
                        <a:buFont typeface="Arial"/>
                        <a:buNone/>
                      </a:pPr>
                      <a:r>
                        <a:rPr lang="en-US" sz="1800" u="none" cap="none" strike="noStrike"/>
                        <a:t>      </a:t>
                      </a:r>
                      <a:endParaRPr sz="1800" u="none" cap="none" strike="noStrike">
                        <a:solidFill>
                          <a:srgbClr val="C00000"/>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rtl="0" algn="ctr">
                        <a:spcBef>
                          <a:spcPts val="0"/>
                        </a:spcBef>
                        <a:spcAft>
                          <a:spcPts val="0"/>
                        </a:spcAft>
                        <a:buClr>
                          <a:schemeClr val="dk1"/>
                        </a:buClr>
                        <a:buSzPts val="1800"/>
                        <a:buFont typeface="Arial"/>
                        <a:buNone/>
                      </a:pPr>
                      <a:r>
                        <a:rPr lang="en-US" sz="1800">
                          <a:solidFill>
                            <a:schemeClr val="dk1"/>
                          </a:solidFill>
                        </a:rPr>
                        <a:t>In Progress (10/14 - 10/28)</a:t>
                      </a:r>
                      <a:endParaRPr sz="1800" u="none" cap="none" strike="noStrike">
                        <a:solidFill>
                          <a:schemeClr val="dk1"/>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799425">
                <a:tc>
                  <a:txBody>
                    <a:bodyPr/>
                    <a:lstStyle/>
                    <a:p>
                      <a:pPr indent="-285750" lvl="0" marL="285750" marR="0" rtl="0" algn="l">
                        <a:lnSpc>
                          <a:spcPct val="100000"/>
                        </a:lnSpc>
                        <a:spcBef>
                          <a:spcPts val="0"/>
                        </a:spcBef>
                        <a:spcAft>
                          <a:spcPts val="0"/>
                        </a:spcAft>
                        <a:buClr>
                          <a:schemeClr val="dk1"/>
                        </a:buClr>
                        <a:buSzPts val="1800"/>
                        <a:buChar char="•"/>
                      </a:pPr>
                      <a:r>
                        <a:rPr b="1" lang="en-US" sz="1800"/>
                        <a:t>Tested running 3-way valve actuator from PLC Software</a:t>
                      </a:r>
                      <a:endParaRPr b="1" sz="1800"/>
                    </a:p>
                    <a:p>
                      <a:pPr indent="-285750" lvl="0" marL="285750" marR="0" rtl="0" algn="l">
                        <a:lnSpc>
                          <a:spcPct val="100000"/>
                        </a:lnSpc>
                        <a:spcBef>
                          <a:spcPts val="0"/>
                        </a:spcBef>
                        <a:spcAft>
                          <a:spcPts val="0"/>
                        </a:spcAft>
                        <a:buSzPts val="1800"/>
                        <a:buChar char="•"/>
                      </a:pPr>
                      <a:r>
                        <a:rPr b="1" lang="en-US" sz="1800"/>
                        <a:t>Installed and Tested Resistance Temperature Detector in Heat Exchanger test</a:t>
                      </a:r>
                      <a:endParaRPr b="1" sz="1800"/>
                    </a:p>
                    <a:p>
                      <a:pPr indent="-285750" lvl="0" marL="285750" marR="0" rtl="0" algn="l">
                        <a:lnSpc>
                          <a:spcPct val="100000"/>
                        </a:lnSpc>
                        <a:spcBef>
                          <a:spcPts val="0"/>
                        </a:spcBef>
                        <a:spcAft>
                          <a:spcPts val="0"/>
                        </a:spcAft>
                        <a:buSzPts val="1800"/>
                        <a:buChar char="•"/>
                      </a:pPr>
                      <a:r>
                        <a:rPr b="1" lang="en-US" sz="1800"/>
                        <a:t>Added System State indicator to HMI screen</a:t>
                      </a:r>
                      <a:endParaRPr b="1" sz="1800"/>
                    </a:p>
                    <a:p>
                      <a:pPr indent="0" lvl="0" marL="0" marR="0" rtl="0" algn="l">
                        <a:lnSpc>
                          <a:spcPct val="100000"/>
                        </a:lnSpc>
                        <a:spcBef>
                          <a:spcPts val="0"/>
                        </a:spcBef>
                        <a:spcAft>
                          <a:spcPts val="0"/>
                        </a:spcAft>
                        <a:buNone/>
                      </a:pPr>
                      <a:r>
                        <a:t/>
                      </a:r>
                      <a:endParaRPr b="1" sz="1800"/>
                    </a:p>
                    <a:p>
                      <a:pPr indent="-171450" lvl="0" marL="285750" marR="0" rtl="0" algn="l">
                        <a:spcBef>
                          <a:spcPts val="0"/>
                        </a:spcBef>
                        <a:spcAft>
                          <a:spcPts val="0"/>
                        </a:spcAft>
                        <a:buClr>
                          <a:schemeClr val="dk1"/>
                        </a:buClr>
                        <a:buSzPts val="1800"/>
                        <a:buFont typeface="Arial"/>
                        <a:buNone/>
                      </a:pPr>
                      <a:r>
                        <a:t/>
                      </a:r>
                      <a:endParaRPr b="1"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spcBef>
                          <a:spcPts val="0"/>
                        </a:spcBef>
                        <a:spcAft>
                          <a:spcPts val="0"/>
                        </a:spcAft>
                        <a:buSzPts val="1800"/>
                        <a:buChar char="●"/>
                      </a:pPr>
                      <a:r>
                        <a:rPr b="1" lang="en-US" sz="1800"/>
                        <a:t>Install and Test Flow Transmitter</a:t>
                      </a:r>
                      <a:endParaRPr b="1" sz="1800"/>
                    </a:p>
                    <a:p>
                      <a:pPr indent="-342900" lvl="0" marL="457200" marR="0" rtl="0" algn="l">
                        <a:spcBef>
                          <a:spcPts val="0"/>
                        </a:spcBef>
                        <a:spcAft>
                          <a:spcPts val="0"/>
                        </a:spcAft>
                        <a:buSzPts val="1800"/>
                        <a:buChar char="●"/>
                      </a:pPr>
                      <a:r>
                        <a:rPr b="1" lang="en-US" sz="1800"/>
                        <a:t>Test Conductivity Transmitter with Resin Filter</a:t>
                      </a:r>
                      <a:endParaRPr b="1" sz="1800"/>
                    </a:p>
                    <a:p>
                      <a:pPr indent="-342900" lvl="0" marL="457200" marR="0" rtl="0" algn="l">
                        <a:spcBef>
                          <a:spcPts val="0"/>
                        </a:spcBef>
                        <a:spcAft>
                          <a:spcPts val="0"/>
                        </a:spcAft>
                        <a:buSzPts val="1800"/>
                        <a:buChar char="●"/>
                      </a:pPr>
                      <a:r>
                        <a:rPr b="1" lang="en-US" sz="1800"/>
                        <a:t>Document PLC Wiring Connections for Rebuild in Controls Box</a:t>
                      </a:r>
                      <a:endParaRPr b="1"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54" name="Google Shape;254;p25"/>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p>
          <a:p>
            <a:pPr indent="0" lvl="0" marL="0" rtl="0" algn="ctr">
              <a:spcBef>
                <a:spcPts val="0"/>
              </a:spcBef>
              <a:spcAft>
                <a:spcPts val="0"/>
              </a:spcAft>
              <a:buNone/>
            </a:pPr>
            <a:r>
              <a:t/>
            </a:r>
            <a:endParaRPr b="1" sz="3600"/>
          </a:p>
        </p:txBody>
      </p:sp>
      <p:sp>
        <p:nvSpPr>
          <p:cNvPr id="255" name="Google Shape;255;p25"/>
          <p:cNvSpPr txBox="1"/>
          <p:nvPr/>
        </p:nvSpPr>
        <p:spPr>
          <a:xfrm>
            <a:off x="6936601" y="643925"/>
            <a:ext cx="4734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Robert Parker</a:t>
            </a:r>
            <a:endParaRPr i="1" sz="2700">
              <a:solidFill>
                <a:schemeClr val="dk1"/>
              </a:solidFill>
            </a:endParaRPr>
          </a:p>
          <a:p>
            <a:pPr indent="0" lvl="0" marL="0" rtl="0" algn="ctr">
              <a:spcBef>
                <a:spcPts val="0"/>
              </a:spcBef>
              <a:spcAft>
                <a:spcPts val="0"/>
              </a:spcAft>
              <a:buNone/>
            </a:pPr>
            <a:r>
              <a:rPr i="1" lang="en-US" sz="2100">
                <a:solidFill>
                  <a:schemeClr val="dk1"/>
                </a:solidFill>
              </a:rPr>
              <a:t>Time Spent: ~20 Hrs</a:t>
            </a:r>
            <a:endParaRPr i="1" sz="27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solidFill>
                <a:srgbClr val="000000"/>
              </a:solidFill>
            </a:endParaRPr>
          </a:p>
        </p:txBody>
      </p:sp>
      <p:sp>
        <p:nvSpPr>
          <p:cNvPr id="262" name="Google Shape;262;p26"/>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HMI Screen Update</a:t>
            </a:r>
            <a:endParaRPr i="1"/>
          </a:p>
        </p:txBody>
      </p:sp>
      <p:pic>
        <p:nvPicPr>
          <p:cNvPr id="263" name="Google Shape;263;p26"/>
          <p:cNvPicPr preferRelativeResize="0"/>
          <p:nvPr/>
        </p:nvPicPr>
        <p:blipFill>
          <a:blip r:embed="rId3">
            <a:alphaModFix/>
          </a:blip>
          <a:stretch>
            <a:fillRect/>
          </a:stretch>
        </p:blipFill>
        <p:spPr>
          <a:xfrm>
            <a:off x="2618675" y="1343475"/>
            <a:ext cx="6954649" cy="4171050"/>
          </a:xfrm>
          <a:prstGeom prst="rect">
            <a:avLst/>
          </a:prstGeom>
          <a:noFill/>
          <a:ln>
            <a:noFill/>
          </a:ln>
        </p:spPr>
      </p:pic>
      <p:sp>
        <p:nvSpPr>
          <p:cNvPr id="264" name="Google Shape;264;p26"/>
          <p:cNvSpPr txBox="1"/>
          <p:nvPr/>
        </p:nvSpPr>
        <p:spPr>
          <a:xfrm>
            <a:off x="2618675" y="5514525"/>
            <a:ext cx="65166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CH.1: State indicator (Top Right) Shows current state of system ex: Calibrating,Ready,Online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solidFill>
                <a:srgbClr val="000000"/>
              </a:solidFill>
            </a:endParaRPr>
          </a:p>
        </p:txBody>
      </p:sp>
      <p:sp>
        <p:nvSpPr>
          <p:cNvPr id="271" name="Google Shape;271;p27"/>
          <p:cNvSpPr txBox="1"/>
          <p:nvPr/>
        </p:nvSpPr>
        <p:spPr>
          <a:xfrm>
            <a:off x="6936601" y="643925"/>
            <a:ext cx="47346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3-Way Valve Actuator Test Results</a:t>
            </a:r>
            <a:endParaRPr i="1"/>
          </a:p>
        </p:txBody>
      </p:sp>
      <p:pic>
        <p:nvPicPr>
          <p:cNvPr id="272" name="Google Shape;272;p27"/>
          <p:cNvPicPr preferRelativeResize="0"/>
          <p:nvPr/>
        </p:nvPicPr>
        <p:blipFill>
          <a:blip r:embed="rId3">
            <a:alphaModFix/>
          </a:blip>
          <a:stretch>
            <a:fillRect/>
          </a:stretch>
        </p:blipFill>
        <p:spPr>
          <a:xfrm>
            <a:off x="2345138" y="1659725"/>
            <a:ext cx="7501726" cy="4130950"/>
          </a:xfrm>
          <a:prstGeom prst="rect">
            <a:avLst/>
          </a:prstGeom>
          <a:noFill/>
          <a:ln>
            <a:noFill/>
          </a:ln>
        </p:spPr>
      </p:pic>
      <p:sp>
        <p:nvSpPr>
          <p:cNvPr id="273" name="Google Shape;273;p27"/>
          <p:cNvSpPr txBox="1"/>
          <p:nvPr/>
        </p:nvSpPr>
        <p:spPr>
          <a:xfrm>
            <a:off x="2345150" y="5790675"/>
            <a:ext cx="97446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CH.2: Open loop 3-Way Valve Setpoint, Feedback and Error</a:t>
            </a:r>
            <a:endParaRPr b="1" sz="1700">
              <a:solidFill>
                <a:schemeClr val="dk1"/>
              </a:solidFill>
            </a:endParaRPr>
          </a:p>
          <a:p>
            <a:pPr indent="0" lvl="0" marL="0" rtl="0" algn="l">
              <a:lnSpc>
                <a:spcPct val="115000"/>
              </a:lnSpc>
              <a:spcBef>
                <a:spcPts val="0"/>
              </a:spcBef>
              <a:spcAft>
                <a:spcPts val="0"/>
              </a:spcAft>
              <a:buNone/>
            </a:pPr>
            <a:r>
              <a:rPr b="1" lang="en-US" sz="1700">
                <a:solidFill>
                  <a:schemeClr val="dk1"/>
                </a:solidFill>
              </a:rPr>
              <a:t>Valve was Moved between Open(0 degrees) and Fully Closed (90 degrees)</a:t>
            </a:r>
            <a:endParaRPr b="1" sz="1700">
              <a:solidFill>
                <a:schemeClr val="dk1"/>
              </a:solidFill>
            </a:endParaRPr>
          </a:p>
        </p:txBody>
      </p:sp>
      <p:sp>
        <p:nvSpPr>
          <p:cNvPr id="274" name="Google Shape;274;p27"/>
          <p:cNvSpPr txBox="1"/>
          <p:nvPr/>
        </p:nvSpPr>
        <p:spPr>
          <a:xfrm>
            <a:off x="891700" y="920825"/>
            <a:ext cx="37764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US" sz="1800">
                <a:solidFill>
                  <a:schemeClr val="dk1"/>
                </a:solidFill>
              </a:rPr>
              <a:t>Position error in steady state stayed less than 1 degree</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8"/>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solidFill>
                <a:srgbClr val="000000"/>
              </a:solidFill>
            </a:endParaRPr>
          </a:p>
        </p:txBody>
      </p:sp>
      <p:sp>
        <p:nvSpPr>
          <p:cNvPr id="281" name="Google Shape;281;p28"/>
          <p:cNvSpPr txBox="1"/>
          <p:nvPr/>
        </p:nvSpPr>
        <p:spPr>
          <a:xfrm>
            <a:off x="6936601" y="643925"/>
            <a:ext cx="47346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3-Way Valve Actuator Test Results</a:t>
            </a:r>
            <a:endParaRPr i="1"/>
          </a:p>
        </p:txBody>
      </p:sp>
      <p:sp>
        <p:nvSpPr>
          <p:cNvPr id="282" name="Google Shape;282;p28"/>
          <p:cNvSpPr txBox="1"/>
          <p:nvPr/>
        </p:nvSpPr>
        <p:spPr>
          <a:xfrm>
            <a:off x="2345150" y="5790675"/>
            <a:ext cx="97446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CH.3: Open loop 3-Way Valve Rate of Change during Test</a:t>
            </a:r>
            <a:endParaRPr b="1" sz="1700">
              <a:solidFill>
                <a:schemeClr val="dk1"/>
              </a:solidFill>
            </a:endParaRPr>
          </a:p>
        </p:txBody>
      </p:sp>
      <p:sp>
        <p:nvSpPr>
          <p:cNvPr id="283" name="Google Shape;283;p28"/>
          <p:cNvSpPr txBox="1"/>
          <p:nvPr/>
        </p:nvSpPr>
        <p:spPr>
          <a:xfrm>
            <a:off x="891700" y="920825"/>
            <a:ext cx="37764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US" sz="1800">
                <a:solidFill>
                  <a:schemeClr val="dk1"/>
                </a:solidFill>
              </a:rPr>
              <a:t>Actuators Rotational Speed Stayed </a:t>
            </a:r>
            <a:r>
              <a:rPr lang="en-US" sz="1800">
                <a:solidFill>
                  <a:schemeClr val="dk1"/>
                </a:solidFill>
              </a:rPr>
              <a:t>Consistent</a:t>
            </a:r>
            <a:r>
              <a:rPr lang="en-US" sz="1800">
                <a:solidFill>
                  <a:schemeClr val="dk1"/>
                </a:solidFill>
              </a:rPr>
              <a:t> between 3 Degree/s &amp; 5 Degree/s</a:t>
            </a:r>
            <a:endParaRPr sz="1800">
              <a:solidFill>
                <a:schemeClr val="dk1"/>
              </a:solidFill>
            </a:endParaRPr>
          </a:p>
        </p:txBody>
      </p:sp>
      <p:pic>
        <p:nvPicPr>
          <p:cNvPr id="284" name="Google Shape;284;p28"/>
          <p:cNvPicPr preferRelativeResize="0"/>
          <p:nvPr/>
        </p:nvPicPr>
        <p:blipFill>
          <a:blip r:embed="rId3">
            <a:alphaModFix/>
          </a:blip>
          <a:stretch>
            <a:fillRect/>
          </a:stretch>
        </p:blipFill>
        <p:spPr>
          <a:xfrm>
            <a:off x="2879000" y="1876701"/>
            <a:ext cx="6433990" cy="38261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9"/>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90" name="Google Shape;290;p29"/>
          <p:cNvSpPr txBox="1"/>
          <p:nvPr/>
        </p:nvSpPr>
        <p:spPr>
          <a:xfrm>
            <a:off x="6936601" y="643925"/>
            <a:ext cx="4734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Noah Ovikian</a:t>
            </a:r>
            <a:endParaRPr i="1" sz="2700">
              <a:solidFill>
                <a:schemeClr val="dk1"/>
              </a:solidFill>
            </a:endParaRPr>
          </a:p>
          <a:p>
            <a:pPr indent="0" lvl="0" marL="0" rtl="0" algn="ctr">
              <a:spcBef>
                <a:spcPts val="0"/>
              </a:spcBef>
              <a:spcAft>
                <a:spcPts val="0"/>
              </a:spcAft>
              <a:buNone/>
            </a:pPr>
            <a:r>
              <a:rPr i="1" lang="en-US" sz="2100">
                <a:solidFill>
                  <a:schemeClr val="dk1"/>
                </a:solidFill>
              </a:rPr>
              <a:t>Time Spent: ~30 Hrs</a:t>
            </a:r>
            <a:endParaRPr i="1" sz="2100">
              <a:solidFill>
                <a:schemeClr val="dk1"/>
              </a:solidFill>
            </a:endParaRPr>
          </a:p>
        </p:txBody>
      </p:sp>
      <p:graphicFrame>
        <p:nvGraphicFramePr>
          <p:cNvPr id="291" name="Google Shape;291;p29"/>
          <p:cNvGraphicFramePr/>
          <p:nvPr/>
        </p:nvGraphicFramePr>
        <p:xfrm>
          <a:off x="609599" y="2005693"/>
          <a:ext cx="3000000" cy="3000000"/>
        </p:xfrm>
        <a:graphic>
          <a:graphicData uri="http://schemas.openxmlformats.org/drawingml/2006/table">
            <a:tbl>
              <a:tblPr>
                <a:noFill/>
                <a:tableStyleId>{DACDDDD7-9C0F-4722-96EE-246439F23AC9}</a:tableStyleId>
              </a:tblPr>
              <a:tblGrid>
                <a:gridCol w="5486400"/>
                <a:gridCol w="5486400"/>
              </a:tblGrid>
              <a:tr h="927225">
                <a:tc>
                  <a:txBody>
                    <a:bodyPr/>
                    <a:lstStyle/>
                    <a:p>
                      <a:pPr indent="0" lvl="0" marL="0" marR="0" rtl="0" algn="ctr">
                        <a:spcBef>
                          <a:spcPts val="0"/>
                        </a:spcBef>
                        <a:spcAft>
                          <a:spcPts val="0"/>
                        </a:spcAft>
                        <a:buClr>
                          <a:schemeClr val="dk1"/>
                        </a:buClr>
                        <a:buSzPts val="1800"/>
                        <a:buFont typeface="Arial"/>
                        <a:buNone/>
                      </a:pPr>
                      <a:r>
                        <a:t/>
                      </a:r>
                      <a:endParaRPr sz="1800"/>
                    </a:p>
                    <a:p>
                      <a:pPr indent="0" lvl="0" marL="0" marR="0" rtl="0" algn="ctr">
                        <a:spcBef>
                          <a:spcPts val="0"/>
                        </a:spcBef>
                        <a:spcAft>
                          <a:spcPts val="0"/>
                        </a:spcAft>
                        <a:buClr>
                          <a:schemeClr val="dk1"/>
                        </a:buClr>
                        <a:buSzPts val="1800"/>
                        <a:buFont typeface="Arial"/>
                        <a:buNone/>
                      </a:pPr>
                      <a:r>
                        <a:rPr lang="en-US" sz="1800" u="none" cap="none" strike="noStrike"/>
                        <a:t>Accomplishments </a:t>
                      </a:r>
                      <a:r>
                        <a:rPr lang="en-US" sz="1800"/>
                        <a:t>(9/30 - 10/14)</a:t>
                      </a:r>
                      <a:endParaRPr/>
                    </a:p>
                    <a:p>
                      <a:pPr indent="0" lvl="0" marL="0" marR="0" rtl="0" algn="l">
                        <a:spcBef>
                          <a:spcPts val="0"/>
                        </a:spcBef>
                        <a:spcAft>
                          <a:spcPts val="0"/>
                        </a:spcAft>
                        <a:buClr>
                          <a:srgbClr val="C00000"/>
                        </a:buClr>
                        <a:buSzPts val="1800"/>
                        <a:buFont typeface="Arial"/>
                        <a:buNone/>
                      </a:pPr>
                      <a:r>
                        <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ctr">
                        <a:spcBef>
                          <a:spcPts val="0"/>
                        </a:spcBef>
                        <a:spcAft>
                          <a:spcPts val="0"/>
                        </a:spcAft>
                        <a:buClr>
                          <a:schemeClr val="dk1"/>
                        </a:buClr>
                        <a:buSzPts val="1800"/>
                        <a:buFont typeface="Arial"/>
                        <a:buNone/>
                      </a:pPr>
                      <a:r>
                        <a:t/>
                      </a:r>
                      <a:endParaRPr sz="1800">
                        <a:solidFill>
                          <a:schemeClr val="dk1"/>
                        </a:solidFill>
                      </a:endParaRPr>
                    </a:p>
                    <a:p>
                      <a:pPr indent="0" lvl="0" marL="0" marR="0" rtl="0" algn="ctr">
                        <a:spcBef>
                          <a:spcPts val="0"/>
                        </a:spcBef>
                        <a:spcAft>
                          <a:spcPts val="0"/>
                        </a:spcAft>
                        <a:buClr>
                          <a:schemeClr val="dk1"/>
                        </a:buClr>
                        <a:buSzPts val="1800"/>
                        <a:buFont typeface="Arial"/>
                        <a:buNone/>
                      </a:pPr>
                      <a:r>
                        <a:rPr lang="en-US" sz="1800">
                          <a:solidFill>
                            <a:schemeClr val="dk1"/>
                          </a:solidFill>
                        </a:rPr>
                        <a:t>In Progress (10/14 - 10/28)</a:t>
                      </a:r>
                      <a:endParaRPr sz="1800" u="none" cap="none" strike="noStrike">
                        <a:solidFill>
                          <a:schemeClr val="dk1"/>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965025">
                <a:tc>
                  <a:txBody>
                    <a:bodyPr/>
                    <a:lstStyle/>
                    <a:p>
                      <a:pPr indent="0" lvl="0" marL="0" marR="0" rtl="0" algn="l">
                        <a:lnSpc>
                          <a:spcPct val="115000"/>
                        </a:lnSpc>
                        <a:spcBef>
                          <a:spcPts val="0"/>
                        </a:spcBef>
                        <a:spcAft>
                          <a:spcPts val="0"/>
                        </a:spcAft>
                        <a:buNone/>
                      </a:pPr>
                      <a:r>
                        <a:rPr b="1" lang="en-US" sz="1900"/>
                        <a:t>Integration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Implemented Instrument Data Collection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Collected Heat Exchanger Data</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Collected 3-Way Valve Response Data</a:t>
                      </a:r>
                      <a:endParaRPr sz="1700">
                        <a:solidFill>
                          <a:schemeClr val="dk1"/>
                        </a:solidFill>
                      </a:endParaRPr>
                    </a:p>
                    <a:p>
                      <a:pPr indent="0" lvl="0" marL="0" marR="0" rtl="0" algn="l">
                        <a:lnSpc>
                          <a:spcPct val="115000"/>
                        </a:lnSpc>
                        <a:spcBef>
                          <a:spcPts val="0"/>
                        </a:spcBef>
                        <a:spcAft>
                          <a:spcPts val="0"/>
                        </a:spcAft>
                        <a:buNone/>
                      </a:pPr>
                      <a:r>
                        <a:rPr b="1" lang="en-US" sz="1900"/>
                        <a:t>PLC Logic</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Established Comms &amp; Control w/ 3-Way Valve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Tuned 3-Way Valve P-Controller</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Condensed Regulation Algorithms (Anti-Windup)</a:t>
                      </a:r>
                      <a:endParaRPr sz="17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114300" marR="0" rtl="0" algn="l">
                        <a:spcBef>
                          <a:spcPts val="0"/>
                        </a:spcBef>
                        <a:spcAft>
                          <a:spcPts val="0"/>
                        </a:spcAft>
                        <a:buClr>
                          <a:schemeClr val="dk1"/>
                        </a:buClr>
                        <a:buSzPts val="1800"/>
                        <a:buFont typeface="Arial"/>
                        <a:buNone/>
                      </a:pPr>
                      <a:r>
                        <a:t/>
                      </a:r>
                      <a:endParaRPr sz="10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rPr>
                        <a:t>Integration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Establish Comms w/ Flow Transmitter</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Test Conductivity-PLC Interface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Finalize PLC-HMI Variable Mapping</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Begin Alarm Management w/ HMI</a:t>
                      </a:r>
                      <a:endParaRPr sz="17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rPr>
                        <a:t>PLC Logic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Finalize Temperature Alarms/Faults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Implement &amp; Tune Outer PI-Controller</a:t>
                      </a:r>
                      <a:endParaRPr b="1" sz="1500">
                        <a:solidFill>
                          <a:schemeClr val="dk1"/>
                        </a:solidFill>
                      </a:endParaRPr>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0"/>
          <p:cNvSpPr txBox="1"/>
          <p:nvPr/>
        </p:nvSpPr>
        <p:spPr>
          <a:xfrm>
            <a:off x="236200" y="5846775"/>
            <a:ext cx="7144800" cy="10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CS.1: </a:t>
            </a:r>
            <a:r>
              <a:rPr lang="en-US" sz="1700">
                <a:solidFill>
                  <a:schemeClr val="dk1"/>
                </a:solidFill>
              </a:rPr>
              <a:t>4 Graphs showing trends of Data Taken during Heat Exchanger Tests, Observing RTD temperature, and </a:t>
            </a:r>
            <a:r>
              <a:rPr lang="en-US" sz="1700">
                <a:solidFill>
                  <a:schemeClr val="dk1"/>
                </a:solidFill>
              </a:rPr>
              <a:t>Pump Power, </a:t>
            </a:r>
            <a:r>
              <a:rPr lang="en-US" sz="1700">
                <a:solidFill>
                  <a:schemeClr val="dk1"/>
                </a:solidFill>
              </a:rPr>
              <a:t> response to various heat exchanger results. </a:t>
            </a:r>
            <a:endParaRPr/>
          </a:p>
        </p:txBody>
      </p:sp>
      <p:sp>
        <p:nvSpPr>
          <p:cNvPr id="298" name="Google Shape;298;p30"/>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99" name="Google Shape;299;p30"/>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Instrumentation Data Collection</a:t>
            </a:r>
            <a:endParaRPr i="1"/>
          </a:p>
        </p:txBody>
      </p:sp>
      <p:pic>
        <p:nvPicPr>
          <p:cNvPr id="300" name="Google Shape;300;p30"/>
          <p:cNvPicPr preferRelativeResize="0"/>
          <p:nvPr/>
        </p:nvPicPr>
        <p:blipFill>
          <a:blip r:embed="rId3">
            <a:alphaModFix/>
          </a:blip>
          <a:stretch>
            <a:fillRect/>
          </a:stretch>
        </p:blipFill>
        <p:spPr>
          <a:xfrm>
            <a:off x="216982" y="1261413"/>
            <a:ext cx="3660824" cy="2270674"/>
          </a:xfrm>
          <a:prstGeom prst="rect">
            <a:avLst/>
          </a:prstGeom>
          <a:noFill/>
          <a:ln>
            <a:noFill/>
          </a:ln>
        </p:spPr>
      </p:pic>
      <p:pic>
        <p:nvPicPr>
          <p:cNvPr id="301" name="Google Shape;301;p30"/>
          <p:cNvPicPr preferRelativeResize="0"/>
          <p:nvPr/>
        </p:nvPicPr>
        <p:blipFill>
          <a:blip r:embed="rId4">
            <a:alphaModFix/>
          </a:blip>
          <a:stretch>
            <a:fillRect/>
          </a:stretch>
        </p:blipFill>
        <p:spPr>
          <a:xfrm>
            <a:off x="3877807" y="1261425"/>
            <a:ext cx="3644024" cy="2270649"/>
          </a:xfrm>
          <a:prstGeom prst="rect">
            <a:avLst/>
          </a:prstGeom>
          <a:noFill/>
          <a:ln>
            <a:noFill/>
          </a:ln>
        </p:spPr>
      </p:pic>
      <p:pic>
        <p:nvPicPr>
          <p:cNvPr id="302" name="Google Shape;302;p30"/>
          <p:cNvPicPr preferRelativeResize="0"/>
          <p:nvPr/>
        </p:nvPicPr>
        <p:blipFill>
          <a:blip r:embed="rId5">
            <a:alphaModFix/>
          </a:blip>
          <a:stretch>
            <a:fillRect/>
          </a:stretch>
        </p:blipFill>
        <p:spPr>
          <a:xfrm>
            <a:off x="216982" y="3532086"/>
            <a:ext cx="3660824" cy="2255717"/>
          </a:xfrm>
          <a:prstGeom prst="rect">
            <a:avLst/>
          </a:prstGeom>
          <a:noFill/>
          <a:ln>
            <a:noFill/>
          </a:ln>
        </p:spPr>
      </p:pic>
      <p:pic>
        <p:nvPicPr>
          <p:cNvPr id="303" name="Google Shape;303;p30"/>
          <p:cNvPicPr preferRelativeResize="0"/>
          <p:nvPr/>
        </p:nvPicPr>
        <p:blipFill>
          <a:blip r:embed="rId6">
            <a:alphaModFix/>
          </a:blip>
          <a:stretch>
            <a:fillRect/>
          </a:stretch>
        </p:blipFill>
        <p:spPr>
          <a:xfrm>
            <a:off x="3877807" y="3532075"/>
            <a:ext cx="3644024" cy="2255725"/>
          </a:xfrm>
          <a:prstGeom prst="rect">
            <a:avLst/>
          </a:prstGeom>
          <a:noFill/>
          <a:ln>
            <a:noFill/>
          </a:ln>
        </p:spPr>
      </p:pic>
      <p:sp>
        <p:nvSpPr>
          <p:cNvPr id="304" name="Google Shape;304;p30"/>
          <p:cNvSpPr txBox="1"/>
          <p:nvPr/>
        </p:nvSpPr>
        <p:spPr>
          <a:xfrm>
            <a:off x="7521824" y="1342145"/>
            <a:ext cx="5588400" cy="915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1900">
                <a:solidFill>
                  <a:schemeClr val="dk1"/>
                </a:solidFill>
              </a:rPr>
              <a:t>An Interface Between All Subsystems</a:t>
            </a:r>
            <a:endParaRPr b="1" sz="1900">
              <a:solidFill>
                <a:schemeClr val="dk1"/>
              </a:solidFill>
            </a:endParaRPr>
          </a:p>
          <a:p>
            <a:pPr indent="0" lvl="0" marL="0" rtl="0" algn="l">
              <a:lnSpc>
                <a:spcPct val="150000"/>
              </a:lnSpc>
              <a:spcBef>
                <a:spcPts val="0"/>
              </a:spcBef>
              <a:spcAft>
                <a:spcPts val="0"/>
              </a:spcAft>
              <a:buNone/>
            </a:pPr>
            <a:r>
              <a:rPr b="1" lang="en-US" sz="1900">
                <a:solidFill>
                  <a:schemeClr val="dk1"/>
                </a:solidFill>
              </a:rPr>
              <a:t>Observing:</a:t>
            </a:r>
            <a:endParaRPr b="1" sz="1900">
              <a:solidFill>
                <a:schemeClr val="dk1"/>
              </a:solidFill>
            </a:endParaRPr>
          </a:p>
        </p:txBody>
      </p:sp>
      <p:sp>
        <p:nvSpPr>
          <p:cNvPr id="305" name="Google Shape;305;p30"/>
          <p:cNvSpPr txBox="1"/>
          <p:nvPr/>
        </p:nvSpPr>
        <p:spPr>
          <a:xfrm>
            <a:off x="7607100" y="2315075"/>
            <a:ext cx="3997500" cy="37575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US" sz="1600">
                <a:solidFill>
                  <a:schemeClr val="dk1"/>
                </a:solidFill>
              </a:rPr>
              <a:t>Mechanical Data &amp; Trends(e.g. temp, flow, etc)</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Transient &amp; Steady State Power Consumption of Instrument Tests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Instrumentation Response to System Dynamics and Signal Excitation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Software Regulation and Response to entire system.</a:t>
            </a:r>
            <a:endParaRPr sz="16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1"/>
          <p:cNvSpPr txBox="1"/>
          <p:nvPr/>
        </p:nvSpPr>
        <p:spPr>
          <a:xfrm>
            <a:off x="236199" y="5588467"/>
            <a:ext cx="11802600" cy="10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CS.2: </a:t>
            </a:r>
            <a:r>
              <a:rPr lang="en-US" sz="1700">
                <a:solidFill>
                  <a:schemeClr val="dk1"/>
                </a:solidFill>
              </a:rPr>
              <a:t>Signal Block Diagram of Cascading Control Loop. Inner Control Loop composed of 3-Way Valve, and 3-Way Valve Controller. SP: Setpoint Signal, e(t): tracking error, CS: Command Signal, FB: Feedback Signal , Pos: Position.</a:t>
            </a:r>
            <a:endParaRPr/>
          </a:p>
        </p:txBody>
      </p:sp>
      <p:sp>
        <p:nvSpPr>
          <p:cNvPr id="312" name="Google Shape;312;p31"/>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313" name="Google Shape;313;p31"/>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Inner Control Loop</a:t>
            </a:r>
            <a:endParaRPr i="1"/>
          </a:p>
        </p:txBody>
      </p:sp>
      <p:pic>
        <p:nvPicPr>
          <p:cNvPr id="314" name="Google Shape;314;p31"/>
          <p:cNvPicPr preferRelativeResize="0"/>
          <p:nvPr/>
        </p:nvPicPr>
        <p:blipFill>
          <a:blip r:embed="rId3">
            <a:alphaModFix/>
          </a:blip>
          <a:stretch>
            <a:fillRect/>
          </a:stretch>
        </p:blipFill>
        <p:spPr>
          <a:xfrm>
            <a:off x="1543050" y="3164000"/>
            <a:ext cx="9105900" cy="2152650"/>
          </a:xfrm>
          <a:prstGeom prst="rect">
            <a:avLst/>
          </a:prstGeom>
          <a:noFill/>
          <a:ln cap="flat" cmpd="sng" w="9525">
            <a:solidFill>
              <a:schemeClr val="dk2"/>
            </a:solidFill>
            <a:prstDash val="solid"/>
            <a:round/>
            <a:headEnd len="sm" w="sm" type="none"/>
            <a:tailEnd len="sm" w="sm" type="none"/>
          </a:ln>
        </p:spPr>
      </p:pic>
      <p:sp>
        <p:nvSpPr>
          <p:cNvPr id="315" name="Google Shape;315;p31"/>
          <p:cNvSpPr txBox="1"/>
          <p:nvPr/>
        </p:nvSpPr>
        <p:spPr>
          <a:xfrm>
            <a:off x="510000" y="1093175"/>
            <a:ext cx="4560000" cy="5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200">
                <a:solidFill>
                  <a:schemeClr val="dk1"/>
                </a:solidFill>
              </a:rPr>
              <a:t>3-Way Valve Controller Purpose</a:t>
            </a:r>
            <a:endParaRPr b="1" sz="2200">
              <a:solidFill>
                <a:schemeClr val="dk1"/>
              </a:solidFill>
            </a:endParaRPr>
          </a:p>
        </p:txBody>
      </p:sp>
      <p:sp>
        <p:nvSpPr>
          <p:cNvPr id="316" name="Google Shape;316;p31"/>
          <p:cNvSpPr txBox="1"/>
          <p:nvPr/>
        </p:nvSpPr>
        <p:spPr>
          <a:xfrm>
            <a:off x="510000" y="1619663"/>
            <a:ext cx="6614400" cy="14442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Char char="●"/>
            </a:pPr>
            <a:r>
              <a:rPr lang="en-US" sz="2200">
                <a:solidFill>
                  <a:schemeClr val="dk1"/>
                </a:solidFill>
              </a:rPr>
              <a:t>Redundancy for Orifice Position Stabilization</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Additional 3-Way Valve Feedback Regulation</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Does </a:t>
            </a:r>
            <a:r>
              <a:rPr b="1" lang="en-US" sz="2200">
                <a:solidFill>
                  <a:schemeClr val="dk1"/>
                </a:solidFill>
              </a:rPr>
              <a:t>NOT </a:t>
            </a:r>
            <a:r>
              <a:rPr lang="en-US" sz="2200">
                <a:solidFill>
                  <a:schemeClr val="dk1"/>
                </a:solidFill>
              </a:rPr>
              <a:t>regulate temperature</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2"/>
          <p:cNvSpPr txBox="1"/>
          <p:nvPr/>
        </p:nvSpPr>
        <p:spPr>
          <a:xfrm>
            <a:off x="236199" y="5524047"/>
            <a:ext cx="118026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CS.3: </a:t>
            </a:r>
            <a:r>
              <a:rPr lang="en-US" sz="1700">
                <a:solidFill>
                  <a:schemeClr val="dk1"/>
                </a:solidFill>
              </a:rPr>
              <a:t>(Left Image) Increasing </a:t>
            </a:r>
            <a:r>
              <a:rPr lang="en-US" sz="1700">
                <a:solidFill>
                  <a:schemeClr val="dk1"/>
                </a:solidFill>
              </a:rPr>
              <a:t>setpoint</a:t>
            </a:r>
            <a:r>
              <a:rPr lang="en-US" sz="1700">
                <a:solidFill>
                  <a:schemeClr val="dk1"/>
                </a:solidFill>
              </a:rPr>
              <a:t> from 5° to 85°. Feedback observed to </a:t>
            </a:r>
            <a:r>
              <a:rPr lang="en-US" sz="1700">
                <a:solidFill>
                  <a:schemeClr val="dk1"/>
                </a:solidFill>
              </a:rPr>
              <a:t>consistently</a:t>
            </a:r>
            <a:r>
              <a:rPr lang="en-US" sz="1700">
                <a:solidFill>
                  <a:schemeClr val="dk1"/>
                </a:solidFill>
              </a:rPr>
              <a:t> oscillate. (Right Image) Decreasing setpoint from 85° to 5°. Feedback observed </a:t>
            </a:r>
            <a:r>
              <a:rPr lang="en-US" sz="1700">
                <a:solidFill>
                  <a:schemeClr val="dk1"/>
                </a:solidFill>
              </a:rPr>
              <a:t>oscillation</a:t>
            </a:r>
            <a:r>
              <a:rPr lang="en-US" sz="1700">
                <a:solidFill>
                  <a:schemeClr val="dk1"/>
                </a:solidFill>
              </a:rPr>
              <a:t> with similar magnitude to increase test.</a:t>
            </a:r>
            <a:endParaRPr/>
          </a:p>
        </p:txBody>
      </p:sp>
      <p:sp>
        <p:nvSpPr>
          <p:cNvPr id="323" name="Google Shape;323;p32"/>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324" name="Google Shape;324;p32"/>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Proportional Gain Tuning (Kp = 5)</a:t>
            </a:r>
            <a:endParaRPr i="1"/>
          </a:p>
        </p:txBody>
      </p:sp>
      <p:pic>
        <p:nvPicPr>
          <p:cNvPr id="325" name="Google Shape;325;p32"/>
          <p:cNvPicPr preferRelativeResize="0"/>
          <p:nvPr/>
        </p:nvPicPr>
        <p:blipFill>
          <a:blip r:embed="rId3">
            <a:alphaModFix/>
          </a:blip>
          <a:stretch>
            <a:fillRect/>
          </a:stretch>
        </p:blipFill>
        <p:spPr>
          <a:xfrm>
            <a:off x="73275" y="1494650"/>
            <a:ext cx="5899899" cy="3553150"/>
          </a:xfrm>
          <a:prstGeom prst="rect">
            <a:avLst/>
          </a:prstGeom>
          <a:noFill/>
          <a:ln>
            <a:noFill/>
          </a:ln>
        </p:spPr>
      </p:pic>
      <p:pic>
        <p:nvPicPr>
          <p:cNvPr id="326" name="Google Shape;326;p32"/>
          <p:cNvPicPr preferRelativeResize="0"/>
          <p:nvPr/>
        </p:nvPicPr>
        <p:blipFill>
          <a:blip r:embed="rId4">
            <a:alphaModFix/>
          </a:blip>
          <a:stretch>
            <a:fillRect/>
          </a:stretch>
        </p:blipFill>
        <p:spPr>
          <a:xfrm>
            <a:off x="6138900" y="1494650"/>
            <a:ext cx="5899900" cy="3553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333" name="Google Shape;333;p33"/>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Proportional Gain Tuning (Kp = 1)</a:t>
            </a:r>
            <a:endParaRPr i="1"/>
          </a:p>
        </p:txBody>
      </p:sp>
      <p:pic>
        <p:nvPicPr>
          <p:cNvPr id="334" name="Google Shape;334;p33"/>
          <p:cNvPicPr preferRelativeResize="0"/>
          <p:nvPr/>
        </p:nvPicPr>
        <p:blipFill>
          <a:blip r:embed="rId3">
            <a:alphaModFix/>
          </a:blip>
          <a:stretch>
            <a:fillRect/>
          </a:stretch>
        </p:blipFill>
        <p:spPr>
          <a:xfrm>
            <a:off x="196100" y="1494650"/>
            <a:ext cx="5899900" cy="3553150"/>
          </a:xfrm>
          <a:prstGeom prst="rect">
            <a:avLst/>
          </a:prstGeom>
          <a:noFill/>
          <a:ln>
            <a:noFill/>
          </a:ln>
        </p:spPr>
      </p:pic>
      <p:pic>
        <p:nvPicPr>
          <p:cNvPr id="335" name="Google Shape;335;p33"/>
          <p:cNvPicPr preferRelativeResize="0"/>
          <p:nvPr/>
        </p:nvPicPr>
        <p:blipFill>
          <a:blip r:embed="rId4">
            <a:alphaModFix/>
          </a:blip>
          <a:stretch>
            <a:fillRect/>
          </a:stretch>
        </p:blipFill>
        <p:spPr>
          <a:xfrm>
            <a:off x="6096000" y="1494650"/>
            <a:ext cx="5955279" cy="3553150"/>
          </a:xfrm>
          <a:prstGeom prst="rect">
            <a:avLst/>
          </a:prstGeom>
          <a:noFill/>
          <a:ln>
            <a:noFill/>
          </a:ln>
        </p:spPr>
      </p:pic>
      <p:sp>
        <p:nvSpPr>
          <p:cNvPr id="336" name="Google Shape;336;p33"/>
          <p:cNvSpPr txBox="1"/>
          <p:nvPr/>
        </p:nvSpPr>
        <p:spPr>
          <a:xfrm>
            <a:off x="236199" y="5524047"/>
            <a:ext cx="11802600" cy="10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CS.4: </a:t>
            </a:r>
            <a:r>
              <a:rPr lang="en-US" sz="1700">
                <a:solidFill>
                  <a:schemeClr val="dk1"/>
                </a:solidFill>
              </a:rPr>
              <a:t>(Left Image) Increasing setpoint from 5° to 85°. Observed slight overshoot from feedback, followed by subsequent correction. (Right Image) Decreasing setpoint from 85° to 5°. Observed slight overshoot from controller, followed by subsequent correction.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nvSpPr>
        <p:spPr>
          <a:xfrm>
            <a:off x="236199" y="5524047"/>
            <a:ext cx="118026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CS.5: </a:t>
            </a:r>
            <a:r>
              <a:rPr lang="en-US" sz="1700">
                <a:solidFill>
                  <a:schemeClr val="dk1"/>
                </a:solidFill>
              </a:rPr>
              <a:t>(Left Image) Increasing setpoint from 5° to 85°. Controller regulates feedback with no overshoot. (Right Image) Decreasing setpoint from 85° to 5°. Controller regulates feedback with no overshoot.</a:t>
            </a:r>
            <a:endParaRPr/>
          </a:p>
        </p:txBody>
      </p:sp>
      <p:sp>
        <p:nvSpPr>
          <p:cNvPr id="343" name="Google Shape;343;p34"/>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344" name="Google Shape;344;p34"/>
          <p:cNvSpPr txBox="1"/>
          <p:nvPr/>
        </p:nvSpPr>
        <p:spPr>
          <a:xfrm>
            <a:off x="6508850" y="654225"/>
            <a:ext cx="54996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500">
                <a:solidFill>
                  <a:schemeClr val="dk1"/>
                </a:solidFill>
              </a:rPr>
              <a:t>Proportional Gain Tuning (Kp = 0.25)</a:t>
            </a:r>
            <a:endParaRPr i="1" sz="1200"/>
          </a:p>
        </p:txBody>
      </p:sp>
      <p:pic>
        <p:nvPicPr>
          <p:cNvPr id="345" name="Google Shape;345;p34"/>
          <p:cNvPicPr preferRelativeResize="0"/>
          <p:nvPr/>
        </p:nvPicPr>
        <p:blipFill>
          <a:blip r:embed="rId3">
            <a:alphaModFix/>
          </a:blip>
          <a:stretch>
            <a:fillRect/>
          </a:stretch>
        </p:blipFill>
        <p:spPr>
          <a:xfrm>
            <a:off x="140725" y="1494650"/>
            <a:ext cx="5955275" cy="3553150"/>
          </a:xfrm>
          <a:prstGeom prst="rect">
            <a:avLst/>
          </a:prstGeom>
          <a:noFill/>
          <a:ln>
            <a:noFill/>
          </a:ln>
        </p:spPr>
      </p:pic>
      <p:pic>
        <p:nvPicPr>
          <p:cNvPr id="346" name="Google Shape;346;p34"/>
          <p:cNvPicPr preferRelativeResize="0"/>
          <p:nvPr/>
        </p:nvPicPr>
        <p:blipFill>
          <a:blip r:embed="rId4">
            <a:alphaModFix/>
          </a:blip>
          <a:stretch>
            <a:fillRect/>
          </a:stretch>
        </p:blipFill>
        <p:spPr>
          <a:xfrm>
            <a:off x="6096000" y="1494650"/>
            <a:ext cx="5955274" cy="3553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5"/>
          <p:cNvSpPr txBox="1"/>
          <p:nvPr/>
        </p:nvSpPr>
        <p:spPr>
          <a:xfrm>
            <a:off x="5431463" y="1355691"/>
            <a:ext cx="3624600" cy="5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200">
                <a:solidFill>
                  <a:schemeClr val="dk1"/>
                </a:solidFill>
              </a:rPr>
              <a:t>Integral Term Risks</a:t>
            </a:r>
            <a:endParaRPr b="1" sz="2200">
              <a:solidFill>
                <a:schemeClr val="dk1"/>
              </a:solidFill>
            </a:endParaRPr>
          </a:p>
        </p:txBody>
      </p:sp>
      <p:sp>
        <p:nvSpPr>
          <p:cNvPr id="353" name="Google Shape;353;p35"/>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354" name="Google Shape;354;p35"/>
          <p:cNvSpPr txBox="1"/>
          <p:nvPr/>
        </p:nvSpPr>
        <p:spPr>
          <a:xfrm>
            <a:off x="6936601" y="643925"/>
            <a:ext cx="4734600" cy="81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Inner Control Loop</a:t>
            </a:r>
            <a:endParaRPr i="1" sz="2700">
              <a:solidFill>
                <a:schemeClr val="dk1"/>
              </a:solidFill>
            </a:endParaRPr>
          </a:p>
          <a:p>
            <a:pPr indent="0" lvl="0" marL="0" rtl="0" algn="ctr">
              <a:spcBef>
                <a:spcPts val="0"/>
              </a:spcBef>
              <a:spcAft>
                <a:spcPts val="0"/>
              </a:spcAft>
              <a:buNone/>
            </a:pPr>
            <a:r>
              <a:t/>
            </a:r>
            <a:endParaRPr i="1"/>
          </a:p>
        </p:txBody>
      </p:sp>
      <p:sp>
        <p:nvSpPr>
          <p:cNvPr id="355" name="Google Shape;355;p35"/>
          <p:cNvSpPr txBox="1"/>
          <p:nvPr/>
        </p:nvSpPr>
        <p:spPr>
          <a:xfrm>
            <a:off x="5431463" y="1878882"/>
            <a:ext cx="6614400" cy="14442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Char char="●"/>
            </a:pPr>
            <a:r>
              <a:rPr lang="en-US" sz="2200">
                <a:solidFill>
                  <a:schemeClr val="dk1"/>
                </a:solidFill>
              </a:rPr>
              <a:t>System Destabilization from Addn. Pole</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Windup Caused from Inherent Deadband</a:t>
            </a:r>
            <a:endParaRPr sz="20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pic>
        <p:nvPicPr>
          <p:cNvPr id="356" name="Google Shape;356;p35"/>
          <p:cNvPicPr preferRelativeResize="0"/>
          <p:nvPr/>
        </p:nvPicPr>
        <p:blipFill rotWithShape="1">
          <a:blip r:embed="rId3">
            <a:alphaModFix/>
          </a:blip>
          <a:srcRect b="20084" l="50277" r="35711" t="70972"/>
          <a:stretch/>
        </p:blipFill>
        <p:spPr>
          <a:xfrm>
            <a:off x="902363" y="1910375"/>
            <a:ext cx="3624525" cy="1393425"/>
          </a:xfrm>
          <a:prstGeom prst="rect">
            <a:avLst/>
          </a:prstGeom>
          <a:noFill/>
          <a:ln cap="flat" cmpd="sng" w="12875">
            <a:solidFill>
              <a:schemeClr val="dk2"/>
            </a:solidFill>
            <a:prstDash val="solid"/>
            <a:round/>
            <a:headEnd len="sm" w="sm" type="none"/>
            <a:tailEnd len="sm" w="sm" type="none"/>
          </a:ln>
        </p:spPr>
      </p:pic>
      <p:sp>
        <p:nvSpPr>
          <p:cNvPr id="357" name="Google Shape;357;p35"/>
          <p:cNvSpPr/>
          <p:nvPr/>
        </p:nvSpPr>
        <p:spPr>
          <a:xfrm>
            <a:off x="995933" y="2238417"/>
            <a:ext cx="1305900" cy="547500"/>
          </a:xfrm>
          <a:prstGeom prst="ellipse">
            <a:avLst/>
          </a:prstGeom>
          <a:noFill/>
          <a:ln cap="flat" cmpd="sng" w="38600">
            <a:solidFill>
              <a:srgbClr val="C00000"/>
            </a:solidFill>
            <a:prstDash val="solid"/>
            <a:round/>
            <a:headEnd len="sm" w="sm" type="none"/>
            <a:tailEnd len="sm" w="sm" type="none"/>
          </a:ln>
        </p:spPr>
        <p:txBody>
          <a:bodyPr anchorCtr="0" anchor="ctr" bIns="123525" lIns="123525" spcFirstLastPara="1" rIns="123525" wrap="square" tIns="123525">
            <a:noAutofit/>
          </a:bodyPr>
          <a:lstStyle/>
          <a:p>
            <a:pPr indent="0" lvl="0" marL="0" rtl="0" algn="ctr">
              <a:spcBef>
                <a:spcPts val="0"/>
              </a:spcBef>
              <a:spcAft>
                <a:spcPts val="0"/>
              </a:spcAft>
              <a:buNone/>
            </a:pPr>
            <a:r>
              <a:t/>
            </a:r>
            <a:endParaRPr sz="1891"/>
          </a:p>
        </p:txBody>
      </p:sp>
      <p:sp>
        <p:nvSpPr>
          <p:cNvPr id="358" name="Google Shape;358;p35"/>
          <p:cNvSpPr/>
          <p:nvPr/>
        </p:nvSpPr>
        <p:spPr>
          <a:xfrm>
            <a:off x="2763333" y="2238417"/>
            <a:ext cx="1305900" cy="547500"/>
          </a:xfrm>
          <a:prstGeom prst="ellipse">
            <a:avLst/>
          </a:prstGeom>
          <a:noFill/>
          <a:ln cap="flat" cmpd="sng" w="38600">
            <a:solidFill>
              <a:srgbClr val="C00000"/>
            </a:solidFill>
            <a:prstDash val="solid"/>
            <a:round/>
            <a:headEnd len="sm" w="sm" type="none"/>
            <a:tailEnd len="sm" w="sm" type="none"/>
          </a:ln>
        </p:spPr>
        <p:txBody>
          <a:bodyPr anchorCtr="0" anchor="ctr" bIns="123525" lIns="123525" spcFirstLastPara="1" rIns="123525" wrap="square" tIns="123525">
            <a:noAutofit/>
          </a:bodyPr>
          <a:lstStyle/>
          <a:p>
            <a:pPr indent="0" lvl="0" marL="0" rtl="0" algn="ctr">
              <a:spcBef>
                <a:spcPts val="0"/>
              </a:spcBef>
              <a:spcAft>
                <a:spcPts val="0"/>
              </a:spcAft>
              <a:buNone/>
            </a:pPr>
            <a:r>
              <a:t/>
            </a:r>
            <a:endParaRPr sz="1891"/>
          </a:p>
        </p:txBody>
      </p:sp>
      <p:sp>
        <p:nvSpPr>
          <p:cNvPr id="359" name="Google Shape;359;p35"/>
          <p:cNvSpPr txBox="1"/>
          <p:nvPr/>
        </p:nvSpPr>
        <p:spPr>
          <a:xfrm>
            <a:off x="5490788" y="3074716"/>
            <a:ext cx="3624600" cy="5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200">
                <a:solidFill>
                  <a:schemeClr val="dk1"/>
                </a:solidFill>
              </a:rPr>
              <a:t>Derivative Term</a:t>
            </a:r>
            <a:r>
              <a:rPr b="1" lang="en-US" sz="2200">
                <a:solidFill>
                  <a:schemeClr val="dk1"/>
                </a:solidFill>
              </a:rPr>
              <a:t> Risks</a:t>
            </a:r>
            <a:endParaRPr b="1" sz="2200">
              <a:solidFill>
                <a:schemeClr val="dk1"/>
              </a:solidFill>
            </a:endParaRPr>
          </a:p>
        </p:txBody>
      </p:sp>
      <p:sp>
        <p:nvSpPr>
          <p:cNvPr id="360" name="Google Shape;360;p35"/>
          <p:cNvSpPr txBox="1"/>
          <p:nvPr/>
        </p:nvSpPr>
        <p:spPr>
          <a:xfrm>
            <a:off x="5490788" y="3498157"/>
            <a:ext cx="6614400" cy="743400"/>
          </a:xfrm>
          <a:prstGeom prst="rect">
            <a:avLst/>
          </a:prstGeom>
          <a:noFill/>
          <a:ln>
            <a:noFill/>
          </a:ln>
        </p:spPr>
        <p:txBody>
          <a:bodyPr anchorCtr="0" anchor="t" bIns="91425" lIns="91425" spcFirstLastPara="1" rIns="91425" wrap="square" tIns="91425">
            <a:noAutofit/>
          </a:bodyPr>
          <a:lstStyle/>
          <a:p>
            <a:pPr indent="-368300" lvl="0" marL="457200" rtl="0" algn="l">
              <a:lnSpc>
                <a:spcPct val="200000"/>
              </a:lnSpc>
              <a:spcBef>
                <a:spcPts val="0"/>
              </a:spcBef>
              <a:spcAft>
                <a:spcPts val="0"/>
              </a:spcAft>
              <a:buSzPts val="2200"/>
              <a:buChar char="●"/>
            </a:pPr>
            <a:r>
              <a:rPr lang="en-US" sz="2200">
                <a:solidFill>
                  <a:schemeClr val="dk1"/>
                </a:solidFill>
              </a:rPr>
              <a:t>Inflated tracking error from noise amplification</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pic>
        <p:nvPicPr>
          <p:cNvPr id="361" name="Google Shape;361;p35"/>
          <p:cNvPicPr preferRelativeResize="0"/>
          <p:nvPr/>
        </p:nvPicPr>
        <p:blipFill rotWithShape="1">
          <a:blip r:embed="rId4">
            <a:alphaModFix/>
          </a:blip>
          <a:srcRect b="67521" l="51516" r="8652" t="17754"/>
          <a:stretch/>
        </p:blipFill>
        <p:spPr>
          <a:xfrm>
            <a:off x="902363" y="3568850"/>
            <a:ext cx="3624600" cy="859499"/>
          </a:xfrm>
          <a:prstGeom prst="rect">
            <a:avLst/>
          </a:prstGeom>
          <a:noFill/>
          <a:ln cap="flat" cmpd="sng" w="9525">
            <a:solidFill>
              <a:schemeClr val="dk2"/>
            </a:solidFill>
            <a:prstDash val="solid"/>
            <a:round/>
            <a:headEnd len="sm" w="sm" type="none"/>
            <a:tailEnd len="sm" w="sm" type="none"/>
          </a:ln>
        </p:spPr>
      </p:pic>
      <p:sp>
        <p:nvSpPr>
          <p:cNvPr id="362" name="Google Shape;362;p35"/>
          <p:cNvSpPr txBox="1"/>
          <p:nvPr/>
        </p:nvSpPr>
        <p:spPr>
          <a:xfrm>
            <a:off x="902363" y="4545600"/>
            <a:ext cx="37497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Figure CS.6: (</a:t>
            </a:r>
            <a:r>
              <a:rPr lang="en-US">
                <a:solidFill>
                  <a:schemeClr val="dk1"/>
                </a:solidFill>
              </a:rPr>
              <a:t>Top Image) Flatness in oscillation within </a:t>
            </a:r>
            <a:r>
              <a:rPr lang="en-US">
                <a:solidFill>
                  <a:schemeClr val="dk1"/>
                </a:solidFill>
              </a:rPr>
              <a:t>valve </a:t>
            </a:r>
            <a:r>
              <a:rPr lang="en-US">
                <a:solidFill>
                  <a:schemeClr val="dk1"/>
                </a:solidFill>
              </a:rPr>
              <a:t>feedback (circled red) indicate potential deadzone - likely from final control element. (Bottom Image) Noise in tracking error likely from system precision</a:t>
            </a:r>
            <a:endParaRPr sz="1100"/>
          </a:p>
        </p:txBody>
      </p:sp>
      <p:sp>
        <p:nvSpPr>
          <p:cNvPr id="363" name="Google Shape;363;p35"/>
          <p:cNvSpPr txBox="1"/>
          <p:nvPr/>
        </p:nvSpPr>
        <p:spPr>
          <a:xfrm>
            <a:off x="5431463" y="4124311"/>
            <a:ext cx="3624600" cy="1031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200">
                <a:solidFill>
                  <a:schemeClr val="dk1"/>
                </a:solidFill>
              </a:rPr>
              <a:t>Bottom Line</a:t>
            </a:r>
            <a:endParaRPr b="1" sz="2200">
              <a:solidFill>
                <a:schemeClr val="dk1"/>
              </a:solidFill>
            </a:endParaRPr>
          </a:p>
          <a:p>
            <a:pPr indent="0" lvl="0" marL="0" rtl="0" algn="l">
              <a:lnSpc>
                <a:spcPct val="150000"/>
              </a:lnSpc>
              <a:spcBef>
                <a:spcPts val="0"/>
              </a:spcBef>
              <a:spcAft>
                <a:spcPts val="0"/>
              </a:spcAft>
              <a:buNone/>
            </a:pPr>
            <a:r>
              <a:t/>
            </a:r>
            <a:endParaRPr b="1" sz="2200">
              <a:solidFill>
                <a:schemeClr val="dk1"/>
              </a:solidFill>
            </a:endParaRPr>
          </a:p>
        </p:txBody>
      </p:sp>
      <p:sp>
        <p:nvSpPr>
          <p:cNvPr id="364" name="Google Shape;364;p35"/>
          <p:cNvSpPr txBox="1"/>
          <p:nvPr/>
        </p:nvSpPr>
        <p:spPr>
          <a:xfrm>
            <a:off x="5490788" y="4616132"/>
            <a:ext cx="6614400" cy="14442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Clr>
                <a:schemeClr val="dk1"/>
              </a:buClr>
              <a:buSzPts val="2200"/>
              <a:buChar char="●"/>
            </a:pPr>
            <a:r>
              <a:rPr b="1" lang="en-US" sz="2200">
                <a:solidFill>
                  <a:schemeClr val="dk1"/>
                </a:solidFill>
              </a:rPr>
              <a:t>Failsafe/Redundancy </a:t>
            </a:r>
            <a:r>
              <a:rPr lang="en-US" sz="2200">
                <a:solidFill>
                  <a:schemeClr val="dk1"/>
                </a:solidFill>
              </a:rPr>
              <a:t>for Final Control Drifting</a:t>
            </a:r>
            <a:r>
              <a:rPr lang="en-US" sz="2200">
                <a:solidFill>
                  <a:schemeClr val="dk1"/>
                </a:solidFill>
              </a:rPr>
              <a:t> </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Control Mostly Handled</a:t>
            </a:r>
            <a:r>
              <a:rPr lang="en-US" sz="2200">
                <a:solidFill>
                  <a:schemeClr val="dk1"/>
                </a:solidFill>
              </a:rPr>
              <a:t> in Final Control Element</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Modify Controller for Temp regulation as necessary</a:t>
            </a:r>
            <a:endParaRPr sz="20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6"/>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MEEN Integration</a:t>
            </a:r>
            <a:endParaRPr/>
          </a:p>
        </p:txBody>
      </p:sp>
      <p:sp>
        <p:nvSpPr>
          <p:cNvPr id="370" name="Google Shape;370;p36"/>
          <p:cNvSpPr txBox="1"/>
          <p:nvPr>
            <p:ph type="title"/>
          </p:nvPr>
        </p:nvSpPr>
        <p:spPr>
          <a:xfrm>
            <a:off x="6521275" y="914400"/>
            <a:ext cx="4647600" cy="239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44000"/>
              <a:buFont typeface="Arial"/>
              <a:buNone/>
            </a:pPr>
            <a:r>
              <a:rPr b="0" i="1" lang="en-US" sz="2500"/>
              <a:t>Phase II</a:t>
            </a:r>
            <a:endParaRPr b="0" i="1" sz="2500"/>
          </a:p>
        </p:txBody>
      </p:sp>
      <p:pic>
        <p:nvPicPr>
          <p:cNvPr id="371" name="Google Shape;371;p36"/>
          <p:cNvPicPr preferRelativeResize="0"/>
          <p:nvPr/>
        </p:nvPicPr>
        <p:blipFill rotWithShape="1">
          <a:blip r:embed="rId3">
            <a:alphaModFix/>
          </a:blip>
          <a:srcRect b="15134" l="14088" r="31974" t="2255"/>
          <a:stretch/>
        </p:blipFill>
        <p:spPr>
          <a:xfrm>
            <a:off x="3001575" y="1416750"/>
            <a:ext cx="4647601" cy="4490351"/>
          </a:xfrm>
          <a:prstGeom prst="rect">
            <a:avLst/>
          </a:prstGeom>
          <a:noFill/>
          <a:ln>
            <a:noFill/>
          </a:ln>
        </p:spPr>
      </p:pic>
      <p:sp>
        <p:nvSpPr>
          <p:cNvPr id="372" name="Google Shape;372;p36"/>
          <p:cNvSpPr/>
          <p:nvPr/>
        </p:nvSpPr>
        <p:spPr>
          <a:xfrm>
            <a:off x="4133100" y="3012325"/>
            <a:ext cx="2255100" cy="1268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36"/>
          <p:cNvSpPr/>
          <p:nvPr/>
        </p:nvSpPr>
        <p:spPr>
          <a:xfrm>
            <a:off x="5274300" y="3697675"/>
            <a:ext cx="2255100" cy="14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36"/>
          <p:cNvSpPr/>
          <p:nvPr/>
        </p:nvSpPr>
        <p:spPr>
          <a:xfrm>
            <a:off x="7614000" y="1294175"/>
            <a:ext cx="2790300" cy="522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6"/>
          <p:cNvSpPr/>
          <p:nvPr/>
        </p:nvSpPr>
        <p:spPr>
          <a:xfrm>
            <a:off x="7556700" y="2002325"/>
            <a:ext cx="2255100" cy="14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76" name="Google Shape;376;p36"/>
          <p:cNvCxnSpPr/>
          <p:nvPr/>
        </p:nvCxnSpPr>
        <p:spPr>
          <a:xfrm rot="10800000">
            <a:off x="7541750" y="1478150"/>
            <a:ext cx="0" cy="596100"/>
          </a:xfrm>
          <a:prstGeom prst="straightConnector1">
            <a:avLst/>
          </a:prstGeom>
          <a:noFill/>
          <a:ln cap="flat" cmpd="sng" w="28575">
            <a:solidFill>
              <a:srgbClr val="090909"/>
            </a:solidFill>
            <a:prstDash val="solid"/>
            <a:round/>
            <a:headEnd len="med" w="med" type="none"/>
            <a:tailEnd len="med" w="med" type="none"/>
          </a:ln>
        </p:spPr>
      </p:cxnSp>
      <p:cxnSp>
        <p:nvCxnSpPr>
          <p:cNvPr id="377" name="Google Shape;377;p36"/>
          <p:cNvCxnSpPr/>
          <p:nvPr/>
        </p:nvCxnSpPr>
        <p:spPr>
          <a:xfrm>
            <a:off x="4425925" y="1492525"/>
            <a:ext cx="3115800" cy="0"/>
          </a:xfrm>
          <a:prstGeom prst="straightConnector1">
            <a:avLst/>
          </a:prstGeom>
          <a:noFill/>
          <a:ln cap="flat" cmpd="sng" w="28575">
            <a:solidFill>
              <a:srgbClr val="090909"/>
            </a:solidFill>
            <a:prstDash val="solid"/>
            <a:round/>
            <a:headEnd len="med" w="med" type="none"/>
            <a:tailEnd len="med" w="med" type="none"/>
          </a:ln>
        </p:spPr>
      </p:cxnSp>
      <p:cxnSp>
        <p:nvCxnSpPr>
          <p:cNvPr id="378" name="Google Shape;378;p36"/>
          <p:cNvCxnSpPr/>
          <p:nvPr/>
        </p:nvCxnSpPr>
        <p:spPr>
          <a:xfrm rot="10800000">
            <a:off x="4439900" y="1478125"/>
            <a:ext cx="0" cy="414900"/>
          </a:xfrm>
          <a:prstGeom prst="straightConnector1">
            <a:avLst/>
          </a:prstGeom>
          <a:noFill/>
          <a:ln cap="flat" cmpd="sng" w="28575">
            <a:solidFill>
              <a:srgbClr val="090909"/>
            </a:solidFill>
            <a:prstDash val="solid"/>
            <a:round/>
            <a:headEnd len="med" w="med" type="none"/>
            <a:tailEnd len="med" w="med" type="none"/>
          </a:ln>
        </p:spPr>
      </p:cxnSp>
      <p:sp>
        <p:nvSpPr>
          <p:cNvPr id="379" name="Google Shape;379;p36"/>
          <p:cNvSpPr/>
          <p:nvPr/>
        </p:nvSpPr>
        <p:spPr>
          <a:xfrm>
            <a:off x="4914575" y="5618950"/>
            <a:ext cx="2699400" cy="1110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6"/>
          <p:cNvSpPr/>
          <p:nvPr/>
        </p:nvSpPr>
        <p:spPr>
          <a:xfrm>
            <a:off x="1787600" y="5966475"/>
            <a:ext cx="4205100" cy="762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36"/>
          <p:cNvSpPr/>
          <p:nvPr/>
        </p:nvSpPr>
        <p:spPr>
          <a:xfrm>
            <a:off x="1787600" y="4114150"/>
            <a:ext cx="2304600" cy="2009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2" name="Google Shape;382;p36"/>
          <p:cNvCxnSpPr/>
          <p:nvPr/>
        </p:nvCxnSpPr>
        <p:spPr>
          <a:xfrm>
            <a:off x="7613975" y="2989781"/>
            <a:ext cx="282300" cy="0"/>
          </a:xfrm>
          <a:prstGeom prst="straightConnector1">
            <a:avLst/>
          </a:prstGeom>
          <a:noFill/>
          <a:ln cap="flat" cmpd="sng" w="28575">
            <a:solidFill>
              <a:srgbClr val="090909"/>
            </a:solidFill>
            <a:prstDash val="solid"/>
            <a:round/>
            <a:headEnd len="med" w="med" type="none"/>
            <a:tailEnd len="med" w="med" type="none"/>
          </a:ln>
        </p:spPr>
      </p:cxnSp>
      <p:cxnSp>
        <p:nvCxnSpPr>
          <p:cNvPr id="383" name="Google Shape;383;p36"/>
          <p:cNvCxnSpPr/>
          <p:nvPr/>
        </p:nvCxnSpPr>
        <p:spPr>
          <a:xfrm>
            <a:off x="7886050" y="2748031"/>
            <a:ext cx="0" cy="256500"/>
          </a:xfrm>
          <a:prstGeom prst="straightConnector1">
            <a:avLst/>
          </a:prstGeom>
          <a:noFill/>
          <a:ln cap="flat" cmpd="sng" w="28575">
            <a:solidFill>
              <a:srgbClr val="090909"/>
            </a:solidFill>
            <a:prstDash val="solid"/>
            <a:round/>
            <a:headEnd len="med" w="med" type="none"/>
            <a:tailEnd len="med" w="med" type="none"/>
          </a:ln>
        </p:spPr>
      </p:cxnSp>
      <p:cxnSp>
        <p:nvCxnSpPr>
          <p:cNvPr id="384" name="Google Shape;384;p36"/>
          <p:cNvCxnSpPr/>
          <p:nvPr/>
        </p:nvCxnSpPr>
        <p:spPr>
          <a:xfrm>
            <a:off x="7553025" y="2748025"/>
            <a:ext cx="346500" cy="0"/>
          </a:xfrm>
          <a:prstGeom prst="straightConnector1">
            <a:avLst/>
          </a:prstGeom>
          <a:noFill/>
          <a:ln cap="flat" cmpd="sng" w="28575">
            <a:solidFill>
              <a:srgbClr val="090909"/>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MEEN Integration</a:t>
            </a:r>
            <a:endParaRPr/>
          </a:p>
        </p:txBody>
      </p:sp>
      <p:sp>
        <p:nvSpPr>
          <p:cNvPr id="390" name="Google Shape;390;p37"/>
          <p:cNvSpPr txBox="1"/>
          <p:nvPr>
            <p:ph type="title"/>
          </p:nvPr>
        </p:nvSpPr>
        <p:spPr>
          <a:xfrm>
            <a:off x="6521275" y="914400"/>
            <a:ext cx="4647600" cy="239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44000"/>
              <a:buFont typeface="Arial"/>
              <a:buNone/>
            </a:pPr>
            <a:r>
              <a:rPr b="0" i="1" lang="en-US" sz="2500"/>
              <a:t>Phase II</a:t>
            </a:r>
            <a:endParaRPr b="0" i="1" sz="2500"/>
          </a:p>
        </p:txBody>
      </p:sp>
      <p:sp>
        <p:nvSpPr>
          <p:cNvPr id="391" name="Google Shape;391;p37"/>
          <p:cNvSpPr/>
          <p:nvPr/>
        </p:nvSpPr>
        <p:spPr>
          <a:xfrm>
            <a:off x="7163275" y="1943650"/>
            <a:ext cx="964500" cy="154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2" name="Google Shape;392;p37"/>
          <p:cNvPicPr preferRelativeResize="0"/>
          <p:nvPr/>
        </p:nvPicPr>
        <p:blipFill>
          <a:blip r:embed="rId3">
            <a:alphaModFix/>
          </a:blip>
          <a:stretch>
            <a:fillRect/>
          </a:stretch>
        </p:blipFill>
        <p:spPr>
          <a:xfrm>
            <a:off x="812713" y="1306500"/>
            <a:ext cx="6858474" cy="5143855"/>
          </a:xfrm>
          <a:prstGeom prst="rect">
            <a:avLst/>
          </a:prstGeom>
          <a:noFill/>
          <a:ln>
            <a:noFill/>
          </a:ln>
        </p:spPr>
      </p:pic>
      <p:cxnSp>
        <p:nvCxnSpPr>
          <p:cNvPr id="393" name="Google Shape;393;p37"/>
          <p:cNvCxnSpPr/>
          <p:nvPr/>
        </p:nvCxnSpPr>
        <p:spPr>
          <a:xfrm rot="10800000">
            <a:off x="2380125" y="2403400"/>
            <a:ext cx="5963100" cy="0"/>
          </a:xfrm>
          <a:prstGeom prst="straightConnector1">
            <a:avLst/>
          </a:prstGeom>
          <a:noFill/>
          <a:ln cap="flat" cmpd="sng" w="28575">
            <a:solidFill>
              <a:srgbClr val="FF00FF"/>
            </a:solidFill>
            <a:prstDash val="solid"/>
            <a:round/>
            <a:headEnd len="med" w="med" type="none"/>
            <a:tailEnd len="med" w="med" type="triangle"/>
          </a:ln>
        </p:spPr>
      </p:cxnSp>
      <p:sp>
        <p:nvSpPr>
          <p:cNvPr id="394" name="Google Shape;394;p37"/>
          <p:cNvSpPr txBox="1"/>
          <p:nvPr/>
        </p:nvSpPr>
        <p:spPr>
          <a:xfrm>
            <a:off x="8343237" y="2183800"/>
            <a:ext cx="2046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Water Reservoir</a:t>
            </a:r>
            <a:endParaRPr sz="2000">
              <a:solidFill>
                <a:srgbClr val="FF00FF"/>
              </a:solidFill>
            </a:endParaRPr>
          </a:p>
        </p:txBody>
      </p:sp>
      <p:cxnSp>
        <p:nvCxnSpPr>
          <p:cNvPr id="395" name="Google Shape;395;p37"/>
          <p:cNvCxnSpPr/>
          <p:nvPr/>
        </p:nvCxnSpPr>
        <p:spPr>
          <a:xfrm rot="10800000">
            <a:off x="5422700" y="2701600"/>
            <a:ext cx="2960400" cy="169200"/>
          </a:xfrm>
          <a:prstGeom prst="straightConnector1">
            <a:avLst/>
          </a:prstGeom>
          <a:noFill/>
          <a:ln cap="flat" cmpd="sng" w="28575">
            <a:solidFill>
              <a:srgbClr val="FF00FF"/>
            </a:solidFill>
            <a:prstDash val="solid"/>
            <a:round/>
            <a:headEnd len="med" w="med" type="none"/>
            <a:tailEnd len="med" w="med" type="triangle"/>
          </a:ln>
        </p:spPr>
      </p:cxnSp>
      <p:sp>
        <p:nvSpPr>
          <p:cNvPr id="396" name="Google Shape;396;p37"/>
          <p:cNvSpPr txBox="1"/>
          <p:nvPr/>
        </p:nvSpPr>
        <p:spPr>
          <a:xfrm>
            <a:off x="8383104" y="2623000"/>
            <a:ext cx="14652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Meter</a:t>
            </a:r>
            <a:endParaRPr sz="2000">
              <a:solidFill>
                <a:srgbClr val="FF00FF"/>
              </a:solidFill>
            </a:endParaRPr>
          </a:p>
        </p:txBody>
      </p:sp>
      <p:cxnSp>
        <p:nvCxnSpPr>
          <p:cNvPr id="397" name="Google Shape;397;p37"/>
          <p:cNvCxnSpPr/>
          <p:nvPr/>
        </p:nvCxnSpPr>
        <p:spPr>
          <a:xfrm rot="10800000">
            <a:off x="4615775" y="3259825"/>
            <a:ext cx="3777300" cy="0"/>
          </a:xfrm>
          <a:prstGeom prst="straightConnector1">
            <a:avLst/>
          </a:prstGeom>
          <a:noFill/>
          <a:ln cap="flat" cmpd="sng" w="28575">
            <a:solidFill>
              <a:srgbClr val="FF00FF"/>
            </a:solidFill>
            <a:prstDash val="solid"/>
            <a:round/>
            <a:headEnd len="med" w="med" type="none"/>
            <a:tailEnd len="med" w="med" type="triangle"/>
          </a:ln>
        </p:spPr>
      </p:cxnSp>
      <p:sp>
        <p:nvSpPr>
          <p:cNvPr id="398" name="Google Shape;398;p37"/>
          <p:cNvSpPr txBox="1"/>
          <p:nvPr/>
        </p:nvSpPr>
        <p:spPr>
          <a:xfrm>
            <a:off x="8383100" y="3062200"/>
            <a:ext cx="15948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Resin Filter</a:t>
            </a:r>
            <a:endParaRPr sz="2000">
              <a:solidFill>
                <a:srgbClr val="FF00FF"/>
              </a:solidFill>
            </a:endParaRPr>
          </a:p>
        </p:txBody>
      </p:sp>
      <p:cxnSp>
        <p:nvCxnSpPr>
          <p:cNvPr id="399" name="Google Shape;399;p37"/>
          <p:cNvCxnSpPr/>
          <p:nvPr/>
        </p:nvCxnSpPr>
        <p:spPr>
          <a:xfrm rot="10800000">
            <a:off x="3569075" y="3168950"/>
            <a:ext cx="4824000" cy="838200"/>
          </a:xfrm>
          <a:prstGeom prst="straightConnector1">
            <a:avLst/>
          </a:prstGeom>
          <a:noFill/>
          <a:ln cap="flat" cmpd="sng" w="28575">
            <a:solidFill>
              <a:srgbClr val="FF00FF"/>
            </a:solidFill>
            <a:prstDash val="solid"/>
            <a:round/>
            <a:headEnd len="med" w="med" type="none"/>
            <a:tailEnd len="med" w="med" type="triangle"/>
          </a:ln>
        </p:spPr>
      </p:cxnSp>
      <p:sp>
        <p:nvSpPr>
          <p:cNvPr id="400" name="Google Shape;400;p37"/>
          <p:cNvSpPr txBox="1"/>
          <p:nvPr/>
        </p:nvSpPr>
        <p:spPr>
          <a:xfrm>
            <a:off x="8383100" y="3809800"/>
            <a:ext cx="2439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Conductivity Probe</a:t>
            </a:r>
            <a:endParaRPr sz="2000">
              <a:solidFill>
                <a:srgbClr val="FF00FF"/>
              </a:solidFill>
            </a:endParaRPr>
          </a:p>
        </p:txBody>
      </p:sp>
      <p:cxnSp>
        <p:nvCxnSpPr>
          <p:cNvPr id="401" name="Google Shape;401;p37"/>
          <p:cNvCxnSpPr/>
          <p:nvPr/>
        </p:nvCxnSpPr>
        <p:spPr>
          <a:xfrm rot="10800000">
            <a:off x="6642225" y="4199675"/>
            <a:ext cx="1748100" cy="300900"/>
          </a:xfrm>
          <a:prstGeom prst="straightConnector1">
            <a:avLst/>
          </a:prstGeom>
          <a:noFill/>
          <a:ln cap="flat" cmpd="sng" w="28575">
            <a:solidFill>
              <a:srgbClr val="FF00FF"/>
            </a:solidFill>
            <a:prstDash val="solid"/>
            <a:round/>
            <a:headEnd len="med" w="med" type="none"/>
            <a:tailEnd len="med" w="med" type="triangle"/>
          </a:ln>
        </p:spPr>
      </p:cxnSp>
      <p:sp>
        <p:nvSpPr>
          <p:cNvPr id="402" name="Google Shape;402;p37"/>
          <p:cNvSpPr txBox="1"/>
          <p:nvPr/>
        </p:nvSpPr>
        <p:spPr>
          <a:xfrm>
            <a:off x="8383100" y="4302725"/>
            <a:ext cx="8538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Pump</a:t>
            </a:r>
            <a:endParaRPr sz="2000">
              <a:solidFill>
                <a:srgbClr val="FF00FF"/>
              </a:solidFill>
            </a:endParaRPr>
          </a:p>
        </p:txBody>
      </p:sp>
      <p:cxnSp>
        <p:nvCxnSpPr>
          <p:cNvPr id="403" name="Google Shape;403;p37"/>
          <p:cNvCxnSpPr/>
          <p:nvPr/>
        </p:nvCxnSpPr>
        <p:spPr>
          <a:xfrm rot="10800000">
            <a:off x="5742150" y="4199625"/>
            <a:ext cx="2658900" cy="761700"/>
          </a:xfrm>
          <a:prstGeom prst="straightConnector1">
            <a:avLst/>
          </a:prstGeom>
          <a:noFill/>
          <a:ln cap="flat" cmpd="sng" w="28575">
            <a:solidFill>
              <a:srgbClr val="FF00FF"/>
            </a:solidFill>
            <a:prstDash val="solid"/>
            <a:round/>
            <a:headEnd len="med" w="med" type="none"/>
            <a:tailEnd len="med" w="med" type="triangle"/>
          </a:ln>
        </p:spPr>
      </p:cxnSp>
      <p:sp>
        <p:nvSpPr>
          <p:cNvPr id="404" name="Google Shape;404;p37"/>
          <p:cNvSpPr txBox="1"/>
          <p:nvPr/>
        </p:nvSpPr>
        <p:spPr>
          <a:xfrm>
            <a:off x="8383100" y="4693100"/>
            <a:ext cx="2439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Control Valve</a:t>
            </a:r>
            <a:endParaRPr sz="2000">
              <a:solidFill>
                <a:srgbClr val="FF00FF"/>
              </a:solidFill>
            </a:endParaRPr>
          </a:p>
        </p:txBody>
      </p:sp>
      <p:cxnSp>
        <p:nvCxnSpPr>
          <p:cNvPr id="405" name="Google Shape;405;p37"/>
          <p:cNvCxnSpPr/>
          <p:nvPr/>
        </p:nvCxnSpPr>
        <p:spPr>
          <a:xfrm rot="10800000">
            <a:off x="5334950" y="4305300"/>
            <a:ext cx="2658900" cy="761700"/>
          </a:xfrm>
          <a:prstGeom prst="straightConnector1">
            <a:avLst/>
          </a:prstGeom>
          <a:noFill/>
          <a:ln cap="flat" cmpd="sng" w="28575">
            <a:solidFill>
              <a:srgbClr val="FF00FF"/>
            </a:solidFill>
            <a:prstDash val="solid"/>
            <a:round/>
            <a:headEnd len="med" w="med" type="none"/>
            <a:tailEnd len="med" w="med" type="triangle"/>
          </a:ln>
        </p:spPr>
      </p:cxnSp>
      <p:sp>
        <p:nvSpPr>
          <p:cNvPr id="406" name="Google Shape;406;p37"/>
          <p:cNvSpPr txBox="1"/>
          <p:nvPr/>
        </p:nvSpPr>
        <p:spPr>
          <a:xfrm>
            <a:off x="7993850" y="5037500"/>
            <a:ext cx="15948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Meter</a:t>
            </a:r>
            <a:endParaRPr sz="2000">
              <a:solidFill>
                <a:srgbClr val="FF00FF"/>
              </a:solidFill>
            </a:endParaRPr>
          </a:p>
        </p:txBody>
      </p:sp>
      <p:cxnSp>
        <p:nvCxnSpPr>
          <p:cNvPr id="407" name="Google Shape;407;p37"/>
          <p:cNvCxnSpPr/>
          <p:nvPr/>
        </p:nvCxnSpPr>
        <p:spPr>
          <a:xfrm rot="10800000">
            <a:off x="4873825" y="4199500"/>
            <a:ext cx="3177300" cy="1475400"/>
          </a:xfrm>
          <a:prstGeom prst="straightConnector1">
            <a:avLst/>
          </a:prstGeom>
          <a:noFill/>
          <a:ln cap="flat" cmpd="sng" w="28575">
            <a:solidFill>
              <a:srgbClr val="FF00FF"/>
            </a:solidFill>
            <a:prstDash val="solid"/>
            <a:round/>
            <a:headEnd len="med" w="med" type="none"/>
            <a:tailEnd len="med" w="med" type="triangle"/>
          </a:ln>
        </p:spPr>
      </p:cxnSp>
      <p:sp>
        <p:nvSpPr>
          <p:cNvPr id="408" name="Google Shape;408;p37"/>
          <p:cNvSpPr txBox="1"/>
          <p:nvPr/>
        </p:nvSpPr>
        <p:spPr>
          <a:xfrm>
            <a:off x="8047675" y="5440425"/>
            <a:ext cx="21792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Flow Transmitter</a:t>
            </a:r>
            <a:endParaRPr sz="2000">
              <a:solidFill>
                <a:srgbClr val="FF00FF"/>
              </a:solidFill>
            </a:endParaRPr>
          </a:p>
        </p:txBody>
      </p:sp>
      <p:cxnSp>
        <p:nvCxnSpPr>
          <p:cNvPr id="409" name="Google Shape;409;p37"/>
          <p:cNvCxnSpPr/>
          <p:nvPr/>
        </p:nvCxnSpPr>
        <p:spPr>
          <a:xfrm rot="10800000">
            <a:off x="4693225" y="4658125"/>
            <a:ext cx="3357900" cy="1488000"/>
          </a:xfrm>
          <a:prstGeom prst="straightConnector1">
            <a:avLst/>
          </a:prstGeom>
          <a:noFill/>
          <a:ln cap="flat" cmpd="sng" w="28575">
            <a:solidFill>
              <a:srgbClr val="FF00FF"/>
            </a:solidFill>
            <a:prstDash val="solid"/>
            <a:round/>
            <a:headEnd len="med" w="med" type="none"/>
            <a:tailEnd len="med" w="med" type="triangle"/>
          </a:ln>
        </p:spPr>
      </p:cxnSp>
      <p:sp>
        <p:nvSpPr>
          <p:cNvPr id="410" name="Google Shape;410;p37"/>
          <p:cNvSpPr txBox="1"/>
          <p:nvPr/>
        </p:nvSpPr>
        <p:spPr>
          <a:xfrm>
            <a:off x="8047675" y="5901125"/>
            <a:ext cx="15948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FF"/>
                </a:solidFill>
              </a:rPr>
              <a:t>3-Way Valve</a:t>
            </a:r>
            <a:endParaRPr sz="2000">
              <a:solidFill>
                <a:srgbClr val="FF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8"/>
          <p:cNvSpPr txBox="1"/>
          <p:nvPr>
            <p:ph type="title"/>
          </p:nvPr>
        </p:nvSpPr>
        <p:spPr>
          <a:xfrm>
            <a:off x="609600" y="2971812"/>
            <a:ext cx="109812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